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0"/>
  </p:notesMasterIdLst>
  <p:sldIdLst>
    <p:sldId id="256" r:id="rId2"/>
    <p:sldId id="316" r:id="rId3"/>
    <p:sldId id="317" r:id="rId4"/>
    <p:sldId id="318" r:id="rId5"/>
    <p:sldId id="319" r:id="rId6"/>
    <p:sldId id="320" r:id="rId7"/>
    <p:sldId id="321" r:id="rId8"/>
    <p:sldId id="306" r:id="rId9"/>
    <p:sldId id="322" r:id="rId10"/>
    <p:sldId id="323" r:id="rId11"/>
    <p:sldId id="324" r:id="rId12"/>
    <p:sldId id="325" r:id="rId13"/>
    <p:sldId id="304" r:id="rId14"/>
    <p:sldId id="310" r:id="rId15"/>
    <p:sldId id="326" r:id="rId16"/>
    <p:sldId id="305" r:id="rId17"/>
    <p:sldId id="307" r:id="rId18"/>
    <p:sldId id="308" r:id="rId19"/>
    <p:sldId id="328" r:id="rId20"/>
    <p:sldId id="329" r:id="rId21"/>
    <p:sldId id="330" r:id="rId22"/>
    <p:sldId id="331" r:id="rId23"/>
    <p:sldId id="332" r:id="rId24"/>
    <p:sldId id="334" r:id="rId25"/>
    <p:sldId id="309" r:id="rId26"/>
    <p:sldId id="311" r:id="rId27"/>
    <p:sldId id="312" r:id="rId28"/>
    <p:sldId id="337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437" autoAdjust="0"/>
  </p:normalViewPr>
  <p:slideViewPr>
    <p:cSldViewPr snapToGrid="0">
      <p:cViewPr varScale="1">
        <p:scale>
          <a:sx n="96" d="100"/>
          <a:sy n="96" d="100"/>
        </p:scale>
        <p:origin x="-336" y="-1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notesMaster" Target="notesMasters/notesMaster1.xml"/><Relationship Id="rId31" Type="http://schemas.openxmlformats.org/officeDocument/2006/relationships/printerSettings" Target="printerSettings/printerSettings1.bin"/><Relationship Id="rId32" Type="http://schemas.openxmlformats.org/officeDocument/2006/relationships/presProps" Target="presProps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21FFFE-EF25-4A6B-A25C-6BF8A8C767D8}" type="datetimeFigureOut">
              <a:rPr lang="en-US" smtClean="0"/>
              <a:t>9/18/17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C26168-90A9-449E-B7F2-2CE9886B6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972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216D98-A5B4-4F82-8A7B-6FCC45C124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0102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C26168-90A9-449E-B7F2-2CE9886B6F2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050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6014B-7769-4654-B541-73EEB6F8EFF5}" type="datetime1">
              <a:rPr lang="en-US" smtClean="0"/>
              <a:t>9/18/17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A89F-0A78-46DC-BDC2-8FE968D1D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004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F49DC-5506-4223-A535-5FDA59A791CE}" type="datetime1">
              <a:rPr lang="en-US" smtClean="0"/>
              <a:t>9/18/17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A89F-0A78-46DC-BDC2-8FE968D1D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283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52672-B9A8-4899-8DB0-4D1B98C6018C}" type="datetime1">
              <a:rPr lang="en-US" smtClean="0"/>
              <a:t>9/18/17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A89F-0A78-46DC-BDC2-8FE968D1D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36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9F05A-4359-43DA-A380-75189346D6FA}" type="datetime1">
              <a:rPr lang="en-US" smtClean="0"/>
              <a:t>9/18/17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A89F-0A78-46DC-BDC2-8FE968D1D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774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16206-BD2D-47B7-B409-C816FC3DABE5}" type="datetime1">
              <a:rPr lang="en-US" smtClean="0"/>
              <a:t>9/18/17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A89F-0A78-46DC-BDC2-8FE968D1D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019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82126-CFBD-4E66-A61B-01C6C39D3B85}" type="datetime1">
              <a:rPr lang="en-US" smtClean="0"/>
              <a:t>9/18/17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A89F-0A78-46DC-BDC2-8FE968D1D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62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062E-F9F5-45EA-9434-E8B8C30F25D5}" type="datetime1">
              <a:rPr lang="en-US" smtClean="0"/>
              <a:t>9/18/17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A89F-0A78-46DC-BDC2-8FE968D1D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178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E69AE-E7D2-47D1-875B-8E13EC94112C}" type="datetime1">
              <a:rPr lang="en-US" smtClean="0"/>
              <a:t>9/18/17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A89F-0A78-46DC-BDC2-8FE968D1D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895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C0A34-407E-479F-B8E1-5963F7175F55}" type="datetime1">
              <a:rPr lang="en-US" smtClean="0"/>
              <a:t>9/18/17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A89F-0A78-46DC-BDC2-8FE968D1D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902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8757A-09E3-48D1-9D40-9C1AE75045D1}" type="datetime1">
              <a:rPr lang="en-US" smtClean="0"/>
              <a:t>9/18/17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A89F-0A78-46DC-BDC2-8FE968D1D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494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6AA32-8162-4349-82AB-ADAAE0FE0B86}" type="datetime1">
              <a:rPr lang="en-US" smtClean="0"/>
              <a:t>9/18/17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A89F-0A78-46DC-BDC2-8FE968D1D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449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C4C52C-761F-4382-B6DD-AB5383299A15}" type="datetime1">
              <a:rPr lang="en-US" smtClean="0"/>
              <a:t>9/18/17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E7A89F-0A78-46DC-BDC2-8FE968D1D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983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4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EE 5453 – 002 </a:t>
            </a:r>
            <a:br>
              <a:rPr lang="en-US" dirty="0" smtClean="0"/>
            </a:br>
            <a:r>
              <a:rPr lang="en-US" dirty="0" smtClean="0"/>
              <a:t>Engineering Programming II</a:t>
            </a:r>
            <a:br>
              <a:rPr lang="en-US" dirty="0" smtClean="0"/>
            </a:br>
            <a:r>
              <a:rPr lang="en-US" b="1" dirty="0" smtClean="0"/>
              <a:t>Python Statements &amp; Functions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406269"/>
            <a:ext cx="9144000" cy="1655762"/>
          </a:xfrm>
        </p:spPr>
        <p:txBody>
          <a:bodyPr>
            <a:normAutofit/>
          </a:bodyPr>
          <a:lstStyle/>
          <a:p>
            <a:r>
              <a:rPr lang="en-US" sz="4000" dirty="0" err="1" smtClean="0"/>
              <a:t>Guenvere</a:t>
            </a:r>
            <a:r>
              <a:rPr lang="en-US" sz="4000" dirty="0" smtClean="0"/>
              <a:t> (</a:t>
            </a:r>
            <a:r>
              <a:rPr lang="en-US" sz="4000" dirty="0" err="1" smtClean="0"/>
              <a:t>Qian</a:t>
            </a:r>
            <a:r>
              <a:rPr lang="en-US" sz="4000" dirty="0" smtClean="0"/>
              <a:t>) Chen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49182275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Python Conceptual Hierarchy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Programs are composed of modules</a:t>
            </a:r>
          </a:p>
          <a:p>
            <a:r>
              <a:rPr lang="en-US" dirty="0" smtClean="0"/>
              <a:t>Modules contain statements</a:t>
            </a:r>
          </a:p>
          <a:p>
            <a:r>
              <a:rPr lang="en-US" dirty="0" smtClean="0"/>
              <a:t>Statements contain expressions</a:t>
            </a:r>
          </a:p>
          <a:p>
            <a:r>
              <a:rPr lang="en-US" dirty="0" smtClean="0"/>
              <a:t>Expressions create and process objects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A89F-0A78-46DC-BDC2-8FE968D1DF7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919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Python Statements Overview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A89F-0A78-46DC-BDC2-8FE968D1DF7C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947" y="1489588"/>
            <a:ext cx="5602735" cy="486676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046" y="1489587"/>
            <a:ext cx="5665874" cy="116939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6362" y="2449585"/>
            <a:ext cx="5663704" cy="3906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875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Sequence Assignments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5116" y="1822450"/>
            <a:ext cx="5670884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 smtClean="0">
                <a:solidFill>
                  <a:schemeClr val="accent5"/>
                </a:solidFill>
              </a:rPr>
              <a:t>&gt;&gt;&gt; nudge = 1		# basic assignment.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chemeClr val="accent5"/>
                </a:solidFill>
              </a:rPr>
              <a:t>&gt;&gt;&gt; wink = 2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chemeClr val="accent5"/>
                </a:solidFill>
              </a:rPr>
              <a:t>&gt;&gt;&gt; A, B = nudge, wink 	# tuple assignment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chemeClr val="accent5"/>
                </a:solidFill>
              </a:rPr>
              <a:t>&gt;&gt;&gt; A, B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chemeClr val="accent5"/>
                </a:solidFill>
              </a:rPr>
              <a:t>(1, 2)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chemeClr val="accent5"/>
                </a:solidFill>
              </a:rPr>
              <a:t>&gt;&gt;&gt; [C, D] = [nudge, wink]	# list assignment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chemeClr val="accent5"/>
                </a:solidFill>
              </a:rPr>
              <a:t>&gt;&gt;&gt; C, D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chemeClr val="accent5"/>
                </a:solidFill>
              </a:rPr>
              <a:t>(1, 2)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chemeClr val="accent5"/>
                </a:solidFill>
              </a:rPr>
              <a:t>&gt;&gt;&gt; nudge, wink = wink, nudge	# swap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chemeClr val="accent5"/>
                </a:solidFill>
              </a:rPr>
              <a:t>&gt;&gt;&gt; nudge, wink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chemeClr val="accent5"/>
                </a:solidFill>
              </a:rPr>
              <a:t>(2, 1)</a:t>
            </a:r>
            <a:endParaRPr lang="en-US" sz="2000" dirty="0">
              <a:solidFill>
                <a:schemeClr val="accent5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7368" y="1825625"/>
            <a:ext cx="5181601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 smtClean="0">
                <a:solidFill>
                  <a:schemeClr val="accent5"/>
                </a:solidFill>
              </a:rPr>
              <a:t>&gt;&gt;&gt; [a, b, c] = (1, 2, 3)	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chemeClr val="accent5"/>
                </a:solidFill>
              </a:rPr>
              <a:t># assign tuple of values to list of names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chemeClr val="accent5"/>
                </a:solidFill>
              </a:rPr>
              <a:t>&gt;&gt;&gt; a, c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chemeClr val="accent5"/>
                </a:solidFill>
              </a:rPr>
              <a:t>(1, 3)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chemeClr val="accent5"/>
                </a:solidFill>
              </a:rPr>
              <a:t>&gt;&gt;&gt; (a, b, c) = “ABC”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chemeClr val="accent5"/>
                </a:solidFill>
              </a:rPr>
              <a:t>&gt;&gt;&gt; a, c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chemeClr val="accent5"/>
                </a:solidFill>
              </a:rPr>
              <a:t>(‘A’, ‘C’)</a:t>
            </a:r>
            <a:endParaRPr lang="en-US" sz="2000" dirty="0">
              <a:solidFill>
                <a:schemeClr val="accent5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A89F-0A78-46DC-BDC2-8FE968D1DF7C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946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Advanced Sequence Assignments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string = ‘SPAM’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a, b, c, d = string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a, d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(‘S’, ‘M’)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a, b, c = string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 smtClean="0">
                <a:solidFill>
                  <a:schemeClr val="accent5"/>
                </a:solidFill>
              </a:rPr>
              <a:t>     ……</a:t>
            </a:r>
          </a:p>
          <a:p>
            <a:pPr marL="0" indent="0">
              <a:buNone/>
            </a:pPr>
            <a:r>
              <a:rPr lang="en-US" dirty="0" err="1" smtClean="0">
                <a:solidFill>
                  <a:schemeClr val="accent5"/>
                </a:solidFill>
              </a:rPr>
              <a:t>ValueError</a:t>
            </a:r>
            <a:r>
              <a:rPr lang="en-US" dirty="0" smtClean="0">
                <a:solidFill>
                  <a:schemeClr val="accent5"/>
                </a:solidFill>
              </a:rPr>
              <a:t>: too many values to unpack (expected 3)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a, b, c = string[0], string[1], string[2:]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a, b, c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(‘S’, ‘P’, ‘AM’)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(a, b), c = string[:2], string[2:]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a, b, c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(‘S’, ‘P’, ‘AM’)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red, green, blue = range(3)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red, blue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(0, 2)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A89F-0A78-46DC-BDC2-8FE968D1DF7C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726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Extended Sequence Unpacking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smtClean="0">
                <a:solidFill>
                  <a:schemeClr val="accent5"/>
                </a:solidFill>
              </a:rPr>
              <a:t>&gt;&gt;&gt; </a:t>
            </a:r>
            <a:r>
              <a:rPr lang="en-US" sz="2000" dirty="0" err="1" smtClean="0">
                <a:solidFill>
                  <a:schemeClr val="accent5"/>
                </a:solidFill>
              </a:rPr>
              <a:t>seq</a:t>
            </a:r>
            <a:r>
              <a:rPr lang="en-US" sz="2000" dirty="0" smtClean="0">
                <a:solidFill>
                  <a:schemeClr val="accent5"/>
                </a:solidFill>
              </a:rPr>
              <a:t> = [1, 2, 3, 4]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chemeClr val="accent5"/>
                </a:solidFill>
              </a:rPr>
              <a:t>&gt;&gt;&gt; a, b, c, d = </a:t>
            </a:r>
            <a:r>
              <a:rPr lang="en-US" sz="2000" dirty="0" err="1" smtClean="0">
                <a:solidFill>
                  <a:schemeClr val="accent5"/>
                </a:solidFill>
              </a:rPr>
              <a:t>seq</a:t>
            </a:r>
            <a:endParaRPr lang="en-US" sz="2000" dirty="0" smtClean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chemeClr val="accent5"/>
                </a:solidFill>
              </a:rPr>
              <a:t>&gt;&gt;&gt; print(a, b, c, d)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chemeClr val="accent5"/>
                </a:solidFill>
              </a:rPr>
              <a:t>1 2 3 4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chemeClr val="accent5"/>
                </a:solidFill>
              </a:rPr>
              <a:t>&gt;&gt;&gt; a, b = </a:t>
            </a:r>
            <a:r>
              <a:rPr lang="en-US" sz="2000" dirty="0" err="1" smtClean="0">
                <a:solidFill>
                  <a:schemeClr val="accent5"/>
                </a:solidFill>
              </a:rPr>
              <a:t>seq</a:t>
            </a:r>
            <a:endParaRPr lang="en-US" sz="2000" dirty="0" smtClean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sz="2000" dirty="0" err="1" smtClean="0">
                <a:solidFill>
                  <a:schemeClr val="accent5"/>
                </a:solidFill>
              </a:rPr>
              <a:t>ValueError</a:t>
            </a:r>
            <a:r>
              <a:rPr lang="en-US" sz="2000" dirty="0" smtClean="0">
                <a:solidFill>
                  <a:schemeClr val="accent5"/>
                </a:solidFill>
              </a:rPr>
              <a:t>: too many values to unpack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chemeClr val="accent5"/>
                </a:solidFill>
              </a:rPr>
              <a:t>&gt;&gt;&gt; a, *b = </a:t>
            </a:r>
            <a:r>
              <a:rPr lang="en-US" sz="2000" dirty="0" err="1" smtClean="0">
                <a:solidFill>
                  <a:schemeClr val="accent5"/>
                </a:solidFill>
              </a:rPr>
              <a:t>seq</a:t>
            </a:r>
            <a:endParaRPr lang="en-US" sz="2000" dirty="0" smtClean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chemeClr val="accent5"/>
                </a:solidFill>
              </a:rPr>
              <a:t>&gt;&gt;&gt; a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chemeClr val="accent5"/>
                </a:solidFill>
              </a:rPr>
              <a:t>1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chemeClr val="accent5"/>
                </a:solidFill>
              </a:rPr>
              <a:t>&gt;&gt;&gt; b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chemeClr val="accent5"/>
                </a:solidFill>
              </a:rPr>
              <a:t>[2, 3, 4]</a:t>
            </a:r>
            <a:endParaRPr lang="en-US" sz="2000" dirty="0">
              <a:solidFill>
                <a:schemeClr val="accent5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576138"/>
            <a:ext cx="5181600" cy="4780212"/>
          </a:xfrm>
        </p:spPr>
        <p:txBody>
          <a:bodyPr>
            <a:normAutofit fontScale="55000" lnSpcReduction="20000"/>
          </a:bodyPr>
          <a:lstStyle/>
          <a:p>
            <a:r>
              <a:rPr lang="en-US" sz="4400" dirty="0" smtClean="0"/>
              <a:t>New in Python 3</a:t>
            </a:r>
          </a:p>
          <a:p>
            <a:r>
              <a:rPr lang="en-US" sz="4400" dirty="0" smtClean="0"/>
              <a:t>Use a single starred name in the target to match more generally</a:t>
            </a:r>
          </a:p>
          <a:p>
            <a:r>
              <a:rPr lang="en-US" sz="4400" dirty="0" smtClean="0"/>
              <a:t>The starred name can appear anywhere in the target</a:t>
            </a:r>
          </a:p>
          <a:p>
            <a:pPr marL="0" indent="0">
              <a:buNone/>
            </a:pPr>
            <a:endParaRPr lang="en-US" dirty="0" smtClean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sz="3600" dirty="0" smtClean="0">
                <a:solidFill>
                  <a:schemeClr val="accent5"/>
                </a:solidFill>
              </a:rPr>
              <a:t>&gt;&gt;&gt; *a, b = </a:t>
            </a:r>
            <a:r>
              <a:rPr lang="en-US" sz="3600" dirty="0" err="1" smtClean="0">
                <a:solidFill>
                  <a:schemeClr val="accent5"/>
                </a:solidFill>
              </a:rPr>
              <a:t>seq</a:t>
            </a:r>
            <a:endParaRPr lang="en-US" sz="3600" dirty="0" smtClean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sz="3600" dirty="0" smtClean="0">
                <a:solidFill>
                  <a:schemeClr val="accent5"/>
                </a:solidFill>
              </a:rPr>
              <a:t>&gt;&gt;&gt; a</a:t>
            </a:r>
          </a:p>
          <a:p>
            <a:pPr marL="0" indent="0">
              <a:buNone/>
            </a:pPr>
            <a:r>
              <a:rPr lang="en-US" sz="3600" dirty="0" smtClean="0">
                <a:solidFill>
                  <a:schemeClr val="accent5"/>
                </a:solidFill>
              </a:rPr>
              <a:t>[1, 2, 3]</a:t>
            </a:r>
          </a:p>
          <a:p>
            <a:pPr marL="0" indent="0">
              <a:buNone/>
            </a:pPr>
            <a:r>
              <a:rPr lang="en-US" sz="3600" dirty="0" smtClean="0">
                <a:solidFill>
                  <a:schemeClr val="accent5"/>
                </a:solidFill>
              </a:rPr>
              <a:t>&gt;&gt;&gt; b</a:t>
            </a:r>
          </a:p>
          <a:p>
            <a:pPr marL="0" indent="0">
              <a:buNone/>
            </a:pPr>
            <a:r>
              <a:rPr lang="en-US" sz="3600" dirty="0" smtClean="0">
                <a:solidFill>
                  <a:schemeClr val="accent5"/>
                </a:solidFill>
              </a:rPr>
              <a:t>4</a:t>
            </a:r>
          </a:p>
          <a:p>
            <a:pPr marL="0" indent="0">
              <a:buNone/>
            </a:pPr>
            <a:r>
              <a:rPr lang="en-US" sz="3600" dirty="0" smtClean="0">
                <a:solidFill>
                  <a:schemeClr val="accent5"/>
                </a:solidFill>
              </a:rPr>
              <a:t>&gt;&gt;&gt; a, *b, c = </a:t>
            </a:r>
            <a:r>
              <a:rPr lang="en-US" sz="3600" dirty="0" err="1" smtClean="0">
                <a:solidFill>
                  <a:schemeClr val="accent5"/>
                </a:solidFill>
              </a:rPr>
              <a:t>seq</a:t>
            </a:r>
            <a:endParaRPr lang="en-US" sz="3600" dirty="0" smtClean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sz="3600" dirty="0" smtClean="0">
                <a:solidFill>
                  <a:schemeClr val="accent5"/>
                </a:solidFill>
              </a:rPr>
              <a:t>&gt;&gt;&gt; a, b, c</a:t>
            </a:r>
          </a:p>
          <a:p>
            <a:pPr marL="0" indent="0">
              <a:buNone/>
            </a:pPr>
            <a:r>
              <a:rPr lang="en-US" sz="3600" dirty="0" smtClean="0">
                <a:solidFill>
                  <a:schemeClr val="accent5"/>
                </a:solidFill>
              </a:rPr>
              <a:t>(1, [2, 3], 4)</a:t>
            </a:r>
            <a:endParaRPr lang="en-US" sz="3600" dirty="0">
              <a:solidFill>
                <a:schemeClr val="accent5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A89F-0A78-46DC-BDC2-8FE968D1DF7C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261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56411"/>
            <a:ext cx="10515600" cy="1028951"/>
          </a:xfrm>
        </p:spPr>
        <p:txBody>
          <a:bodyPr/>
          <a:lstStyle/>
          <a:p>
            <a:r>
              <a:rPr lang="en-US" dirty="0"/>
              <a:t>Extended Sequence </a:t>
            </a:r>
            <a:r>
              <a:rPr lang="en-US" dirty="0" smtClean="0"/>
              <a:t>Unpacking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Works for any sequence types: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chemeClr val="accent5"/>
                </a:solidFill>
              </a:rPr>
              <a:t>&gt;&gt;&gt; a, *b, c = ‘spam’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chemeClr val="accent5"/>
                </a:solidFill>
              </a:rPr>
              <a:t>&gt;&gt;&gt; a, b, c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chemeClr val="accent5"/>
                </a:solidFill>
              </a:rPr>
              <a:t>(‘s’, [‘p’, ‘a’], ‘m’)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chemeClr val="accent5"/>
                </a:solidFill>
              </a:rPr>
              <a:t>&gt;&gt;&gt; a, *b, c = range(4)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chemeClr val="accent5"/>
                </a:solidFill>
              </a:rPr>
              <a:t>&gt;&gt;&gt; a, b, c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chemeClr val="accent5"/>
                </a:solidFill>
              </a:rPr>
              <a:t>(0, [1, 2], 3)</a:t>
            </a:r>
            <a:endParaRPr lang="en-US" sz="2400" dirty="0">
              <a:solidFill>
                <a:schemeClr val="accent5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93894" y="1087521"/>
            <a:ext cx="6220327" cy="5268829"/>
          </a:xfrm>
        </p:spPr>
        <p:txBody>
          <a:bodyPr>
            <a:noAutofit/>
          </a:bodyPr>
          <a:lstStyle/>
          <a:p>
            <a:r>
              <a:rPr lang="en-US" sz="2400" dirty="0" smtClean="0"/>
              <a:t>Boundary cases: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chemeClr val="accent5"/>
                </a:solidFill>
              </a:rPr>
              <a:t>&gt;&gt;&gt; </a:t>
            </a:r>
            <a:r>
              <a:rPr lang="en-US" sz="1800" dirty="0" err="1" smtClean="0">
                <a:solidFill>
                  <a:schemeClr val="accent5"/>
                </a:solidFill>
              </a:rPr>
              <a:t>seq</a:t>
            </a:r>
            <a:r>
              <a:rPr lang="en-US" sz="1800" dirty="0" smtClean="0">
                <a:solidFill>
                  <a:schemeClr val="accent5"/>
                </a:solidFill>
              </a:rPr>
              <a:t> = [1, 2, 3, 4]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chemeClr val="accent5"/>
                </a:solidFill>
              </a:rPr>
              <a:t>&gt;&gt;&gt; a, b, c, *d = </a:t>
            </a:r>
            <a:r>
              <a:rPr lang="en-US" sz="1800" dirty="0" err="1" smtClean="0">
                <a:solidFill>
                  <a:schemeClr val="accent5"/>
                </a:solidFill>
              </a:rPr>
              <a:t>seq</a:t>
            </a:r>
            <a:endParaRPr lang="en-US" sz="1800" dirty="0" smtClean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sz="1800" dirty="0" smtClean="0">
                <a:solidFill>
                  <a:schemeClr val="accent5"/>
                </a:solidFill>
              </a:rPr>
              <a:t>&gt;&gt;&gt; print(a, b, c, d)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chemeClr val="accent5"/>
                </a:solidFill>
              </a:rPr>
              <a:t>1 2 3 [4]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chemeClr val="accent5"/>
                </a:solidFill>
              </a:rPr>
              <a:t>&gt;&gt;&gt; a, b, c, d, *e = </a:t>
            </a:r>
            <a:r>
              <a:rPr lang="en-US" sz="1800" dirty="0" err="1" smtClean="0">
                <a:solidFill>
                  <a:schemeClr val="accent5"/>
                </a:solidFill>
              </a:rPr>
              <a:t>seq</a:t>
            </a:r>
            <a:endParaRPr lang="en-US" sz="1800" dirty="0" smtClean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&gt;&gt;&gt; print(a, b, c, </a:t>
            </a:r>
            <a:r>
              <a:rPr lang="en-US" sz="1800" dirty="0" smtClean="0">
                <a:solidFill>
                  <a:schemeClr val="accent5"/>
                </a:solidFill>
              </a:rPr>
              <a:t>d, e)</a:t>
            </a:r>
            <a:endParaRPr lang="en-US" sz="1800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sz="1800" dirty="0" smtClean="0">
                <a:solidFill>
                  <a:schemeClr val="accent5"/>
                </a:solidFill>
              </a:rPr>
              <a:t>&gt;&gt;&gt; 1 2 3 4 []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chemeClr val="accent5"/>
                </a:solidFill>
              </a:rPr>
              <a:t>&gt;&gt;&gt; a, *b, c, *d = </a:t>
            </a:r>
            <a:r>
              <a:rPr lang="en-US" sz="1800" dirty="0" err="1" smtClean="0">
                <a:solidFill>
                  <a:schemeClr val="accent5"/>
                </a:solidFill>
              </a:rPr>
              <a:t>seq</a:t>
            </a:r>
            <a:endParaRPr lang="en-US" sz="1800" dirty="0" smtClean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sz="1800" dirty="0" err="1" smtClean="0">
                <a:solidFill>
                  <a:schemeClr val="accent5"/>
                </a:solidFill>
              </a:rPr>
              <a:t>SyntaxError</a:t>
            </a:r>
            <a:r>
              <a:rPr lang="en-US" sz="1800" dirty="0" smtClean="0">
                <a:solidFill>
                  <a:schemeClr val="accent5"/>
                </a:solidFill>
              </a:rPr>
              <a:t>: two starred expression in assignment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chemeClr val="accent5"/>
                </a:solidFill>
              </a:rPr>
              <a:t>&gt;&gt;&gt; *a = </a:t>
            </a:r>
            <a:r>
              <a:rPr lang="en-US" sz="1800" dirty="0" err="1" smtClean="0">
                <a:solidFill>
                  <a:schemeClr val="accent5"/>
                </a:solidFill>
              </a:rPr>
              <a:t>seq</a:t>
            </a:r>
            <a:endParaRPr lang="en-US" sz="1800" dirty="0" smtClean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sz="1800" dirty="0" err="1" smtClean="0">
                <a:solidFill>
                  <a:schemeClr val="accent5"/>
                </a:solidFill>
              </a:rPr>
              <a:t>SyntaxError</a:t>
            </a:r>
            <a:r>
              <a:rPr lang="en-US" sz="1800" dirty="0" smtClean="0">
                <a:solidFill>
                  <a:schemeClr val="accent5"/>
                </a:solidFill>
              </a:rPr>
              <a:t>: starred assignment target must be in a list or tuple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chemeClr val="accent5"/>
                </a:solidFill>
              </a:rPr>
              <a:t>&gt;&gt;&gt; *a, = </a:t>
            </a:r>
            <a:r>
              <a:rPr lang="en-US" sz="1800" dirty="0" err="1" smtClean="0">
                <a:solidFill>
                  <a:schemeClr val="accent5"/>
                </a:solidFill>
              </a:rPr>
              <a:t>seq</a:t>
            </a:r>
            <a:endParaRPr lang="en-US" sz="1800" dirty="0" smtClean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sz="1800" dirty="0" smtClean="0">
                <a:solidFill>
                  <a:schemeClr val="accent5"/>
                </a:solidFill>
              </a:rPr>
              <a:t>&gt;&gt;&gt; a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chemeClr val="accent5"/>
                </a:solidFill>
              </a:rPr>
              <a:t>[1, 2, 3, 4]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A89F-0A78-46DC-BDC2-8FE968D1DF7C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083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32217"/>
            <a:ext cx="10515600" cy="1325563"/>
          </a:xfrm>
        </p:spPr>
        <p:txBody>
          <a:bodyPr/>
          <a:lstStyle/>
          <a:p>
            <a:r>
              <a:rPr lang="en-US" dirty="0" smtClean="0"/>
              <a:t>The </a:t>
            </a:r>
            <a:r>
              <a:rPr lang="en-US" dirty="0" smtClean="0">
                <a:solidFill>
                  <a:schemeClr val="accent5"/>
                </a:solidFill>
              </a:rPr>
              <a:t>range() </a:t>
            </a:r>
            <a:r>
              <a:rPr lang="en-US" dirty="0" smtClean="0"/>
              <a:t>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9813" y="1825625"/>
            <a:ext cx="5632347" cy="4284719"/>
          </a:xfrm>
        </p:spPr>
        <p:txBody>
          <a:bodyPr>
            <a:normAutofit/>
          </a:bodyPr>
          <a:lstStyle/>
          <a:p>
            <a:r>
              <a:rPr lang="en-US" dirty="0" smtClean="0"/>
              <a:t>Useful for iterating over a sequence of numbers</a:t>
            </a:r>
          </a:p>
          <a:p>
            <a:pPr lvl="1"/>
            <a:r>
              <a:rPr lang="en-US" sz="2000" dirty="0"/>
              <a:t> </a:t>
            </a:r>
            <a:r>
              <a:rPr lang="en-US" sz="2000" dirty="0" smtClean="0">
                <a:solidFill>
                  <a:schemeClr val="accent5"/>
                </a:solidFill>
              </a:rPr>
              <a:t>range(</a:t>
            </a:r>
            <a:r>
              <a:rPr lang="en-US" sz="2000" dirty="0" err="1" smtClean="0">
                <a:solidFill>
                  <a:schemeClr val="accent5"/>
                </a:solidFill>
              </a:rPr>
              <a:t>int</a:t>
            </a:r>
            <a:r>
              <a:rPr lang="en-US" sz="2000" dirty="0" smtClean="0">
                <a:solidFill>
                  <a:schemeClr val="accent5"/>
                </a:solidFill>
              </a:rPr>
              <a:t> n)</a:t>
            </a:r>
            <a:r>
              <a:rPr lang="en-US" sz="2000" dirty="0" smtClean="0"/>
              <a:t> generates: 0, 1, …, n-1</a:t>
            </a:r>
          </a:p>
          <a:p>
            <a:pPr lvl="1"/>
            <a:r>
              <a:rPr lang="en-US" sz="2000" dirty="0"/>
              <a:t> </a:t>
            </a:r>
            <a:r>
              <a:rPr lang="en-US" sz="2000" dirty="0" smtClean="0">
                <a:solidFill>
                  <a:schemeClr val="accent5"/>
                </a:solidFill>
              </a:rPr>
              <a:t>range(</a:t>
            </a:r>
            <a:r>
              <a:rPr lang="en-US" sz="2000" dirty="0" err="1" smtClean="0">
                <a:solidFill>
                  <a:schemeClr val="accent5"/>
                </a:solidFill>
              </a:rPr>
              <a:t>int</a:t>
            </a:r>
            <a:r>
              <a:rPr lang="en-US" sz="2000" dirty="0" smtClean="0">
                <a:solidFill>
                  <a:schemeClr val="accent5"/>
                </a:solidFill>
              </a:rPr>
              <a:t> m, </a:t>
            </a:r>
            <a:r>
              <a:rPr lang="en-US" sz="2000" dirty="0" err="1" smtClean="0">
                <a:solidFill>
                  <a:schemeClr val="accent5"/>
                </a:solidFill>
              </a:rPr>
              <a:t>int</a:t>
            </a:r>
            <a:r>
              <a:rPr lang="en-US" sz="2000" dirty="0" smtClean="0">
                <a:solidFill>
                  <a:schemeClr val="accent5"/>
                </a:solidFill>
              </a:rPr>
              <a:t> n) </a:t>
            </a:r>
            <a:r>
              <a:rPr lang="en-US" sz="2000" dirty="0" smtClean="0"/>
              <a:t>generates: m, </a:t>
            </a:r>
            <a:r>
              <a:rPr lang="en-US" sz="2000" dirty="0"/>
              <a:t>m</a:t>
            </a:r>
            <a:r>
              <a:rPr lang="en-US" sz="2000" dirty="0" smtClean="0"/>
              <a:t>+1, …, n-1</a:t>
            </a:r>
          </a:p>
          <a:p>
            <a:pPr lvl="1"/>
            <a:r>
              <a:rPr lang="en-US" sz="2000" dirty="0"/>
              <a:t> </a:t>
            </a:r>
            <a:r>
              <a:rPr lang="en-US" sz="2000" dirty="0" smtClean="0">
                <a:solidFill>
                  <a:schemeClr val="accent5"/>
                </a:solidFill>
              </a:rPr>
              <a:t>range(</a:t>
            </a:r>
            <a:r>
              <a:rPr lang="en-US" sz="2000" dirty="0" err="1" smtClean="0">
                <a:solidFill>
                  <a:schemeClr val="accent5"/>
                </a:solidFill>
              </a:rPr>
              <a:t>int</a:t>
            </a:r>
            <a:r>
              <a:rPr lang="en-US" sz="2000" dirty="0" smtClean="0">
                <a:solidFill>
                  <a:schemeClr val="accent5"/>
                </a:solidFill>
              </a:rPr>
              <a:t> m, </a:t>
            </a:r>
            <a:r>
              <a:rPr lang="en-US" sz="2000" dirty="0" err="1" smtClean="0">
                <a:solidFill>
                  <a:schemeClr val="accent5"/>
                </a:solidFill>
              </a:rPr>
              <a:t>int</a:t>
            </a:r>
            <a:r>
              <a:rPr lang="en-US" sz="2000" dirty="0" smtClean="0">
                <a:solidFill>
                  <a:schemeClr val="accent5"/>
                </a:solidFill>
              </a:rPr>
              <a:t> n, </a:t>
            </a:r>
            <a:r>
              <a:rPr lang="en-US" sz="2000" dirty="0" err="1" smtClean="0">
                <a:solidFill>
                  <a:schemeClr val="accent5"/>
                </a:solidFill>
              </a:rPr>
              <a:t>int</a:t>
            </a:r>
            <a:r>
              <a:rPr lang="en-US" sz="2000" dirty="0" smtClean="0">
                <a:solidFill>
                  <a:schemeClr val="accent5"/>
                </a:solidFill>
              </a:rPr>
              <a:t> s) </a:t>
            </a:r>
            <a:r>
              <a:rPr lang="en-US" sz="2000" dirty="0" smtClean="0"/>
              <a:t>generates: m, </a:t>
            </a:r>
            <a:r>
              <a:rPr lang="en-US" sz="2000" dirty="0" err="1"/>
              <a:t>m</a:t>
            </a:r>
            <a:r>
              <a:rPr lang="en-US" sz="2000" dirty="0" err="1" smtClean="0"/>
              <a:t>+s</a:t>
            </a:r>
            <a:r>
              <a:rPr lang="en-US" sz="2000" dirty="0" smtClean="0"/>
              <a:t>, m+2*s, …, up to n-1</a:t>
            </a:r>
          </a:p>
          <a:p>
            <a:r>
              <a:rPr lang="en-US" dirty="0" smtClean="0"/>
              <a:t>The given end point is never included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1292" y="169583"/>
            <a:ext cx="5181600" cy="635840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&gt;&gt;&gt; for </a:t>
            </a:r>
            <a:r>
              <a:rPr lang="en-US" sz="1600" dirty="0" err="1">
                <a:solidFill>
                  <a:schemeClr val="accent5"/>
                </a:solidFill>
              </a:rPr>
              <a:t>i</a:t>
            </a:r>
            <a:r>
              <a:rPr lang="en-US" sz="1600" dirty="0">
                <a:solidFill>
                  <a:schemeClr val="accent5"/>
                </a:solidFill>
              </a:rPr>
              <a:t> in </a:t>
            </a:r>
            <a:r>
              <a:rPr lang="en-US" sz="1600" dirty="0" smtClean="0">
                <a:solidFill>
                  <a:schemeClr val="accent5"/>
                </a:solidFill>
              </a:rPr>
              <a:t>range(3):</a:t>
            </a:r>
            <a:endParaRPr lang="en-US" sz="1600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...     </a:t>
            </a:r>
            <a:r>
              <a:rPr lang="en-US" sz="1600" dirty="0" smtClean="0">
                <a:solidFill>
                  <a:schemeClr val="accent5"/>
                </a:solidFill>
              </a:rPr>
              <a:t>   print(</a:t>
            </a:r>
            <a:r>
              <a:rPr lang="en-US" sz="1600" dirty="0" err="1" smtClean="0">
                <a:solidFill>
                  <a:schemeClr val="accent5"/>
                </a:solidFill>
              </a:rPr>
              <a:t>i</a:t>
            </a:r>
            <a:r>
              <a:rPr lang="en-US" sz="1600" dirty="0">
                <a:solidFill>
                  <a:schemeClr val="accent5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...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0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1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2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&gt;&gt;&gt; a = ['Mary', 'had', </a:t>
            </a:r>
            <a:r>
              <a:rPr lang="en-US" sz="1600" dirty="0" smtClean="0">
                <a:solidFill>
                  <a:schemeClr val="accent5"/>
                </a:solidFill>
              </a:rPr>
              <a:t>'lamb</a:t>
            </a:r>
            <a:r>
              <a:rPr lang="en-US" sz="1600" dirty="0">
                <a:solidFill>
                  <a:schemeClr val="accent5"/>
                </a:solidFill>
              </a:rPr>
              <a:t>']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&gt;&gt;&gt; for </a:t>
            </a:r>
            <a:r>
              <a:rPr lang="en-US" sz="1600" dirty="0" err="1">
                <a:solidFill>
                  <a:schemeClr val="accent5"/>
                </a:solidFill>
              </a:rPr>
              <a:t>i</a:t>
            </a:r>
            <a:r>
              <a:rPr lang="en-US" sz="1600" dirty="0">
                <a:solidFill>
                  <a:schemeClr val="accent5"/>
                </a:solidFill>
              </a:rPr>
              <a:t> in range(</a:t>
            </a:r>
            <a:r>
              <a:rPr lang="en-US" sz="1600" dirty="0" err="1">
                <a:solidFill>
                  <a:schemeClr val="accent5"/>
                </a:solidFill>
              </a:rPr>
              <a:t>len</a:t>
            </a:r>
            <a:r>
              <a:rPr lang="en-US" sz="1600" dirty="0">
                <a:solidFill>
                  <a:schemeClr val="accent5"/>
                </a:solidFill>
              </a:rPr>
              <a:t>(a)):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...     print(</a:t>
            </a:r>
            <a:r>
              <a:rPr lang="en-US" sz="1600" dirty="0" err="1">
                <a:solidFill>
                  <a:schemeClr val="accent5"/>
                </a:solidFill>
              </a:rPr>
              <a:t>i</a:t>
            </a:r>
            <a:r>
              <a:rPr lang="en-US" sz="1600" dirty="0">
                <a:solidFill>
                  <a:schemeClr val="accent5"/>
                </a:solidFill>
              </a:rPr>
              <a:t>, a[</a:t>
            </a:r>
            <a:r>
              <a:rPr lang="en-US" sz="1600" dirty="0" err="1">
                <a:solidFill>
                  <a:schemeClr val="accent5"/>
                </a:solidFill>
              </a:rPr>
              <a:t>i</a:t>
            </a:r>
            <a:r>
              <a:rPr lang="en-US" sz="1600" dirty="0">
                <a:solidFill>
                  <a:schemeClr val="accent5"/>
                </a:solidFill>
              </a:rPr>
              <a:t>])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...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0 Mary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1 had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2</a:t>
            </a:r>
            <a:r>
              <a:rPr lang="en-US" sz="1600" dirty="0" smtClean="0">
                <a:solidFill>
                  <a:schemeClr val="accent5"/>
                </a:solidFill>
              </a:rPr>
              <a:t> </a:t>
            </a:r>
            <a:r>
              <a:rPr lang="en-US" sz="1600" dirty="0">
                <a:solidFill>
                  <a:schemeClr val="accent5"/>
                </a:solidFill>
              </a:rPr>
              <a:t>lamb</a:t>
            </a:r>
            <a:endParaRPr lang="en-US" sz="1600" dirty="0" smtClean="0">
              <a:solidFill>
                <a:schemeClr val="accent5"/>
              </a:solidFill>
            </a:endParaRPr>
          </a:p>
          <a:p>
            <a:pPr marL="0" indent="0">
              <a:buNone/>
            </a:pPr>
            <a:endParaRPr lang="en-US" sz="1600" dirty="0" smtClean="0"/>
          </a:p>
          <a:p>
            <a:pPr marL="0" indent="0">
              <a:buNone/>
            </a:pPr>
            <a:r>
              <a:rPr lang="en-US" sz="1600" dirty="0" smtClean="0"/>
              <a:t>A few range() examples:</a:t>
            </a:r>
          </a:p>
          <a:p>
            <a:pPr marL="0" indent="0">
              <a:buNone/>
            </a:pPr>
            <a:r>
              <a:rPr lang="en-US" sz="1600" dirty="0"/>
              <a:t>range(5, </a:t>
            </a:r>
            <a:r>
              <a:rPr lang="en-US" sz="1600" dirty="0" smtClean="0"/>
              <a:t>10): 5, 6, 7, 8, 9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range(0, 10, </a:t>
            </a:r>
            <a:r>
              <a:rPr lang="en-US" sz="1600" dirty="0" smtClean="0"/>
              <a:t>3): 0</a:t>
            </a:r>
            <a:r>
              <a:rPr lang="en-US" sz="1600" dirty="0"/>
              <a:t>, 3, 6, </a:t>
            </a:r>
            <a:r>
              <a:rPr lang="en-US" sz="1600" dirty="0" smtClean="0"/>
              <a:t>9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range(-10, -100, -30</a:t>
            </a:r>
            <a:r>
              <a:rPr lang="en-US" sz="1600" dirty="0" smtClean="0"/>
              <a:t>): -</a:t>
            </a:r>
            <a:r>
              <a:rPr lang="en-US" sz="1600" dirty="0"/>
              <a:t>10, -40, -70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A89F-0A78-46DC-BDC2-8FE968D1DF7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65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Multiple-Target Assignments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a = b = c = ‘spam’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a, b, c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(‘spam’, ‘spam’, ‘spam’)</a:t>
            </a:r>
          </a:p>
          <a:p>
            <a:pPr marL="0" indent="0">
              <a:buNone/>
            </a:pPr>
            <a:endParaRPr lang="en-US" dirty="0" smtClean="0">
              <a:solidFill>
                <a:schemeClr val="accent5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552074"/>
            <a:ext cx="5181600" cy="4624889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Be cautious when initializing variables to an empty mutable object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&gt;&gt;&gt; a = b = []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&gt;&gt;&gt; </a:t>
            </a:r>
            <a:r>
              <a:rPr lang="en-US" dirty="0" err="1">
                <a:solidFill>
                  <a:schemeClr val="accent5"/>
                </a:solidFill>
              </a:rPr>
              <a:t>b.append</a:t>
            </a:r>
            <a:r>
              <a:rPr lang="en-US" dirty="0">
                <a:solidFill>
                  <a:schemeClr val="accent5"/>
                </a:solidFill>
              </a:rPr>
              <a:t>(42</a:t>
            </a:r>
            <a:r>
              <a:rPr lang="en-US" dirty="0" smtClean="0">
                <a:solidFill>
                  <a:schemeClr val="accent5"/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a, b</a:t>
            </a:r>
            <a:endParaRPr lang="en-US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([</a:t>
            </a:r>
            <a:r>
              <a:rPr lang="en-US" dirty="0">
                <a:solidFill>
                  <a:schemeClr val="accent5"/>
                </a:solidFill>
              </a:rPr>
              <a:t>42], [42])</a:t>
            </a:r>
          </a:p>
          <a:p>
            <a:pPr marL="0" indent="0">
              <a:buNone/>
            </a:pPr>
            <a:endParaRPr lang="en-US" dirty="0" smtClean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a, b = [], []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&gt;&gt;&gt; </a:t>
            </a:r>
            <a:r>
              <a:rPr lang="en-US" dirty="0" err="1">
                <a:solidFill>
                  <a:schemeClr val="accent5"/>
                </a:solidFill>
              </a:rPr>
              <a:t>b.append</a:t>
            </a:r>
            <a:r>
              <a:rPr lang="en-US" dirty="0">
                <a:solidFill>
                  <a:schemeClr val="accent5"/>
                </a:solidFill>
              </a:rPr>
              <a:t>(42</a:t>
            </a:r>
            <a:r>
              <a:rPr lang="en-US" dirty="0" smtClean="0">
                <a:solidFill>
                  <a:schemeClr val="accent5"/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a, b</a:t>
            </a:r>
            <a:endParaRPr lang="en-US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([], </a:t>
            </a:r>
            <a:r>
              <a:rPr lang="en-US" dirty="0">
                <a:solidFill>
                  <a:schemeClr val="accent5"/>
                </a:solidFill>
              </a:rPr>
              <a:t>[42</a:t>
            </a:r>
            <a:r>
              <a:rPr lang="en-US" dirty="0" smtClean="0">
                <a:solidFill>
                  <a:schemeClr val="accent5"/>
                </a:solidFill>
              </a:rPr>
              <a:t>])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A89F-0A78-46DC-BDC2-8FE968D1DF7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221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062" y="184651"/>
            <a:ext cx="5767137" cy="1325563"/>
          </a:xfrm>
        </p:spPr>
        <p:txBody>
          <a:bodyPr>
            <a:normAutofit/>
          </a:bodyPr>
          <a:lstStyle/>
          <a:p>
            <a:r>
              <a:rPr lang="en-US" sz="4000" dirty="0" smtClean="0"/>
              <a:t>Augmented Assignments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>
                <a:solidFill>
                  <a:schemeClr val="accent5"/>
                </a:solidFill>
              </a:rPr>
              <a:t>&gt;&gt;&gt; L = [1, 2]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chemeClr val="accent5"/>
                </a:solidFill>
              </a:rPr>
              <a:t>&gt;&gt;&gt; L = L + [3]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chemeClr val="accent5"/>
                </a:solidFill>
              </a:rPr>
              <a:t>&gt;&gt;&gt; L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chemeClr val="accent5"/>
                </a:solidFill>
              </a:rPr>
              <a:t>[1, 2, 3]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chemeClr val="accent5"/>
                </a:solidFill>
              </a:rPr>
              <a:t>&gt;&gt;&gt; L += [9, 10]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chemeClr val="accent5"/>
                </a:solidFill>
              </a:rPr>
              <a:t>&gt;&gt;&gt; L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chemeClr val="accent5"/>
                </a:solidFill>
              </a:rPr>
              <a:t>[1, 2, 3, 9, 10]</a:t>
            </a:r>
            <a:endParaRPr lang="en-US" sz="2400" dirty="0">
              <a:solidFill>
                <a:schemeClr val="accent5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02969" y="529890"/>
            <a:ext cx="6268453" cy="6171699"/>
          </a:xfrm>
        </p:spPr>
        <p:txBody>
          <a:bodyPr>
            <a:normAutofit/>
          </a:bodyPr>
          <a:lstStyle/>
          <a:p>
            <a:r>
              <a:rPr lang="en-US" dirty="0" smtClean="0"/>
              <a:t>Concatenation (“+”) makes a new object, but “+=” is an in-place change.</a:t>
            </a:r>
          </a:p>
          <a:p>
            <a:pPr marL="0" indent="0">
              <a:buNone/>
            </a:pPr>
            <a:r>
              <a:rPr lang="en-US" sz="2200" dirty="0" smtClean="0">
                <a:solidFill>
                  <a:schemeClr val="accent5"/>
                </a:solidFill>
              </a:rPr>
              <a:t>&gt;&gt;&gt; L = [1, 2]</a:t>
            </a:r>
          </a:p>
          <a:p>
            <a:pPr marL="0" indent="0">
              <a:buNone/>
            </a:pPr>
            <a:r>
              <a:rPr lang="en-US" sz="2200" dirty="0" smtClean="0">
                <a:solidFill>
                  <a:schemeClr val="accent5"/>
                </a:solidFill>
              </a:rPr>
              <a:t>&gt;&gt;&gt; M = L	# L and M reference the same object</a:t>
            </a:r>
          </a:p>
          <a:p>
            <a:pPr marL="0" indent="0">
              <a:buNone/>
            </a:pPr>
            <a:r>
              <a:rPr lang="en-US" sz="2200" dirty="0" smtClean="0">
                <a:solidFill>
                  <a:schemeClr val="accent5"/>
                </a:solidFill>
              </a:rPr>
              <a:t>&gt;&gt;&gt; L = L + [3, 4]	# “+” makes a new object</a:t>
            </a:r>
          </a:p>
          <a:p>
            <a:pPr marL="0" indent="0">
              <a:buNone/>
            </a:pPr>
            <a:r>
              <a:rPr lang="en-US" sz="2200" dirty="0" smtClean="0">
                <a:solidFill>
                  <a:schemeClr val="accent5"/>
                </a:solidFill>
              </a:rPr>
              <a:t>&gt;&gt;&gt; L, M</a:t>
            </a:r>
          </a:p>
          <a:p>
            <a:pPr marL="0" indent="0">
              <a:buNone/>
            </a:pPr>
            <a:r>
              <a:rPr lang="en-US" sz="2200" dirty="0" smtClean="0">
                <a:solidFill>
                  <a:schemeClr val="accent5"/>
                </a:solidFill>
              </a:rPr>
              <a:t>([1, 2, 3, 4], [1, 2])</a:t>
            </a:r>
          </a:p>
          <a:p>
            <a:pPr marL="0" indent="0">
              <a:buNone/>
            </a:pPr>
            <a:endParaRPr lang="en-US" sz="2200" dirty="0" smtClean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sz="2200" dirty="0" smtClean="0">
                <a:solidFill>
                  <a:schemeClr val="accent5"/>
                </a:solidFill>
              </a:rPr>
              <a:t>&gt;&gt;&gt; L = [1, 2]</a:t>
            </a:r>
          </a:p>
          <a:p>
            <a:pPr marL="0" indent="0">
              <a:buNone/>
            </a:pPr>
            <a:r>
              <a:rPr lang="en-US" sz="2200" dirty="0" smtClean="0">
                <a:solidFill>
                  <a:schemeClr val="accent5"/>
                </a:solidFill>
              </a:rPr>
              <a:t>&gt;&gt;&gt; M = L</a:t>
            </a:r>
          </a:p>
          <a:p>
            <a:pPr marL="0" indent="0">
              <a:buNone/>
            </a:pPr>
            <a:r>
              <a:rPr lang="en-US" sz="2200" dirty="0" smtClean="0">
                <a:solidFill>
                  <a:schemeClr val="accent5"/>
                </a:solidFill>
              </a:rPr>
              <a:t>&gt;&gt;&gt; L += [3, 4]	# “+=“ is an in-place change</a:t>
            </a:r>
          </a:p>
          <a:p>
            <a:pPr marL="0" indent="0">
              <a:buNone/>
            </a:pPr>
            <a:r>
              <a:rPr lang="en-US" sz="2200" dirty="0" smtClean="0">
                <a:solidFill>
                  <a:schemeClr val="accent5"/>
                </a:solidFill>
              </a:rPr>
              <a:t>&gt;&gt;&gt; L, M</a:t>
            </a:r>
          </a:p>
          <a:p>
            <a:pPr marL="0" indent="0">
              <a:buNone/>
            </a:pPr>
            <a:r>
              <a:rPr lang="en-US" sz="2200" dirty="0" smtClean="0">
                <a:solidFill>
                  <a:schemeClr val="accent5"/>
                </a:solidFill>
              </a:rPr>
              <a:t>([1, 2, 3, 4], [1, 2, 3, 4])</a:t>
            </a:r>
            <a:endParaRPr lang="en-US" sz="2200" dirty="0">
              <a:solidFill>
                <a:schemeClr val="accent5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A89F-0A78-46DC-BDC2-8FE968D1DF7C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45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Print Operations (Python 3)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By default, print calls add a space between the objects printed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x = ‘spam’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y = 99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z = [‘eggs’]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print(x, y, z)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spam 99 [‘eggs’]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The separator can be customized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print(x, y, z, </a:t>
            </a:r>
            <a:r>
              <a:rPr lang="en-US" dirty="0" err="1" smtClean="0">
                <a:solidFill>
                  <a:schemeClr val="accent5"/>
                </a:solidFill>
              </a:rPr>
              <a:t>sep</a:t>
            </a:r>
            <a:r>
              <a:rPr lang="en-US" dirty="0" smtClean="0">
                <a:solidFill>
                  <a:schemeClr val="accent5"/>
                </a:solidFill>
              </a:rPr>
              <a:t>=‘’)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s</a:t>
            </a:r>
            <a:r>
              <a:rPr lang="en-US" dirty="0" smtClean="0">
                <a:solidFill>
                  <a:schemeClr val="accent5"/>
                </a:solidFill>
              </a:rPr>
              <a:t>pam99[‘eggs’]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print(x, y, z, </a:t>
            </a:r>
            <a:r>
              <a:rPr lang="en-US" dirty="0" err="1" smtClean="0">
                <a:solidFill>
                  <a:schemeClr val="accent5"/>
                </a:solidFill>
              </a:rPr>
              <a:t>sep</a:t>
            </a:r>
            <a:r>
              <a:rPr lang="en-US" dirty="0" smtClean="0">
                <a:solidFill>
                  <a:schemeClr val="accent5"/>
                </a:solidFill>
              </a:rPr>
              <a:t>=‘, ’)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s</a:t>
            </a:r>
            <a:r>
              <a:rPr lang="en-US" dirty="0" smtClean="0">
                <a:solidFill>
                  <a:schemeClr val="accent5"/>
                </a:solidFill>
              </a:rPr>
              <a:t>pam, 99, [‘eggs’]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A89F-0A78-46DC-BDC2-8FE968D1DF7C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23110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Print Operations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By default, print adds an end-of-line character to terminate the output line.</a:t>
            </a:r>
          </a:p>
          <a:p>
            <a:r>
              <a:rPr lang="en-US" dirty="0" smtClean="0"/>
              <a:t>This can also be suppressed or customized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>
                <a:solidFill>
                  <a:schemeClr val="accent5"/>
                </a:solidFill>
              </a:rPr>
              <a:t>&gt;&gt;&gt; print(x, y, z, end=‘’); print(x, y, z)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5"/>
                </a:solidFill>
              </a:rPr>
              <a:t>s</a:t>
            </a:r>
            <a:r>
              <a:rPr lang="en-US" sz="2400" dirty="0" smtClean="0">
                <a:solidFill>
                  <a:schemeClr val="accent5"/>
                </a:solidFill>
              </a:rPr>
              <a:t>pam 99 [‘eggs’]spam 99 [‘eggs’]</a:t>
            </a:r>
          </a:p>
          <a:p>
            <a:pPr marL="0" indent="0">
              <a:buNone/>
            </a:pPr>
            <a:endParaRPr lang="en-US" sz="2400" dirty="0" smtClean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sz="2400" dirty="0" smtClean="0">
                <a:solidFill>
                  <a:schemeClr val="accent5"/>
                </a:solidFill>
              </a:rPr>
              <a:t>&gt;&gt;&gt; print (x, y, z, </a:t>
            </a:r>
            <a:r>
              <a:rPr lang="en-US" sz="2400" dirty="0" err="1" smtClean="0">
                <a:solidFill>
                  <a:schemeClr val="accent5"/>
                </a:solidFill>
              </a:rPr>
              <a:t>sep</a:t>
            </a:r>
            <a:r>
              <a:rPr lang="en-US" sz="2400" dirty="0" smtClean="0">
                <a:solidFill>
                  <a:schemeClr val="accent5"/>
                </a:solidFill>
              </a:rPr>
              <a:t>=‘…’, end=‘!\n’)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5"/>
                </a:solidFill>
              </a:rPr>
              <a:t>s</a:t>
            </a:r>
            <a:r>
              <a:rPr lang="en-US" sz="2400" dirty="0" smtClean="0">
                <a:solidFill>
                  <a:schemeClr val="accent5"/>
                </a:solidFill>
              </a:rPr>
              <a:t>pam…99…[‘eggs’]!</a:t>
            </a:r>
            <a:endParaRPr lang="en-US" sz="2400" dirty="0">
              <a:solidFill>
                <a:schemeClr val="accent5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A89F-0A78-46DC-BDC2-8FE968D1DF7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6029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i</a:t>
            </a:r>
            <a:r>
              <a:rPr lang="en-US" dirty="0" smtClean="0">
                <a:solidFill>
                  <a:schemeClr val="accent5"/>
                </a:solidFill>
              </a:rPr>
              <a:t>f</a:t>
            </a:r>
            <a:r>
              <a:rPr lang="en-US" dirty="0" smtClean="0"/>
              <a:t> Statements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There can be zero or more </a:t>
            </a:r>
            <a:r>
              <a:rPr lang="en-US" dirty="0" err="1" smtClean="0">
                <a:solidFill>
                  <a:schemeClr val="accent5"/>
                </a:solidFill>
              </a:rPr>
              <a:t>elif</a:t>
            </a:r>
            <a:r>
              <a:rPr lang="en-US" dirty="0" smtClean="0">
                <a:solidFill>
                  <a:schemeClr val="accent5"/>
                </a:solidFill>
              </a:rPr>
              <a:t> </a:t>
            </a:r>
            <a:r>
              <a:rPr lang="en-US" dirty="0" smtClean="0"/>
              <a:t>parts, which are short for “else if”.</a:t>
            </a:r>
          </a:p>
          <a:p>
            <a:r>
              <a:rPr lang="en-US" dirty="0" smtClean="0"/>
              <a:t>The </a:t>
            </a:r>
            <a:r>
              <a:rPr lang="en-US" dirty="0" smtClean="0">
                <a:solidFill>
                  <a:schemeClr val="accent5"/>
                </a:solidFill>
              </a:rPr>
              <a:t>else</a:t>
            </a:r>
            <a:r>
              <a:rPr lang="en-US" dirty="0" smtClean="0"/>
              <a:t> part if optional</a:t>
            </a:r>
          </a:p>
          <a:p>
            <a:r>
              <a:rPr lang="en-US" dirty="0" smtClean="0"/>
              <a:t>An </a:t>
            </a:r>
            <a:r>
              <a:rPr lang="en-US" dirty="0" smtClean="0">
                <a:solidFill>
                  <a:schemeClr val="accent5"/>
                </a:solidFill>
              </a:rPr>
              <a:t>if…</a:t>
            </a:r>
            <a:r>
              <a:rPr lang="en-US" dirty="0" err="1" smtClean="0">
                <a:solidFill>
                  <a:schemeClr val="accent5"/>
                </a:solidFill>
              </a:rPr>
              <a:t>elif</a:t>
            </a:r>
            <a:r>
              <a:rPr lang="en-US" dirty="0" smtClean="0">
                <a:solidFill>
                  <a:schemeClr val="accent5"/>
                </a:solidFill>
              </a:rPr>
              <a:t>…</a:t>
            </a:r>
            <a:r>
              <a:rPr lang="en-US" dirty="0" err="1" smtClean="0">
                <a:solidFill>
                  <a:schemeClr val="accent5"/>
                </a:solidFill>
              </a:rPr>
              <a:t>elif</a:t>
            </a:r>
            <a:r>
              <a:rPr lang="en-US" dirty="0" smtClean="0">
                <a:solidFill>
                  <a:schemeClr val="accent5"/>
                </a:solidFill>
              </a:rPr>
              <a:t>…</a:t>
            </a:r>
            <a:r>
              <a:rPr lang="en-US" dirty="0" smtClean="0"/>
              <a:t> sequence is a substitute for the switch or case statements in other languages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9776" y="1035488"/>
            <a:ext cx="5181600" cy="492424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accent5"/>
                </a:solidFill>
              </a:rPr>
              <a:t>&gt;&gt;&gt; x </a:t>
            </a:r>
            <a:r>
              <a:rPr lang="en-US" sz="2000" dirty="0" smtClean="0">
                <a:solidFill>
                  <a:schemeClr val="accent5"/>
                </a:solidFill>
              </a:rPr>
              <a:t>= 3</a:t>
            </a:r>
            <a:endParaRPr lang="en-US" sz="2000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chemeClr val="accent5"/>
                </a:solidFill>
              </a:rPr>
              <a:t>&gt;&gt;&gt; </a:t>
            </a:r>
            <a:r>
              <a:rPr lang="en-US" sz="2000" dirty="0">
                <a:solidFill>
                  <a:schemeClr val="accent5"/>
                </a:solidFill>
              </a:rPr>
              <a:t>if x &lt; 0: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5"/>
                </a:solidFill>
              </a:rPr>
              <a:t>...     </a:t>
            </a:r>
            <a:r>
              <a:rPr lang="en-US" sz="2000" dirty="0" smtClean="0">
                <a:solidFill>
                  <a:schemeClr val="accent5"/>
                </a:solidFill>
              </a:rPr>
              <a:t>   x </a:t>
            </a:r>
            <a:r>
              <a:rPr lang="en-US" sz="2000" dirty="0">
                <a:solidFill>
                  <a:schemeClr val="accent5"/>
                </a:solidFill>
              </a:rPr>
              <a:t>= 0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5"/>
                </a:solidFill>
              </a:rPr>
              <a:t>...     </a:t>
            </a:r>
            <a:r>
              <a:rPr lang="en-US" sz="2000" dirty="0" smtClean="0">
                <a:solidFill>
                  <a:schemeClr val="accent5"/>
                </a:solidFill>
              </a:rPr>
              <a:t>   print</a:t>
            </a:r>
            <a:r>
              <a:rPr lang="en-US" sz="2000" dirty="0">
                <a:solidFill>
                  <a:schemeClr val="accent5"/>
                </a:solidFill>
              </a:rPr>
              <a:t>('Negative changed to zero')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5"/>
                </a:solidFill>
              </a:rPr>
              <a:t>... </a:t>
            </a:r>
            <a:r>
              <a:rPr lang="en-US" sz="2000" dirty="0" smtClean="0">
                <a:solidFill>
                  <a:schemeClr val="accent5"/>
                </a:solidFill>
              </a:rPr>
              <a:t>   </a:t>
            </a:r>
            <a:r>
              <a:rPr lang="en-US" sz="2000" dirty="0" err="1" smtClean="0">
                <a:solidFill>
                  <a:schemeClr val="accent5"/>
                </a:solidFill>
              </a:rPr>
              <a:t>elif</a:t>
            </a:r>
            <a:r>
              <a:rPr lang="en-US" sz="2000" dirty="0" smtClean="0">
                <a:solidFill>
                  <a:schemeClr val="accent5"/>
                </a:solidFill>
              </a:rPr>
              <a:t> </a:t>
            </a:r>
            <a:r>
              <a:rPr lang="en-US" sz="2000" dirty="0">
                <a:solidFill>
                  <a:schemeClr val="accent5"/>
                </a:solidFill>
              </a:rPr>
              <a:t>x == 0: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5"/>
                </a:solidFill>
              </a:rPr>
              <a:t>...     </a:t>
            </a:r>
            <a:r>
              <a:rPr lang="en-US" sz="2000" dirty="0" smtClean="0">
                <a:solidFill>
                  <a:schemeClr val="accent5"/>
                </a:solidFill>
              </a:rPr>
              <a:t>   print</a:t>
            </a:r>
            <a:r>
              <a:rPr lang="en-US" sz="2000" dirty="0">
                <a:solidFill>
                  <a:schemeClr val="accent5"/>
                </a:solidFill>
              </a:rPr>
              <a:t>('Zero')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5"/>
                </a:solidFill>
              </a:rPr>
              <a:t>... </a:t>
            </a:r>
            <a:r>
              <a:rPr lang="en-US" sz="2000" dirty="0" smtClean="0">
                <a:solidFill>
                  <a:schemeClr val="accent5"/>
                </a:solidFill>
              </a:rPr>
              <a:t>   </a:t>
            </a:r>
            <a:r>
              <a:rPr lang="en-US" sz="2000" dirty="0" err="1" smtClean="0">
                <a:solidFill>
                  <a:schemeClr val="accent5"/>
                </a:solidFill>
              </a:rPr>
              <a:t>elif</a:t>
            </a:r>
            <a:r>
              <a:rPr lang="en-US" sz="2000" dirty="0" smtClean="0">
                <a:solidFill>
                  <a:schemeClr val="accent5"/>
                </a:solidFill>
              </a:rPr>
              <a:t> </a:t>
            </a:r>
            <a:r>
              <a:rPr lang="en-US" sz="2000" dirty="0">
                <a:solidFill>
                  <a:schemeClr val="accent5"/>
                </a:solidFill>
              </a:rPr>
              <a:t>x == 1: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5"/>
                </a:solidFill>
              </a:rPr>
              <a:t>...     </a:t>
            </a:r>
            <a:r>
              <a:rPr lang="en-US" sz="2000" dirty="0" smtClean="0">
                <a:solidFill>
                  <a:schemeClr val="accent5"/>
                </a:solidFill>
              </a:rPr>
              <a:t>   print</a:t>
            </a:r>
            <a:r>
              <a:rPr lang="en-US" sz="2000" dirty="0">
                <a:solidFill>
                  <a:schemeClr val="accent5"/>
                </a:solidFill>
              </a:rPr>
              <a:t>('Single')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5"/>
                </a:solidFill>
              </a:rPr>
              <a:t>... </a:t>
            </a:r>
            <a:r>
              <a:rPr lang="en-US" sz="2000" dirty="0" smtClean="0">
                <a:solidFill>
                  <a:schemeClr val="accent5"/>
                </a:solidFill>
              </a:rPr>
              <a:t>   else</a:t>
            </a:r>
            <a:r>
              <a:rPr lang="en-US" sz="2000" dirty="0">
                <a:solidFill>
                  <a:schemeClr val="accent5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5"/>
                </a:solidFill>
              </a:rPr>
              <a:t>...     </a:t>
            </a:r>
            <a:r>
              <a:rPr lang="en-US" sz="2000" dirty="0" smtClean="0">
                <a:solidFill>
                  <a:schemeClr val="accent5"/>
                </a:solidFill>
              </a:rPr>
              <a:t>   print</a:t>
            </a:r>
            <a:r>
              <a:rPr lang="en-US" sz="2000" dirty="0">
                <a:solidFill>
                  <a:schemeClr val="accent5"/>
                </a:solidFill>
              </a:rPr>
              <a:t>('More')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chemeClr val="accent5"/>
                </a:solidFill>
              </a:rPr>
              <a:t>...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chemeClr val="accent5"/>
                </a:solidFill>
              </a:rPr>
              <a:t>More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A89F-0A78-46DC-BDC2-8FE968D1DF7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840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5"/>
                </a:solidFill>
              </a:rPr>
              <a:t>While</a:t>
            </a:r>
            <a:r>
              <a:rPr lang="en-US" dirty="0" smtClean="0"/>
              <a:t> Statements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 smtClean="0">
                <a:solidFill>
                  <a:schemeClr val="accent5"/>
                </a:solidFill>
              </a:rPr>
              <a:t>while True: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     reply = input(‘Enter text:’)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 smtClean="0">
                <a:solidFill>
                  <a:schemeClr val="accent5"/>
                </a:solidFill>
              </a:rPr>
              <a:t>    if reply == ‘stop’: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 smtClean="0">
                <a:solidFill>
                  <a:schemeClr val="accent5"/>
                </a:solidFill>
              </a:rPr>
              <a:t>        break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 smtClean="0">
                <a:solidFill>
                  <a:schemeClr val="accent5"/>
                </a:solidFill>
              </a:rPr>
              <a:t>    print(</a:t>
            </a:r>
            <a:r>
              <a:rPr lang="en-US" dirty="0" err="1" smtClean="0">
                <a:solidFill>
                  <a:schemeClr val="accent5"/>
                </a:solidFill>
              </a:rPr>
              <a:t>reply.upper</a:t>
            </a:r>
            <a:r>
              <a:rPr lang="en-US" dirty="0" smtClean="0">
                <a:solidFill>
                  <a:schemeClr val="accent5"/>
                </a:solidFill>
              </a:rPr>
              <a:t>())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smtClean="0">
                <a:solidFill>
                  <a:schemeClr val="accent5"/>
                </a:solidFill>
              </a:rPr>
              <a:t>input(</a:t>
            </a:r>
            <a:r>
              <a:rPr lang="en-US" dirty="0" err="1" smtClean="0">
                <a:solidFill>
                  <a:schemeClr val="accent5"/>
                </a:solidFill>
              </a:rPr>
              <a:t>str</a:t>
            </a:r>
            <a:r>
              <a:rPr lang="en-US" dirty="0" smtClean="0">
                <a:solidFill>
                  <a:schemeClr val="accent5"/>
                </a:solidFill>
              </a:rPr>
              <a:t>) </a:t>
            </a:r>
            <a:r>
              <a:rPr lang="en-US" dirty="0" smtClean="0"/>
              <a:t>built-in function is for general console input. It prints out the optional argument string as a prompt and returns the user’s typed reply as a string.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A89F-0A78-46DC-BDC2-8FE968D1DF7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5724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Enhanced With Error Handling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74361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 while True: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     reply = input(‘Enter text:’)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     if reply == ‘stop’: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         break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     </a:t>
            </a:r>
            <a:r>
              <a:rPr lang="en-US" dirty="0" smtClean="0">
                <a:solidFill>
                  <a:schemeClr val="accent5"/>
                </a:solidFill>
              </a:rPr>
              <a:t>print(</a:t>
            </a:r>
            <a:r>
              <a:rPr lang="en-US" dirty="0" err="1" smtClean="0">
                <a:solidFill>
                  <a:schemeClr val="accent5"/>
                </a:solidFill>
              </a:rPr>
              <a:t>int</a:t>
            </a:r>
            <a:r>
              <a:rPr lang="en-US" dirty="0" smtClean="0">
                <a:solidFill>
                  <a:schemeClr val="accent5"/>
                </a:solidFill>
              </a:rPr>
              <a:t>(reply) ** 2)</a:t>
            </a:r>
            <a:endParaRPr lang="en-US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 print(‘Bye’)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Enter text:2</a:t>
            </a:r>
          </a:p>
          <a:p>
            <a:pPr marL="0" indent="0">
              <a:buNone/>
            </a:pPr>
            <a:r>
              <a:rPr lang="en-US" dirty="0" smtClean="0"/>
              <a:t>4</a:t>
            </a:r>
          </a:p>
          <a:p>
            <a:pPr marL="0" indent="0">
              <a:buNone/>
            </a:pPr>
            <a:r>
              <a:rPr lang="en-US" dirty="0" smtClean="0"/>
              <a:t>Enter text:40</a:t>
            </a:r>
          </a:p>
          <a:p>
            <a:pPr marL="0" indent="0">
              <a:buNone/>
            </a:pPr>
            <a:r>
              <a:rPr lang="en-US" dirty="0" smtClean="0"/>
              <a:t>1600</a:t>
            </a:r>
          </a:p>
          <a:p>
            <a:pPr marL="0" indent="0">
              <a:buNone/>
            </a:pPr>
            <a:r>
              <a:rPr lang="en-US" dirty="0" smtClean="0"/>
              <a:t>Enter </a:t>
            </a:r>
            <a:r>
              <a:rPr lang="en-US" dirty="0" err="1" smtClean="0"/>
              <a:t>text:stop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Bye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 while True: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     reply = input(‘Enter text:’)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     if reply == ‘stop’: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         break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     </a:t>
            </a:r>
            <a:r>
              <a:rPr lang="en-US" dirty="0" smtClean="0">
                <a:solidFill>
                  <a:schemeClr val="accent5"/>
                </a:solidFill>
              </a:rPr>
              <a:t>try: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 smtClean="0">
                <a:solidFill>
                  <a:schemeClr val="accent5"/>
                </a:solidFill>
              </a:rPr>
              <a:t>        </a:t>
            </a:r>
            <a:r>
              <a:rPr lang="en-US" dirty="0" err="1" smtClean="0">
                <a:solidFill>
                  <a:schemeClr val="accent5"/>
                </a:solidFill>
              </a:rPr>
              <a:t>num</a:t>
            </a:r>
            <a:r>
              <a:rPr lang="en-US" dirty="0" smtClean="0">
                <a:solidFill>
                  <a:schemeClr val="accent5"/>
                </a:solidFill>
              </a:rPr>
              <a:t> = </a:t>
            </a:r>
            <a:r>
              <a:rPr lang="en-US" dirty="0" err="1" smtClean="0">
                <a:solidFill>
                  <a:schemeClr val="accent5"/>
                </a:solidFill>
              </a:rPr>
              <a:t>int</a:t>
            </a:r>
            <a:r>
              <a:rPr lang="en-US" dirty="0" smtClean="0">
                <a:solidFill>
                  <a:schemeClr val="accent5"/>
                </a:solidFill>
              </a:rPr>
              <a:t>(reply)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 smtClean="0">
                <a:solidFill>
                  <a:schemeClr val="accent5"/>
                </a:solidFill>
              </a:rPr>
              <a:t>    except: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 smtClean="0">
                <a:solidFill>
                  <a:schemeClr val="accent5"/>
                </a:solidFill>
              </a:rPr>
              <a:t>        print(‘Bad!’ * 8)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 smtClean="0">
                <a:solidFill>
                  <a:schemeClr val="accent5"/>
                </a:solidFill>
              </a:rPr>
              <a:t>    else: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 smtClean="0">
                <a:solidFill>
                  <a:schemeClr val="accent5"/>
                </a:solidFill>
              </a:rPr>
              <a:t>     print(</a:t>
            </a:r>
            <a:r>
              <a:rPr lang="en-US" dirty="0" err="1" smtClean="0">
                <a:solidFill>
                  <a:schemeClr val="accent5"/>
                </a:solidFill>
              </a:rPr>
              <a:t>num</a:t>
            </a:r>
            <a:r>
              <a:rPr lang="en-US" dirty="0" smtClean="0">
                <a:solidFill>
                  <a:schemeClr val="accent5"/>
                </a:solidFill>
              </a:rPr>
              <a:t> ** 2)</a:t>
            </a:r>
            <a:endParaRPr lang="en-US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 print(‘Bye’)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A89F-0A78-46DC-BDC2-8FE968D1DF7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6119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f</a:t>
            </a:r>
            <a:r>
              <a:rPr lang="en-US" dirty="0" smtClean="0">
                <a:solidFill>
                  <a:schemeClr val="accent5"/>
                </a:solidFill>
              </a:rPr>
              <a:t>or</a:t>
            </a:r>
            <a:r>
              <a:rPr lang="en-US" dirty="0" smtClean="0"/>
              <a:t> Statements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992445" cy="4263203"/>
          </a:xfrm>
        </p:spPr>
        <p:txBody>
          <a:bodyPr>
            <a:normAutofit/>
          </a:bodyPr>
          <a:lstStyle/>
          <a:p>
            <a:r>
              <a:rPr lang="en-US" dirty="0" smtClean="0"/>
              <a:t>Iterates over the items of any sequence (a list, a string, etc.)</a:t>
            </a:r>
          </a:p>
          <a:p>
            <a:r>
              <a:rPr lang="en-US" dirty="0" smtClean="0"/>
              <a:t>If you need to modify the sequence while inside the loop, you should make a copy first (e.g., using slicing)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935916"/>
            <a:ext cx="5607424" cy="50043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accent5"/>
                </a:solidFill>
              </a:rPr>
              <a:t>&gt;&gt;&gt; words = ['cat', 'window', 'defenestrate']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5"/>
                </a:solidFill>
              </a:rPr>
              <a:t>&gt;&gt;&gt; for w in words: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5"/>
                </a:solidFill>
              </a:rPr>
              <a:t>...     </a:t>
            </a:r>
            <a:r>
              <a:rPr lang="en-US" sz="2000" dirty="0" smtClean="0">
                <a:solidFill>
                  <a:schemeClr val="accent5"/>
                </a:solidFill>
              </a:rPr>
              <a:t>   print(w</a:t>
            </a:r>
            <a:r>
              <a:rPr lang="en-US" sz="2000" dirty="0">
                <a:solidFill>
                  <a:schemeClr val="accent5"/>
                </a:solidFill>
              </a:rPr>
              <a:t>, </a:t>
            </a:r>
            <a:r>
              <a:rPr lang="en-US" sz="2000" dirty="0" err="1">
                <a:solidFill>
                  <a:schemeClr val="accent5"/>
                </a:solidFill>
              </a:rPr>
              <a:t>len</a:t>
            </a:r>
            <a:r>
              <a:rPr lang="en-US" sz="2000" dirty="0">
                <a:solidFill>
                  <a:schemeClr val="accent5"/>
                </a:solidFill>
              </a:rPr>
              <a:t>(w))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5"/>
                </a:solidFill>
              </a:rPr>
              <a:t>...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5"/>
                </a:solidFill>
              </a:rPr>
              <a:t>cat 3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5"/>
                </a:solidFill>
              </a:rPr>
              <a:t>window 6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5"/>
                </a:solidFill>
              </a:rPr>
              <a:t>defenestrate </a:t>
            </a:r>
            <a:r>
              <a:rPr lang="en-US" sz="2000" dirty="0" smtClean="0">
                <a:solidFill>
                  <a:schemeClr val="accent5"/>
                </a:solidFill>
              </a:rPr>
              <a:t>12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5"/>
                </a:solidFill>
              </a:rPr>
              <a:t>&gt;&gt;&gt; for w in words</a:t>
            </a:r>
            <a:r>
              <a:rPr lang="en-US" sz="2000" dirty="0" smtClean="0">
                <a:solidFill>
                  <a:schemeClr val="accent5"/>
                </a:solidFill>
              </a:rPr>
              <a:t>[:]:</a:t>
            </a:r>
            <a:endParaRPr lang="en-US" sz="2000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accent5"/>
                </a:solidFill>
              </a:rPr>
              <a:t>...     </a:t>
            </a:r>
            <a:r>
              <a:rPr lang="en-US" sz="2000" dirty="0" smtClean="0">
                <a:solidFill>
                  <a:schemeClr val="accent5"/>
                </a:solidFill>
              </a:rPr>
              <a:t>   if </a:t>
            </a:r>
            <a:r>
              <a:rPr lang="en-US" sz="2000" dirty="0" err="1">
                <a:solidFill>
                  <a:schemeClr val="accent5"/>
                </a:solidFill>
              </a:rPr>
              <a:t>len</a:t>
            </a:r>
            <a:r>
              <a:rPr lang="en-US" sz="2000" dirty="0">
                <a:solidFill>
                  <a:schemeClr val="accent5"/>
                </a:solidFill>
              </a:rPr>
              <a:t>(w) &gt; 6: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5"/>
                </a:solidFill>
              </a:rPr>
              <a:t>...         </a:t>
            </a:r>
            <a:r>
              <a:rPr lang="en-US" sz="2000" dirty="0" smtClean="0">
                <a:solidFill>
                  <a:schemeClr val="accent5"/>
                </a:solidFill>
              </a:rPr>
              <a:t>   </a:t>
            </a:r>
            <a:r>
              <a:rPr lang="en-US" sz="2000" dirty="0" err="1" smtClean="0">
                <a:solidFill>
                  <a:schemeClr val="accent5"/>
                </a:solidFill>
              </a:rPr>
              <a:t>words.insert</a:t>
            </a:r>
            <a:r>
              <a:rPr lang="en-US" sz="2000" dirty="0" smtClean="0">
                <a:solidFill>
                  <a:schemeClr val="accent5"/>
                </a:solidFill>
              </a:rPr>
              <a:t>(0</a:t>
            </a:r>
            <a:r>
              <a:rPr lang="en-US" sz="2000" dirty="0">
                <a:solidFill>
                  <a:schemeClr val="accent5"/>
                </a:solidFill>
              </a:rPr>
              <a:t>, w)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5"/>
                </a:solidFill>
              </a:rPr>
              <a:t>...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5"/>
                </a:solidFill>
              </a:rPr>
              <a:t>&gt;&gt;&gt; words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5"/>
                </a:solidFill>
              </a:rPr>
              <a:t>['defenestrate', 'cat', 'window', 'defenestrate']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A89F-0A78-46DC-BDC2-8FE968D1DF7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8111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b</a:t>
            </a:r>
            <a:r>
              <a:rPr lang="en-US" dirty="0" smtClean="0">
                <a:solidFill>
                  <a:schemeClr val="accent5"/>
                </a:solidFill>
              </a:rPr>
              <a:t>reak</a:t>
            </a:r>
            <a:r>
              <a:rPr lang="en-US" dirty="0" smtClean="0"/>
              <a:t> Statements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112596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The </a:t>
            </a:r>
            <a:r>
              <a:rPr lang="en-US" dirty="0" smtClean="0">
                <a:solidFill>
                  <a:schemeClr val="accent5"/>
                </a:solidFill>
              </a:rPr>
              <a:t>break</a:t>
            </a:r>
            <a:r>
              <a:rPr lang="en-US" dirty="0" smtClean="0"/>
              <a:t> statement breaks out of the smallest enclosing </a:t>
            </a:r>
            <a:r>
              <a:rPr lang="en-US" dirty="0" smtClean="0">
                <a:solidFill>
                  <a:schemeClr val="accent5"/>
                </a:solidFill>
              </a:rPr>
              <a:t>for</a:t>
            </a:r>
            <a:r>
              <a:rPr lang="en-US" dirty="0" smtClean="0"/>
              <a:t> or </a:t>
            </a:r>
            <a:r>
              <a:rPr lang="en-US" dirty="0" smtClean="0">
                <a:solidFill>
                  <a:schemeClr val="accent5"/>
                </a:solidFill>
              </a:rPr>
              <a:t>while</a:t>
            </a:r>
            <a:r>
              <a:rPr lang="en-US" dirty="0" smtClean="0"/>
              <a:t> loop.</a:t>
            </a:r>
          </a:p>
          <a:p>
            <a:r>
              <a:rPr lang="en-US" dirty="0" smtClean="0"/>
              <a:t>Loops may have an </a:t>
            </a:r>
            <a:r>
              <a:rPr lang="en-US" dirty="0" smtClean="0">
                <a:solidFill>
                  <a:schemeClr val="accent5"/>
                </a:solidFill>
              </a:rPr>
              <a:t>else</a:t>
            </a:r>
            <a:r>
              <a:rPr lang="en-US" dirty="0" smtClean="0"/>
              <a:t> clause; it’s executed when: (1) the loop terminates through exhaustion of the list (with </a:t>
            </a:r>
            <a:r>
              <a:rPr lang="en-US" dirty="0" smtClean="0">
                <a:solidFill>
                  <a:schemeClr val="accent5"/>
                </a:solidFill>
              </a:rPr>
              <a:t>for</a:t>
            </a:r>
            <a:r>
              <a:rPr lang="en-US" dirty="0" smtClean="0"/>
              <a:t>), or (2) when the condition becomes false (with </a:t>
            </a:r>
            <a:r>
              <a:rPr lang="en-US" dirty="0" smtClean="0">
                <a:solidFill>
                  <a:schemeClr val="accent5"/>
                </a:solidFill>
              </a:rPr>
              <a:t>while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So the </a:t>
            </a:r>
            <a:r>
              <a:rPr lang="en-US" dirty="0" smtClean="0">
                <a:solidFill>
                  <a:schemeClr val="accent5"/>
                </a:solidFill>
              </a:rPr>
              <a:t>else</a:t>
            </a:r>
            <a:r>
              <a:rPr lang="en-US" dirty="0" smtClean="0"/>
              <a:t> clause is not executed when the loop is terminated by a </a:t>
            </a:r>
            <a:r>
              <a:rPr lang="en-US" dirty="0" smtClean="0">
                <a:solidFill>
                  <a:schemeClr val="accent5"/>
                </a:solidFill>
              </a:rPr>
              <a:t>break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312433"/>
            <a:ext cx="5181600" cy="486453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&gt;&gt;&gt; for n in </a:t>
            </a:r>
            <a:r>
              <a:rPr lang="en-US" sz="1800" dirty="0" smtClean="0">
                <a:solidFill>
                  <a:schemeClr val="accent5"/>
                </a:solidFill>
              </a:rPr>
              <a:t>range(6, </a:t>
            </a:r>
            <a:r>
              <a:rPr lang="en-US" sz="1800" dirty="0">
                <a:solidFill>
                  <a:schemeClr val="accent5"/>
                </a:solidFill>
              </a:rPr>
              <a:t>10):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...     </a:t>
            </a:r>
            <a:r>
              <a:rPr lang="en-US" sz="1800" dirty="0" smtClean="0">
                <a:solidFill>
                  <a:schemeClr val="accent5"/>
                </a:solidFill>
              </a:rPr>
              <a:t>   for </a:t>
            </a:r>
            <a:r>
              <a:rPr lang="en-US" sz="1800" dirty="0">
                <a:solidFill>
                  <a:schemeClr val="accent5"/>
                </a:solidFill>
              </a:rPr>
              <a:t>x in range(2, n):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...         </a:t>
            </a:r>
            <a:r>
              <a:rPr lang="en-US" sz="1800" dirty="0" smtClean="0">
                <a:solidFill>
                  <a:schemeClr val="accent5"/>
                </a:solidFill>
              </a:rPr>
              <a:t>   if </a:t>
            </a:r>
            <a:r>
              <a:rPr lang="en-US" sz="1800" dirty="0">
                <a:solidFill>
                  <a:schemeClr val="accent5"/>
                </a:solidFill>
              </a:rPr>
              <a:t>n % x == 0: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...             </a:t>
            </a:r>
            <a:r>
              <a:rPr lang="en-US" sz="1800" dirty="0" smtClean="0">
                <a:solidFill>
                  <a:schemeClr val="accent5"/>
                </a:solidFill>
              </a:rPr>
              <a:t>   print(n</a:t>
            </a:r>
            <a:r>
              <a:rPr lang="en-US" sz="1800" dirty="0">
                <a:solidFill>
                  <a:schemeClr val="accent5"/>
                </a:solidFill>
              </a:rPr>
              <a:t>, 'equals', x, '*', n//x)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...             </a:t>
            </a:r>
            <a:r>
              <a:rPr lang="en-US" sz="1800" dirty="0" smtClean="0">
                <a:solidFill>
                  <a:schemeClr val="accent5"/>
                </a:solidFill>
              </a:rPr>
              <a:t>   break</a:t>
            </a:r>
            <a:endParaRPr lang="en-US" sz="1800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...     </a:t>
            </a:r>
            <a:r>
              <a:rPr lang="en-US" sz="1800" dirty="0" smtClean="0">
                <a:solidFill>
                  <a:schemeClr val="accent5"/>
                </a:solidFill>
              </a:rPr>
              <a:t>   </a:t>
            </a:r>
            <a:r>
              <a:rPr lang="en-US" sz="1800" b="1" dirty="0" smtClean="0">
                <a:solidFill>
                  <a:schemeClr val="accent5"/>
                </a:solidFill>
              </a:rPr>
              <a:t>else</a:t>
            </a:r>
            <a:r>
              <a:rPr lang="en-US" sz="1800" dirty="0">
                <a:solidFill>
                  <a:schemeClr val="accent5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chemeClr val="accent5"/>
                </a:solidFill>
              </a:rPr>
              <a:t>...            print(n</a:t>
            </a:r>
            <a:r>
              <a:rPr lang="en-US" sz="1800" dirty="0">
                <a:solidFill>
                  <a:schemeClr val="accent5"/>
                </a:solidFill>
              </a:rPr>
              <a:t>, 'is a prime number')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...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chemeClr val="accent5"/>
                </a:solidFill>
              </a:rPr>
              <a:t>6 </a:t>
            </a:r>
            <a:r>
              <a:rPr lang="en-US" sz="1800" dirty="0">
                <a:solidFill>
                  <a:schemeClr val="accent5"/>
                </a:solidFill>
              </a:rPr>
              <a:t>equals 2 * 3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7 is a prime number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8 equals 2 * 4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9 equals 3 * 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A89F-0A78-46DC-BDC2-8FE968D1DF7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569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c</a:t>
            </a:r>
            <a:r>
              <a:rPr lang="en-US" dirty="0" smtClean="0">
                <a:solidFill>
                  <a:schemeClr val="accent5"/>
                </a:solidFill>
              </a:rPr>
              <a:t>ontinue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chemeClr val="accent5"/>
                </a:solidFill>
              </a:rPr>
              <a:t>pass</a:t>
            </a:r>
            <a:r>
              <a:rPr lang="en-US" dirty="0" smtClean="0"/>
              <a:t> statements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 </a:t>
            </a:r>
            <a:r>
              <a:rPr lang="en-US" dirty="0" smtClean="0">
                <a:solidFill>
                  <a:schemeClr val="accent5"/>
                </a:solidFill>
              </a:rPr>
              <a:t>continue</a:t>
            </a:r>
            <a:r>
              <a:rPr lang="en-US" dirty="0" smtClean="0"/>
              <a:t> statement continues with the next iteration of the loop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&gt;&gt;&gt; for </a:t>
            </a:r>
            <a:r>
              <a:rPr lang="en-US" sz="1800" dirty="0" err="1">
                <a:solidFill>
                  <a:schemeClr val="accent5"/>
                </a:solidFill>
              </a:rPr>
              <a:t>num</a:t>
            </a:r>
            <a:r>
              <a:rPr lang="en-US" sz="1800" dirty="0">
                <a:solidFill>
                  <a:schemeClr val="accent5"/>
                </a:solidFill>
              </a:rPr>
              <a:t> in </a:t>
            </a:r>
            <a:r>
              <a:rPr lang="en-US" sz="1800" dirty="0" smtClean="0">
                <a:solidFill>
                  <a:schemeClr val="accent5"/>
                </a:solidFill>
              </a:rPr>
              <a:t>range(6, </a:t>
            </a:r>
            <a:r>
              <a:rPr lang="en-US" sz="1800" dirty="0">
                <a:solidFill>
                  <a:schemeClr val="accent5"/>
                </a:solidFill>
              </a:rPr>
              <a:t>10):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...     </a:t>
            </a:r>
            <a:r>
              <a:rPr lang="en-US" sz="1800" dirty="0" smtClean="0">
                <a:solidFill>
                  <a:schemeClr val="accent5"/>
                </a:solidFill>
              </a:rPr>
              <a:t>   if </a:t>
            </a:r>
            <a:r>
              <a:rPr lang="en-US" sz="1800" dirty="0" err="1">
                <a:solidFill>
                  <a:schemeClr val="accent5"/>
                </a:solidFill>
              </a:rPr>
              <a:t>num</a:t>
            </a:r>
            <a:r>
              <a:rPr lang="en-US" sz="1800" dirty="0">
                <a:solidFill>
                  <a:schemeClr val="accent5"/>
                </a:solidFill>
              </a:rPr>
              <a:t> % 2 == 0: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...         </a:t>
            </a:r>
            <a:r>
              <a:rPr lang="en-US" sz="1800" dirty="0" smtClean="0">
                <a:solidFill>
                  <a:schemeClr val="accent5"/>
                </a:solidFill>
              </a:rPr>
              <a:t>   print</a:t>
            </a:r>
            <a:r>
              <a:rPr lang="en-US" sz="1800" dirty="0">
                <a:solidFill>
                  <a:schemeClr val="accent5"/>
                </a:solidFill>
              </a:rPr>
              <a:t>("Found an even number", </a:t>
            </a:r>
            <a:r>
              <a:rPr lang="en-US" sz="1800" dirty="0" err="1">
                <a:solidFill>
                  <a:schemeClr val="accent5"/>
                </a:solidFill>
              </a:rPr>
              <a:t>num</a:t>
            </a:r>
            <a:r>
              <a:rPr lang="en-US" sz="1800" dirty="0">
                <a:solidFill>
                  <a:schemeClr val="accent5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...         </a:t>
            </a:r>
            <a:r>
              <a:rPr lang="en-US" sz="1800" dirty="0" smtClean="0">
                <a:solidFill>
                  <a:schemeClr val="accent5"/>
                </a:solidFill>
              </a:rPr>
              <a:t>   continue</a:t>
            </a:r>
            <a:endParaRPr lang="en-US" sz="1800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...     </a:t>
            </a:r>
            <a:r>
              <a:rPr lang="en-US" sz="1800" dirty="0" smtClean="0">
                <a:solidFill>
                  <a:schemeClr val="accent5"/>
                </a:solidFill>
              </a:rPr>
              <a:t>   print</a:t>
            </a:r>
            <a:r>
              <a:rPr lang="en-US" sz="1800" dirty="0">
                <a:solidFill>
                  <a:schemeClr val="accent5"/>
                </a:solidFill>
              </a:rPr>
              <a:t>("Found a number", </a:t>
            </a:r>
            <a:r>
              <a:rPr lang="en-US" sz="1800" dirty="0" err="1">
                <a:solidFill>
                  <a:schemeClr val="accent5"/>
                </a:solidFill>
              </a:rPr>
              <a:t>num</a:t>
            </a:r>
            <a:r>
              <a:rPr lang="en-US" sz="1800" dirty="0">
                <a:solidFill>
                  <a:schemeClr val="accent5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chemeClr val="accent5"/>
                </a:solidFill>
              </a:rPr>
              <a:t>Found </a:t>
            </a:r>
            <a:r>
              <a:rPr lang="en-US" sz="1800" dirty="0">
                <a:solidFill>
                  <a:schemeClr val="accent5"/>
                </a:solidFill>
              </a:rPr>
              <a:t>an even number 6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Found a number 7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Found an even number 8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Found a number 9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 </a:t>
            </a:r>
            <a:r>
              <a:rPr lang="en-US" dirty="0" smtClean="0">
                <a:solidFill>
                  <a:schemeClr val="accent5"/>
                </a:solidFill>
              </a:rPr>
              <a:t>pass</a:t>
            </a:r>
            <a:r>
              <a:rPr lang="en-US" dirty="0" smtClean="0"/>
              <a:t> statement does nothing, and can be used when a statement is required syntactically but the program requires no action.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chemeClr val="accent5"/>
                </a:solidFill>
              </a:rPr>
              <a:t>&gt;&gt;&gt; while True: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chemeClr val="accent5"/>
                </a:solidFill>
              </a:rPr>
              <a:t>…         pass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chemeClr val="accent5"/>
                </a:solidFill>
              </a:rPr>
              <a:t>&gt;&gt;&gt; class </a:t>
            </a:r>
            <a:r>
              <a:rPr lang="en-US" sz="1800" dirty="0" err="1" smtClean="0">
                <a:solidFill>
                  <a:schemeClr val="accent5"/>
                </a:solidFill>
              </a:rPr>
              <a:t>MyClass</a:t>
            </a:r>
            <a:r>
              <a:rPr lang="en-US" sz="1800" dirty="0" smtClean="0">
                <a:solidFill>
                  <a:schemeClr val="accent5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chemeClr val="accent5"/>
                </a:solidFill>
              </a:rPr>
              <a:t>…         pass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chemeClr val="accent5"/>
                </a:solidFill>
              </a:rPr>
              <a:t>&gt;&gt;&gt; </a:t>
            </a:r>
            <a:r>
              <a:rPr lang="en-US" sz="1800" dirty="0" err="1" smtClean="0">
                <a:solidFill>
                  <a:schemeClr val="accent5"/>
                </a:solidFill>
              </a:rPr>
              <a:t>def</a:t>
            </a:r>
            <a:r>
              <a:rPr lang="en-US" sz="1800" dirty="0" smtClean="0">
                <a:solidFill>
                  <a:schemeClr val="accent5"/>
                </a:solidFill>
              </a:rPr>
              <a:t> </a:t>
            </a:r>
            <a:r>
              <a:rPr lang="en-US" sz="1800" dirty="0" err="1" smtClean="0">
                <a:solidFill>
                  <a:schemeClr val="accent5"/>
                </a:solidFill>
              </a:rPr>
              <a:t>my_func</a:t>
            </a:r>
            <a:r>
              <a:rPr lang="en-US" sz="1800" dirty="0" smtClean="0">
                <a:solidFill>
                  <a:schemeClr val="accent5"/>
                </a:solidFill>
              </a:rPr>
              <a:t>(</a:t>
            </a:r>
            <a:r>
              <a:rPr lang="en-US" sz="1800" dirty="0" err="1" smtClean="0">
                <a:solidFill>
                  <a:schemeClr val="accent5"/>
                </a:solidFill>
              </a:rPr>
              <a:t>arg</a:t>
            </a:r>
            <a:r>
              <a:rPr lang="en-US" sz="1800" dirty="0" smtClean="0">
                <a:solidFill>
                  <a:schemeClr val="accent5"/>
                </a:solidFill>
              </a:rPr>
              <a:t>):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chemeClr val="accent5"/>
                </a:solidFill>
              </a:rPr>
              <a:t>…         pass</a:t>
            </a:r>
            <a:endParaRPr lang="en-US" sz="1800" dirty="0">
              <a:solidFill>
                <a:schemeClr val="accent5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A89F-0A78-46DC-BDC2-8FE968D1DF7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3961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Changing Lists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5216" y="1825625"/>
            <a:ext cx="5084064" cy="4351338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How to modify the items of a list?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L = [1, 2, 3, 4]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for x in L: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…        x += 1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…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x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5</a:t>
            </a:r>
            <a:endParaRPr lang="en-US" dirty="0" smtClean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</a:t>
            </a:r>
            <a:r>
              <a:rPr lang="en-US" dirty="0">
                <a:solidFill>
                  <a:schemeClr val="accent5"/>
                </a:solidFill>
              </a:rPr>
              <a:t>L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[1, 2, 3, 4]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09728"/>
            <a:ext cx="5181600" cy="6510528"/>
          </a:xfrm>
        </p:spPr>
        <p:txBody>
          <a:bodyPr>
            <a:noAutofit/>
          </a:bodyPr>
          <a:lstStyle/>
          <a:p>
            <a:r>
              <a:rPr lang="en-US" sz="2400" dirty="0" smtClean="0"/>
              <a:t>Using indices to refer to items: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chemeClr val="accent5"/>
                </a:solidFill>
              </a:rPr>
              <a:t>&gt;&gt;&gt; L = [1, 2, 3, 4]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chemeClr val="accent5"/>
                </a:solidFill>
              </a:rPr>
              <a:t>&gt;&gt;&gt; for </a:t>
            </a:r>
            <a:r>
              <a:rPr lang="en-US" sz="1800" dirty="0" err="1" smtClean="0">
                <a:solidFill>
                  <a:schemeClr val="accent5"/>
                </a:solidFill>
              </a:rPr>
              <a:t>i</a:t>
            </a:r>
            <a:r>
              <a:rPr lang="en-US" sz="1800" dirty="0" smtClean="0">
                <a:solidFill>
                  <a:schemeClr val="accent5"/>
                </a:solidFill>
              </a:rPr>
              <a:t> in range(</a:t>
            </a:r>
            <a:r>
              <a:rPr lang="en-US" sz="1800" dirty="0" err="1" smtClean="0">
                <a:solidFill>
                  <a:schemeClr val="accent5"/>
                </a:solidFill>
              </a:rPr>
              <a:t>len</a:t>
            </a:r>
            <a:r>
              <a:rPr lang="en-US" sz="1800" dirty="0" smtClean="0">
                <a:solidFill>
                  <a:schemeClr val="accent5"/>
                </a:solidFill>
              </a:rPr>
              <a:t>(L)):</a:t>
            </a:r>
            <a:endParaRPr lang="en-US" sz="1800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sz="1800" dirty="0" smtClean="0">
                <a:solidFill>
                  <a:schemeClr val="accent5"/>
                </a:solidFill>
              </a:rPr>
              <a:t>…        L[</a:t>
            </a:r>
            <a:r>
              <a:rPr lang="en-US" sz="1800" dirty="0" err="1" smtClean="0">
                <a:solidFill>
                  <a:schemeClr val="accent5"/>
                </a:solidFill>
              </a:rPr>
              <a:t>i</a:t>
            </a:r>
            <a:r>
              <a:rPr lang="en-US" sz="1800" dirty="0" smtClean="0">
                <a:solidFill>
                  <a:schemeClr val="accent5"/>
                </a:solidFill>
              </a:rPr>
              <a:t>] += 1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chemeClr val="accent5"/>
                </a:solidFill>
              </a:rPr>
              <a:t>…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chemeClr val="accent5"/>
                </a:solidFill>
              </a:rPr>
              <a:t>&gt;&gt;&gt; L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chemeClr val="accent5"/>
                </a:solidFill>
              </a:rPr>
              <a:t>[2, 3, 4, 5]</a:t>
            </a:r>
          </a:p>
          <a:p>
            <a:r>
              <a:rPr lang="en-US" sz="2400" dirty="0" smtClean="0"/>
              <a:t>Using a while loop: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chemeClr val="accent5"/>
                </a:solidFill>
              </a:rPr>
              <a:t>&gt;&gt;&gt; </a:t>
            </a:r>
            <a:r>
              <a:rPr lang="en-US" sz="1800" dirty="0" err="1" smtClean="0">
                <a:solidFill>
                  <a:schemeClr val="accent5"/>
                </a:solidFill>
              </a:rPr>
              <a:t>i</a:t>
            </a:r>
            <a:r>
              <a:rPr lang="en-US" sz="1800" dirty="0" smtClean="0">
                <a:solidFill>
                  <a:schemeClr val="accent5"/>
                </a:solidFill>
              </a:rPr>
              <a:t> = 0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chemeClr val="accent5"/>
                </a:solidFill>
              </a:rPr>
              <a:t>&gt;&gt;&gt; while </a:t>
            </a:r>
            <a:r>
              <a:rPr lang="en-US" sz="1800" dirty="0" err="1" smtClean="0">
                <a:solidFill>
                  <a:schemeClr val="accent5"/>
                </a:solidFill>
              </a:rPr>
              <a:t>i</a:t>
            </a:r>
            <a:r>
              <a:rPr lang="en-US" sz="1800" dirty="0" smtClean="0">
                <a:solidFill>
                  <a:schemeClr val="accent5"/>
                </a:solidFill>
              </a:rPr>
              <a:t> &lt; </a:t>
            </a:r>
            <a:r>
              <a:rPr lang="en-US" sz="1800" dirty="0" err="1" smtClean="0">
                <a:solidFill>
                  <a:schemeClr val="accent5"/>
                </a:solidFill>
              </a:rPr>
              <a:t>len</a:t>
            </a:r>
            <a:r>
              <a:rPr lang="en-US" sz="1800" dirty="0" smtClean="0">
                <a:solidFill>
                  <a:schemeClr val="accent5"/>
                </a:solidFill>
              </a:rPr>
              <a:t>(L):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chemeClr val="accent5"/>
                </a:solidFill>
              </a:rPr>
              <a:t>…        L[</a:t>
            </a:r>
            <a:r>
              <a:rPr lang="en-US" sz="1800" dirty="0" err="1" smtClean="0">
                <a:solidFill>
                  <a:schemeClr val="accent5"/>
                </a:solidFill>
              </a:rPr>
              <a:t>i</a:t>
            </a:r>
            <a:r>
              <a:rPr lang="en-US" sz="1800" dirty="0" smtClean="0">
                <a:solidFill>
                  <a:schemeClr val="accent5"/>
                </a:solidFill>
              </a:rPr>
              <a:t>] += 1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chemeClr val="accent5"/>
                </a:solidFill>
              </a:rPr>
              <a:t>…        </a:t>
            </a:r>
            <a:r>
              <a:rPr lang="en-US" sz="1800" dirty="0" err="1" smtClean="0">
                <a:solidFill>
                  <a:schemeClr val="accent5"/>
                </a:solidFill>
              </a:rPr>
              <a:t>i</a:t>
            </a:r>
            <a:r>
              <a:rPr lang="en-US" sz="1800" dirty="0" smtClean="0">
                <a:solidFill>
                  <a:schemeClr val="accent5"/>
                </a:solidFill>
              </a:rPr>
              <a:t> += 1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chemeClr val="accent5"/>
                </a:solidFill>
              </a:rPr>
              <a:t>…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chemeClr val="accent5"/>
                </a:solidFill>
              </a:rPr>
              <a:t>&gt;&gt;&gt; L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chemeClr val="accent5"/>
                </a:solidFill>
              </a:rPr>
              <a:t>[3, 4, 5, 6]</a:t>
            </a:r>
          </a:p>
          <a:p>
            <a:r>
              <a:rPr lang="en-US" sz="2400" dirty="0" smtClean="0"/>
              <a:t>Using a list comprehension: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chemeClr val="accent5"/>
                </a:solidFill>
              </a:rPr>
              <a:t>&gt;&gt;&gt; L = [x + 1 for x in L]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A89F-0A78-46DC-BDC2-8FE968D1DF7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595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Parallel Traversals – </a:t>
            </a:r>
            <a:r>
              <a:rPr lang="en-US" dirty="0" smtClean="0">
                <a:solidFill>
                  <a:schemeClr val="accent5"/>
                </a:solidFill>
              </a:rPr>
              <a:t>zip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The built-in function </a:t>
            </a:r>
            <a:r>
              <a:rPr lang="en-US" dirty="0" smtClean="0">
                <a:solidFill>
                  <a:schemeClr val="accent5"/>
                </a:solidFill>
              </a:rPr>
              <a:t>zip</a:t>
            </a:r>
            <a:r>
              <a:rPr lang="en-US" dirty="0" smtClean="0"/>
              <a:t> takes one or more sequences as arguments and returns a series of </a:t>
            </a:r>
            <a:r>
              <a:rPr lang="en-US" dirty="0" smtClean="0">
                <a:solidFill>
                  <a:srgbClr val="FF0000"/>
                </a:solidFill>
              </a:rPr>
              <a:t>tuples</a:t>
            </a:r>
            <a:r>
              <a:rPr lang="en-US" dirty="0" smtClean="0"/>
              <a:t> that pair up parallel items taken from those sequences.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L1 = [1, 2, 3, 4]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L2 = [5, 6, 7, 8]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zip(L1, L2)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&lt;zip object at 0x026523C8&gt;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list(zip(L1, L2))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[(1, 5), (2, 6), (3, 7), (4, 8)]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for (x, y) in zip(L1, L2):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…        print(x, y, ‘--’, </a:t>
            </a:r>
            <a:r>
              <a:rPr lang="en-US" dirty="0" err="1" smtClean="0">
                <a:solidFill>
                  <a:schemeClr val="accent5"/>
                </a:solidFill>
              </a:rPr>
              <a:t>x+y</a:t>
            </a:r>
            <a:r>
              <a:rPr lang="en-US" dirty="0" smtClean="0">
                <a:solidFill>
                  <a:schemeClr val="accent5"/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…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1 5 -- 6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2 6 -- 8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3 7 -- 10</a:t>
            </a:r>
            <a:endParaRPr lang="en-US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4 8 -- 12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A89F-0A78-46DC-BDC2-8FE968D1DF7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2573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Traversals </a:t>
            </a:r>
            <a:r>
              <a:rPr lang="en-US" dirty="0" smtClean="0"/>
              <a:t>– </a:t>
            </a:r>
            <a:r>
              <a:rPr lang="en-US" dirty="0" smtClean="0">
                <a:solidFill>
                  <a:schemeClr val="accent5"/>
                </a:solidFill>
              </a:rPr>
              <a:t>zip </a:t>
            </a:r>
            <a:r>
              <a:rPr lang="en-US" dirty="0" smtClean="0"/>
              <a:t>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4944" y="1825625"/>
            <a:ext cx="5324856" cy="4351338"/>
          </a:xfrm>
        </p:spPr>
        <p:txBody>
          <a:bodyPr/>
          <a:lstStyle/>
          <a:p>
            <a:r>
              <a:rPr lang="en-US" dirty="0" smtClean="0">
                <a:solidFill>
                  <a:schemeClr val="accent5"/>
                </a:solidFill>
              </a:rPr>
              <a:t>zip</a:t>
            </a:r>
            <a:r>
              <a:rPr lang="en-US" dirty="0" smtClean="0"/>
              <a:t> accepts any type of sequence</a:t>
            </a:r>
          </a:p>
          <a:p>
            <a:r>
              <a:rPr lang="en-US" dirty="0" smtClean="0">
                <a:solidFill>
                  <a:schemeClr val="accent5"/>
                </a:solidFill>
              </a:rPr>
              <a:t>zip</a:t>
            </a:r>
            <a:r>
              <a:rPr lang="en-US" dirty="0" smtClean="0"/>
              <a:t> accepts more than two arguments</a:t>
            </a:r>
          </a:p>
          <a:p>
            <a:pPr marL="0" indent="0">
              <a:buNone/>
            </a:pPr>
            <a:endParaRPr lang="en-US" sz="2400" dirty="0" smtClean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sz="2400" dirty="0" smtClean="0">
                <a:solidFill>
                  <a:schemeClr val="accent5"/>
                </a:solidFill>
              </a:rPr>
              <a:t>&gt;&gt;&gt; T1, T2, T3 = (1, 2, 3), (4, 5, 6), (7, 8, 9)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chemeClr val="accent5"/>
                </a:solidFill>
              </a:rPr>
              <a:t>&gt;&gt;&gt; T3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chemeClr val="accent5"/>
                </a:solidFill>
              </a:rPr>
              <a:t>(7, 8, 9)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chemeClr val="accent5"/>
                </a:solidFill>
              </a:rPr>
              <a:t>&gt;&gt;&gt; list(zip(T1, T2, T3))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chemeClr val="accent5"/>
                </a:solidFill>
              </a:rPr>
              <a:t>[(1, 4, 7), (2, 5, 8), (3, 6, 9)]</a:t>
            </a:r>
            <a:endParaRPr lang="en-US" sz="2400" dirty="0">
              <a:solidFill>
                <a:schemeClr val="accent5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5"/>
                </a:solidFill>
              </a:rPr>
              <a:t>zip</a:t>
            </a:r>
            <a:r>
              <a:rPr lang="en-US" dirty="0" smtClean="0"/>
              <a:t> truncates result tuples at the length of the shortest sequence when the argument lengths differ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S1 = ‘</a:t>
            </a:r>
            <a:r>
              <a:rPr lang="en-US" dirty="0" err="1" smtClean="0">
                <a:solidFill>
                  <a:schemeClr val="accent5"/>
                </a:solidFill>
              </a:rPr>
              <a:t>abc</a:t>
            </a:r>
            <a:r>
              <a:rPr lang="en-US" dirty="0" smtClean="0">
                <a:solidFill>
                  <a:schemeClr val="accent5"/>
                </a:solidFill>
              </a:rPr>
              <a:t>’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S2 = ‘xyz123’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list(zip(S1, S2))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[(a, x), (b, y), (c, z)]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A89F-0A78-46DC-BDC2-8FE968D1DF7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7623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2" y="320675"/>
            <a:ext cx="10515600" cy="1325563"/>
          </a:xfrm>
        </p:spPr>
        <p:txBody>
          <a:bodyPr/>
          <a:lstStyle/>
          <a:p>
            <a:r>
              <a:rPr lang="en-US" dirty="0" smtClean="0"/>
              <a:t>Dictionary Construction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2752" y="1825625"/>
            <a:ext cx="5337048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How to construct a dictionary?</a:t>
            </a:r>
          </a:p>
          <a:p>
            <a:pPr marL="0" indent="0">
              <a:buNone/>
            </a:pPr>
            <a:endParaRPr lang="en-US" dirty="0" smtClean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D1 = {‘spam’:1, ‘eggs’:3, ‘toast’:5}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D1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{‘eggs’: 3, ‘toast’: 5, ‘spam’: 1}</a:t>
            </a:r>
          </a:p>
          <a:p>
            <a:pPr marL="0" indent="0">
              <a:buNone/>
            </a:pPr>
            <a:endParaRPr lang="en-US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D1 = {}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D1[‘spam’] = 1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D1[‘eggs’] = 3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D1[‘toast’] = 5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499872"/>
            <a:ext cx="5580888" cy="585647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keys = [‘spam’, ‘eggs’, ‘toast’]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</a:t>
            </a:r>
            <a:r>
              <a:rPr lang="en-US" dirty="0" err="1" smtClean="0">
                <a:solidFill>
                  <a:schemeClr val="accent5"/>
                </a:solidFill>
              </a:rPr>
              <a:t>vals</a:t>
            </a:r>
            <a:r>
              <a:rPr lang="en-US" dirty="0" smtClean="0">
                <a:solidFill>
                  <a:schemeClr val="accent5"/>
                </a:solidFill>
              </a:rPr>
              <a:t> = [1, 3, 5]</a:t>
            </a:r>
          </a:p>
          <a:p>
            <a:pPr marL="0" indent="0">
              <a:buNone/>
            </a:pPr>
            <a:endParaRPr lang="en-US" dirty="0" smtClean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D2 = {}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for (k, v) in zip(keys, </a:t>
            </a:r>
            <a:r>
              <a:rPr lang="en-US" dirty="0" err="1" smtClean="0">
                <a:solidFill>
                  <a:schemeClr val="accent5"/>
                </a:solidFill>
              </a:rPr>
              <a:t>vals</a:t>
            </a:r>
            <a:r>
              <a:rPr lang="en-US" dirty="0" smtClean="0">
                <a:solidFill>
                  <a:schemeClr val="accent5"/>
                </a:solidFill>
              </a:rPr>
              <a:t>): D2[k] = v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…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D2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{‘eggs’: 3, ‘toast’: 5, ‘spam’: 1}</a:t>
            </a:r>
          </a:p>
          <a:p>
            <a:pPr marL="0" indent="0">
              <a:buNone/>
            </a:pPr>
            <a:endParaRPr lang="en-US" dirty="0" smtClean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D3 = </a:t>
            </a:r>
            <a:r>
              <a:rPr lang="en-US" dirty="0" err="1" smtClean="0">
                <a:solidFill>
                  <a:schemeClr val="accent5"/>
                </a:solidFill>
              </a:rPr>
              <a:t>dict</a:t>
            </a:r>
            <a:r>
              <a:rPr lang="en-US" dirty="0" smtClean="0">
                <a:solidFill>
                  <a:schemeClr val="accent5"/>
                </a:solidFill>
              </a:rPr>
              <a:t>(zip(keys, </a:t>
            </a:r>
            <a:r>
              <a:rPr lang="en-US" dirty="0" err="1" smtClean="0">
                <a:solidFill>
                  <a:schemeClr val="accent5"/>
                </a:solidFill>
              </a:rPr>
              <a:t>vals</a:t>
            </a:r>
            <a:r>
              <a:rPr lang="en-US" dirty="0" smtClean="0">
                <a:solidFill>
                  <a:schemeClr val="accent5"/>
                </a:solidFill>
              </a:rPr>
              <a:t>))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D3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{‘eggs’: 3, ‘toast’: 5, ‘spam’: 1</a:t>
            </a:r>
            <a:r>
              <a:rPr lang="en-US" dirty="0" smtClean="0">
                <a:solidFill>
                  <a:schemeClr val="accent5"/>
                </a:solidFill>
              </a:rPr>
              <a:t>}</a:t>
            </a:r>
          </a:p>
          <a:p>
            <a:pPr marL="0" indent="0">
              <a:buNone/>
            </a:pPr>
            <a:endParaRPr lang="en-US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{</a:t>
            </a:r>
            <a:r>
              <a:rPr lang="en-US" dirty="0" err="1" smtClean="0">
                <a:solidFill>
                  <a:schemeClr val="accent5"/>
                </a:solidFill>
              </a:rPr>
              <a:t>k:v</a:t>
            </a:r>
            <a:r>
              <a:rPr lang="en-US" dirty="0" smtClean="0">
                <a:solidFill>
                  <a:schemeClr val="accent5"/>
                </a:solidFill>
              </a:rPr>
              <a:t> for (k, v) in zip(keys, </a:t>
            </a:r>
            <a:r>
              <a:rPr lang="en-US" dirty="0" err="1" smtClean="0">
                <a:solidFill>
                  <a:schemeClr val="accent5"/>
                </a:solidFill>
              </a:rPr>
              <a:t>vals</a:t>
            </a:r>
            <a:r>
              <a:rPr lang="en-US" dirty="0" smtClean="0">
                <a:solidFill>
                  <a:schemeClr val="accent5"/>
                </a:solidFill>
              </a:rPr>
              <a:t>)}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{‘eggs’: 3, ‘toast’: 5, ‘spam’: 1</a:t>
            </a:r>
            <a:r>
              <a:rPr lang="en-US" dirty="0" smtClean="0">
                <a:solidFill>
                  <a:schemeClr val="accent5"/>
                </a:solidFill>
              </a:rPr>
              <a:t>}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A89F-0A78-46DC-BDC2-8FE968D1DF7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4558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275431"/>
            <a:ext cx="10515600" cy="1325563"/>
          </a:xfrm>
        </p:spPr>
        <p:txBody>
          <a:bodyPr/>
          <a:lstStyle/>
          <a:p>
            <a:r>
              <a:rPr lang="en-US" dirty="0" smtClean="0"/>
              <a:t>Getting Both Offsets and Items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719072"/>
            <a:ext cx="5181600" cy="4457891"/>
          </a:xfrm>
        </p:spPr>
        <p:txBody>
          <a:bodyPr>
            <a:normAutofit fontScale="77500" lnSpcReduction="20000"/>
          </a:bodyPr>
          <a:lstStyle/>
          <a:p>
            <a:r>
              <a:rPr lang="en-US" sz="3100" dirty="0" smtClean="0"/>
              <a:t>How to get both offsets and items: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S = ‘spam’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offset = 0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for item in S: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…        print(item, ‘appears at’, offset)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…        offset += 1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…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s appears at 0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p appears at 1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a</a:t>
            </a:r>
            <a:r>
              <a:rPr lang="en-US" dirty="0" smtClean="0">
                <a:solidFill>
                  <a:schemeClr val="accent5"/>
                </a:solidFill>
              </a:rPr>
              <a:t> appears at 2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m appears at 3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719072"/>
            <a:ext cx="5181600" cy="4457891"/>
          </a:xfrm>
        </p:spPr>
        <p:txBody>
          <a:bodyPr>
            <a:normAutofit fontScale="77500" lnSpcReduction="20000"/>
          </a:bodyPr>
          <a:lstStyle/>
          <a:p>
            <a:r>
              <a:rPr lang="en-US" sz="3100" dirty="0" smtClean="0"/>
              <a:t>Using the built-in </a:t>
            </a:r>
            <a:r>
              <a:rPr lang="en-US" sz="3100" dirty="0" smtClean="0">
                <a:solidFill>
                  <a:schemeClr val="accent5"/>
                </a:solidFill>
              </a:rPr>
              <a:t>enumerate</a:t>
            </a:r>
            <a:r>
              <a:rPr lang="en-US" sz="3100" dirty="0" smtClean="0"/>
              <a:t> function: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S = ‘spam’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for (offset, item) in enumerate(S):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…        print(item, ‘appears at’, offset)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…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s appears at 0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p appears at 1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a appears at 2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m appears at </a:t>
            </a:r>
            <a:r>
              <a:rPr lang="en-US" dirty="0" smtClean="0">
                <a:solidFill>
                  <a:schemeClr val="accent5"/>
                </a:solidFill>
              </a:rPr>
              <a:t>3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A89F-0A78-46DC-BDC2-8FE968D1DF7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4534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6176" y="1825625"/>
            <a:ext cx="5373624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for x in [1, 2, 3]: print (x ** 2, end=‘ ’)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…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1 4 9</a:t>
            </a:r>
          </a:p>
          <a:p>
            <a:pPr marL="0" indent="0">
              <a:buNone/>
            </a:pPr>
            <a:endParaRPr lang="en-US" dirty="0" smtClean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print(open(‘script.py’).read())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i</a:t>
            </a:r>
            <a:r>
              <a:rPr lang="en-US" dirty="0" smtClean="0">
                <a:solidFill>
                  <a:schemeClr val="accent5"/>
                </a:solidFill>
              </a:rPr>
              <a:t>mport sys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p</a:t>
            </a:r>
            <a:r>
              <a:rPr lang="en-US" dirty="0" smtClean="0">
                <a:solidFill>
                  <a:schemeClr val="accent5"/>
                </a:solidFill>
              </a:rPr>
              <a:t>rint(</a:t>
            </a:r>
            <a:r>
              <a:rPr lang="en-US" dirty="0" err="1" smtClean="0">
                <a:solidFill>
                  <a:schemeClr val="accent5"/>
                </a:solidFill>
              </a:rPr>
              <a:t>sys.path</a:t>
            </a:r>
            <a:r>
              <a:rPr lang="en-US" dirty="0" smtClean="0">
                <a:solidFill>
                  <a:schemeClr val="accent5"/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x</a:t>
            </a:r>
            <a:r>
              <a:rPr lang="en-US" dirty="0" smtClean="0">
                <a:solidFill>
                  <a:schemeClr val="accent5"/>
                </a:solidFill>
              </a:rPr>
              <a:t> = 2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p</a:t>
            </a:r>
            <a:r>
              <a:rPr lang="en-US" dirty="0" smtClean="0">
                <a:solidFill>
                  <a:schemeClr val="accent5"/>
                </a:solidFill>
              </a:rPr>
              <a:t>rint(x ** 32)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3576" y="1825625"/>
            <a:ext cx="5181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f = open(‘script.py’)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</a:t>
            </a:r>
            <a:r>
              <a:rPr lang="en-US" dirty="0" err="1" smtClean="0">
                <a:solidFill>
                  <a:schemeClr val="accent5"/>
                </a:solidFill>
              </a:rPr>
              <a:t>f.readline</a:t>
            </a:r>
            <a:r>
              <a:rPr lang="en-US" dirty="0" smtClean="0">
                <a:solidFill>
                  <a:schemeClr val="accent5"/>
                </a:solidFill>
              </a:rPr>
              <a:t>()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‘import sys\n’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</a:t>
            </a:r>
            <a:r>
              <a:rPr lang="en-US" dirty="0" err="1" smtClean="0">
                <a:solidFill>
                  <a:schemeClr val="accent5"/>
                </a:solidFill>
              </a:rPr>
              <a:t>f.readline</a:t>
            </a:r>
            <a:r>
              <a:rPr lang="en-US" dirty="0" smtClean="0">
                <a:solidFill>
                  <a:schemeClr val="accent5"/>
                </a:solidFill>
              </a:rPr>
              <a:t>()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‘print(</a:t>
            </a:r>
            <a:r>
              <a:rPr lang="en-US" dirty="0" err="1" smtClean="0">
                <a:solidFill>
                  <a:schemeClr val="accent5"/>
                </a:solidFill>
              </a:rPr>
              <a:t>sys.path</a:t>
            </a:r>
            <a:r>
              <a:rPr lang="en-US" dirty="0" smtClean="0">
                <a:solidFill>
                  <a:schemeClr val="accent5"/>
                </a:solidFill>
              </a:rPr>
              <a:t>)\n’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</a:t>
            </a:r>
            <a:r>
              <a:rPr lang="en-US" dirty="0" err="1" smtClean="0">
                <a:solidFill>
                  <a:schemeClr val="accent5"/>
                </a:solidFill>
              </a:rPr>
              <a:t>f.readline</a:t>
            </a:r>
            <a:r>
              <a:rPr lang="en-US" dirty="0" smtClean="0">
                <a:solidFill>
                  <a:schemeClr val="accent5"/>
                </a:solidFill>
              </a:rPr>
              <a:t>()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‘x = 2\n’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</a:t>
            </a:r>
            <a:r>
              <a:rPr lang="en-US" dirty="0" err="1" smtClean="0">
                <a:solidFill>
                  <a:schemeClr val="accent5"/>
                </a:solidFill>
              </a:rPr>
              <a:t>f.readline</a:t>
            </a:r>
            <a:r>
              <a:rPr lang="en-US" dirty="0" smtClean="0">
                <a:solidFill>
                  <a:schemeClr val="accent5"/>
                </a:solidFill>
              </a:rPr>
              <a:t>()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‘print(x ** 32)\n’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</a:t>
            </a:r>
            <a:r>
              <a:rPr lang="en-US" dirty="0" err="1" smtClean="0">
                <a:solidFill>
                  <a:schemeClr val="accent5"/>
                </a:solidFill>
              </a:rPr>
              <a:t>f.readline</a:t>
            </a:r>
            <a:r>
              <a:rPr lang="en-US" dirty="0" smtClean="0">
                <a:solidFill>
                  <a:schemeClr val="accent5"/>
                </a:solidFill>
              </a:rPr>
              <a:t>()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‘’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A89F-0A78-46DC-BDC2-8FE968D1DF7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7367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Defining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Multiple assignment: the </a:t>
            </a:r>
            <a:r>
              <a:rPr lang="en-US" dirty="0" smtClean="0"/>
              <a:t>expressions </a:t>
            </a:r>
            <a:r>
              <a:rPr lang="en-US" dirty="0"/>
              <a:t>on the right are all evaluated (from left to right) first before any assignment takes place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Therefore, we can swap two variables like below: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x, y = y, x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1527586"/>
            <a:ext cx="5682727" cy="46493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accent5"/>
                </a:solidFill>
              </a:rPr>
              <a:t>&gt;&gt;&gt; </a:t>
            </a:r>
            <a:r>
              <a:rPr lang="en-US" sz="2000" dirty="0" err="1">
                <a:solidFill>
                  <a:schemeClr val="accent5"/>
                </a:solidFill>
              </a:rPr>
              <a:t>def</a:t>
            </a:r>
            <a:r>
              <a:rPr lang="en-US" sz="2000" dirty="0">
                <a:solidFill>
                  <a:schemeClr val="accent5"/>
                </a:solidFill>
              </a:rPr>
              <a:t> </a:t>
            </a:r>
            <a:r>
              <a:rPr lang="en-US" sz="2000" dirty="0" smtClean="0">
                <a:solidFill>
                  <a:schemeClr val="accent5"/>
                </a:solidFill>
              </a:rPr>
              <a:t>fib(n):</a:t>
            </a:r>
            <a:endParaRPr lang="en-US" sz="2000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accent5"/>
                </a:solidFill>
              </a:rPr>
              <a:t>...     </a:t>
            </a:r>
            <a:r>
              <a:rPr lang="en-US" sz="2000" dirty="0" smtClean="0">
                <a:solidFill>
                  <a:schemeClr val="accent5"/>
                </a:solidFill>
              </a:rPr>
              <a:t>   result </a:t>
            </a:r>
            <a:r>
              <a:rPr lang="en-US" sz="2000" dirty="0">
                <a:solidFill>
                  <a:schemeClr val="accent5"/>
                </a:solidFill>
              </a:rPr>
              <a:t>= []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5"/>
                </a:solidFill>
              </a:rPr>
              <a:t>...     </a:t>
            </a:r>
            <a:r>
              <a:rPr lang="en-US" sz="2000" dirty="0" smtClean="0">
                <a:solidFill>
                  <a:schemeClr val="accent5"/>
                </a:solidFill>
              </a:rPr>
              <a:t>   a</a:t>
            </a:r>
            <a:r>
              <a:rPr lang="en-US" sz="2000" dirty="0">
                <a:solidFill>
                  <a:schemeClr val="accent5"/>
                </a:solidFill>
              </a:rPr>
              <a:t>, b = 0, 1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5"/>
                </a:solidFill>
              </a:rPr>
              <a:t>...     </a:t>
            </a:r>
            <a:r>
              <a:rPr lang="en-US" sz="2000" dirty="0" smtClean="0">
                <a:solidFill>
                  <a:schemeClr val="accent5"/>
                </a:solidFill>
              </a:rPr>
              <a:t>   while </a:t>
            </a:r>
            <a:r>
              <a:rPr lang="en-US" sz="2000" dirty="0">
                <a:solidFill>
                  <a:schemeClr val="accent5"/>
                </a:solidFill>
              </a:rPr>
              <a:t>a &lt; n: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5"/>
                </a:solidFill>
              </a:rPr>
              <a:t>...         </a:t>
            </a:r>
            <a:r>
              <a:rPr lang="en-US" sz="2000" dirty="0" smtClean="0">
                <a:solidFill>
                  <a:schemeClr val="accent5"/>
                </a:solidFill>
              </a:rPr>
              <a:t>   </a:t>
            </a:r>
            <a:r>
              <a:rPr lang="en-US" sz="2000" dirty="0" err="1" smtClean="0">
                <a:solidFill>
                  <a:schemeClr val="accent5"/>
                </a:solidFill>
              </a:rPr>
              <a:t>result.append</a:t>
            </a:r>
            <a:r>
              <a:rPr lang="en-US" sz="2000" dirty="0" smtClean="0">
                <a:solidFill>
                  <a:schemeClr val="accent5"/>
                </a:solidFill>
              </a:rPr>
              <a:t>(a)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chemeClr val="accent5"/>
                </a:solidFill>
              </a:rPr>
              <a:t>...            a , b = b, </a:t>
            </a:r>
            <a:r>
              <a:rPr lang="en-US" sz="2000" dirty="0" err="1" smtClean="0">
                <a:solidFill>
                  <a:schemeClr val="accent5"/>
                </a:solidFill>
              </a:rPr>
              <a:t>a+b</a:t>
            </a:r>
            <a:endParaRPr lang="en-US" sz="2000" dirty="0" smtClean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chemeClr val="accent5"/>
                </a:solidFill>
              </a:rPr>
              <a:t>...        return </a:t>
            </a:r>
            <a:r>
              <a:rPr lang="en-US" sz="2000" dirty="0">
                <a:solidFill>
                  <a:schemeClr val="accent5"/>
                </a:solidFill>
              </a:rPr>
              <a:t>result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5"/>
                </a:solidFill>
              </a:rPr>
              <a:t>...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5"/>
                </a:solidFill>
              </a:rPr>
              <a:t>&gt;&gt;&gt; f100 = </a:t>
            </a:r>
            <a:r>
              <a:rPr lang="en-US" sz="2000" dirty="0" smtClean="0">
                <a:solidFill>
                  <a:schemeClr val="accent5"/>
                </a:solidFill>
              </a:rPr>
              <a:t>fib(100)</a:t>
            </a:r>
            <a:endParaRPr lang="en-US" sz="2000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accent5"/>
                </a:solidFill>
              </a:rPr>
              <a:t>&gt;&gt;&gt; </a:t>
            </a:r>
            <a:r>
              <a:rPr lang="en-US" sz="2000" dirty="0" smtClean="0">
                <a:solidFill>
                  <a:schemeClr val="accent5"/>
                </a:solidFill>
              </a:rPr>
              <a:t>f100</a:t>
            </a:r>
            <a:endParaRPr lang="en-US" sz="2000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accent5"/>
                </a:solidFill>
              </a:rPr>
              <a:t>[0, 1, 1, 2, 3, 5, 8, 13, 21, 34, 55, 89]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A89F-0A78-46DC-BDC2-8FE968D1DF7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4749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9976" y="364490"/>
            <a:ext cx="10515600" cy="1325563"/>
          </a:xfrm>
        </p:spPr>
        <p:txBody>
          <a:bodyPr/>
          <a:lstStyle/>
          <a:p>
            <a:r>
              <a:rPr lang="en-US" dirty="0" smtClean="0"/>
              <a:t>Polymorphism in Python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838200" y="1584960"/>
            <a:ext cx="5181600" cy="477139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The meaning of an operation depends on the objects being operated upon</a:t>
            </a:r>
          </a:p>
          <a:p>
            <a:r>
              <a:rPr lang="en-US" dirty="0" smtClean="0"/>
              <a:t>If the objects passed do not support the expected interface, raise an exception automatically</a:t>
            </a:r>
          </a:p>
          <a:p>
            <a:pPr marL="0" indent="0">
              <a:buNone/>
            </a:pPr>
            <a:endParaRPr lang="en-US" dirty="0" smtClean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</a:t>
            </a:r>
            <a:r>
              <a:rPr lang="en-US" dirty="0" err="1" smtClean="0">
                <a:solidFill>
                  <a:schemeClr val="accent5"/>
                </a:solidFill>
              </a:rPr>
              <a:t>def</a:t>
            </a:r>
            <a:r>
              <a:rPr lang="en-US" dirty="0" smtClean="0">
                <a:solidFill>
                  <a:schemeClr val="accent5"/>
                </a:solidFill>
              </a:rPr>
              <a:t> times(x, y):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…        return x * y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…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times(2, 4)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8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times(‘Hi’, 4)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‘</a:t>
            </a:r>
            <a:r>
              <a:rPr lang="en-US" dirty="0" err="1" smtClean="0">
                <a:solidFill>
                  <a:schemeClr val="accent5"/>
                </a:solidFill>
              </a:rPr>
              <a:t>HiHiHiHi</a:t>
            </a:r>
            <a:r>
              <a:rPr lang="en-US" dirty="0" smtClean="0">
                <a:solidFill>
                  <a:schemeClr val="accent5"/>
                </a:solidFill>
              </a:rPr>
              <a:t>’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6464808" y="544512"/>
            <a:ext cx="5181600" cy="58118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chemeClr val="accent5"/>
                </a:solidFill>
              </a:rPr>
              <a:t>def</a:t>
            </a:r>
            <a:r>
              <a:rPr lang="en-US" sz="2400" dirty="0">
                <a:solidFill>
                  <a:schemeClr val="accent5"/>
                </a:solidFill>
              </a:rPr>
              <a:t> intersect(seq1, seq2):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chemeClr val="accent5"/>
                </a:solidFill>
              </a:rPr>
              <a:t>   res </a:t>
            </a:r>
            <a:r>
              <a:rPr lang="en-US" sz="2400" dirty="0">
                <a:solidFill>
                  <a:schemeClr val="accent5"/>
                </a:solidFill>
              </a:rPr>
              <a:t>= </a:t>
            </a:r>
            <a:r>
              <a:rPr lang="en-US" sz="2400" dirty="0" smtClean="0">
                <a:solidFill>
                  <a:schemeClr val="accent5"/>
                </a:solidFill>
              </a:rPr>
              <a:t>[]</a:t>
            </a:r>
            <a:endParaRPr lang="en-US" sz="2400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sz="2400" dirty="0" smtClean="0">
                <a:solidFill>
                  <a:schemeClr val="accent5"/>
                </a:solidFill>
              </a:rPr>
              <a:t>   for </a:t>
            </a:r>
            <a:r>
              <a:rPr lang="en-US" sz="2400" dirty="0">
                <a:solidFill>
                  <a:schemeClr val="accent5"/>
                </a:solidFill>
              </a:rPr>
              <a:t>x in seq1: 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chemeClr val="accent5"/>
                </a:solidFill>
              </a:rPr>
              <a:t>      if </a:t>
            </a:r>
            <a:r>
              <a:rPr lang="en-US" sz="2400" dirty="0">
                <a:solidFill>
                  <a:schemeClr val="accent5"/>
                </a:solidFill>
              </a:rPr>
              <a:t>x in seq2: 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chemeClr val="accent5"/>
                </a:solidFill>
              </a:rPr>
              <a:t>         </a:t>
            </a:r>
            <a:r>
              <a:rPr lang="en-US" sz="2400" dirty="0" err="1" smtClean="0">
                <a:solidFill>
                  <a:schemeClr val="accent5"/>
                </a:solidFill>
              </a:rPr>
              <a:t>res.append</a:t>
            </a:r>
            <a:r>
              <a:rPr lang="en-US" sz="2400" dirty="0" smtClean="0">
                <a:solidFill>
                  <a:schemeClr val="accent5"/>
                </a:solidFill>
              </a:rPr>
              <a:t>(x)</a:t>
            </a:r>
            <a:endParaRPr lang="en-US" sz="2400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sz="2400" dirty="0" smtClean="0">
                <a:solidFill>
                  <a:schemeClr val="accent5"/>
                </a:solidFill>
              </a:rPr>
              <a:t>   return res</a:t>
            </a:r>
          </a:p>
          <a:p>
            <a:pPr marL="0" indent="0">
              <a:buNone/>
            </a:pPr>
            <a:endParaRPr lang="en-US" sz="2400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sz="2400" dirty="0" smtClean="0">
                <a:solidFill>
                  <a:schemeClr val="accent5"/>
                </a:solidFill>
              </a:rPr>
              <a:t>&gt;&gt;&gt; s1 = ‘SPAM’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chemeClr val="accent5"/>
                </a:solidFill>
              </a:rPr>
              <a:t>&gt;&gt;&gt; s2 = ‘SCAM’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chemeClr val="accent5"/>
                </a:solidFill>
              </a:rPr>
              <a:t>&gt;&gt;&gt; interest(s1, s2)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chemeClr val="accent5"/>
                </a:solidFill>
              </a:rPr>
              <a:t>[‘S’, ‘A’, ‘M’]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chemeClr val="accent5"/>
                </a:solidFill>
              </a:rPr>
              <a:t>&gt;&gt;&gt; interest([1, 2, 3], (1, 4))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chemeClr val="accent5"/>
                </a:solidFill>
              </a:rPr>
              <a:t>&gt;&gt;&gt; [1]</a:t>
            </a:r>
            <a:endParaRPr lang="en-US" sz="2400" dirty="0">
              <a:solidFill>
                <a:schemeClr val="accent5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A89F-0A78-46DC-BDC2-8FE968D1DF7C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4848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Scopes And Namespaces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A namespace is a mapping from names to objects</a:t>
            </a:r>
          </a:p>
          <a:p>
            <a:r>
              <a:rPr lang="en-US" dirty="0" smtClean="0"/>
              <a:t>No relation between names in different namespaces</a:t>
            </a:r>
          </a:p>
          <a:p>
            <a:r>
              <a:rPr lang="en-US" dirty="0" smtClean="0"/>
              <a:t>Examples of namespaces:</a:t>
            </a:r>
          </a:p>
          <a:p>
            <a:pPr lvl="1"/>
            <a:r>
              <a:rPr lang="en-US" dirty="0" smtClean="0"/>
              <a:t>The set of Python built-in names</a:t>
            </a:r>
          </a:p>
          <a:p>
            <a:pPr lvl="1"/>
            <a:r>
              <a:rPr lang="en-US" dirty="0" smtClean="0"/>
              <a:t>The global names in a module</a:t>
            </a:r>
          </a:p>
          <a:p>
            <a:pPr lvl="1"/>
            <a:r>
              <a:rPr lang="en-US" dirty="0" smtClean="0"/>
              <a:t>The local names in a function</a:t>
            </a:r>
          </a:p>
          <a:p>
            <a:pPr lvl="1"/>
            <a:r>
              <a:rPr lang="en-US" dirty="0" smtClean="0"/>
              <a:t>The attribute names in a class object</a:t>
            </a:r>
          </a:p>
          <a:p>
            <a:pPr lvl="1"/>
            <a:r>
              <a:rPr lang="en-US" dirty="0" smtClean="0"/>
              <a:t>The attribute names in a class</a:t>
            </a:r>
          </a:p>
          <a:p>
            <a:pPr lvl="1"/>
            <a:r>
              <a:rPr lang="en-US" dirty="0" smtClean="0"/>
              <a:t>……</a:t>
            </a:r>
          </a:p>
          <a:p>
            <a:r>
              <a:rPr lang="en-US" dirty="0" smtClean="0"/>
              <a:t>Use </a:t>
            </a:r>
            <a:r>
              <a:rPr lang="en-US" dirty="0" err="1" smtClean="0">
                <a:solidFill>
                  <a:schemeClr val="accent5"/>
                </a:solidFill>
              </a:rPr>
              <a:t>namespace.attribute</a:t>
            </a:r>
            <a:r>
              <a:rPr lang="en-US" dirty="0" smtClean="0"/>
              <a:t> to access an attribute in a namespace:</a:t>
            </a:r>
          </a:p>
          <a:p>
            <a:pPr lvl="1"/>
            <a:r>
              <a:rPr lang="en-US" dirty="0" smtClean="0"/>
              <a:t>E.g. </a:t>
            </a:r>
            <a:r>
              <a:rPr lang="en-US" dirty="0" err="1" smtClean="0">
                <a:solidFill>
                  <a:schemeClr val="accent5"/>
                </a:solidFill>
              </a:rPr>
              <a:t>modname.funcname</a:t>
            </a:r>
            <a:r>
              <a:rPr lang="en-US" dirty="0" smtClean="0"/>
              <a:t>, </a:t>
            </a:r>
            <a:r>
              <a:rPr lang="en-US" dirty="0" err="1" smtClean="0">
                <a:solidFill>
                  <a:schemeClr val="accent5"/>
                </a:solidFill>
              </a:rPr>
              <a:t>object.data</a:t>
            </a:r>
            <a:r>
              <a:rPr lang="en-US" dirty="0" smtClean="0"/>
              <a:t>, etc.</a:t>
            </a:r>
          </a:p>
          <a:p>
            <a:r>
              <a:rPr lang="en-US" dirty="0" smtClean="0"/>
              <a:t>Writable attributes may also be deleted with the </a:t>
            </a:r>
            <a:r>
              <a:rPr lang="en-US" dirty="0" smtClean="0">
                <a:solidFill>
                  <a:schemeClr val="accent5"/>
                </a:solidFill>
              </a:rPr>
              <a:t>del</a:t>
            </a:r>
            <a:r>
              <a:rPr lang="en-US" dirty="0" smtClean="0"/>
              <a:t>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77A15-9786-4295-9D09-189E1473F94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5963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Python Functions: Arguments Pass by Value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&gt;&gt;&gt; </a:t>
            </a:r>
            <a:r>
              <a:rPr lang="en-US" dirty="0" err="1">
                <a:solidFill>
                  <a:schemeClr val="accent5"/>
                </a:solidFill>
              </a:rPr>
              <a:t>def</a:t>
            </a:r>
            <a:r>
              <a:rPr lang="en-US" dirty="0">
                <a:solidFill>
                  <a:schemeClr val="accent5"/>
                </a:solidFill>
              </a:rPr>
              <a:t> f(a): </a:t>
            </a:r>
            <a:endParaRPr lang="en-US" dirty="0" smtClean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           a </a:t>
            </a:r>
            <a:r>
              <a:rPr lang="en-US" dirty="0">
                <a:solidFill>
                  <a:schemeClr val="accent5"/>
                </a:solidFill>
              </a:rPr>
              <a:t>= 99 </a:t>
            </a:r>
            <a:endParaRPr lang="en-US" dirty="0" smtClean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</a:t>
            </a:r>
            <a:r>
              <a:rPr lang="en-US" dirty="0">
                <a:solidFill>
                  <a:schemeClr val="accent5"/>
                </a:solidFill>
              </a:rPr>
              <a:t>b = 88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&gt;&gt;&gt; f(b</a:t>
            </a:r>
            <a:r>
              <a:rPr lang="en-US" dirty="0" smtClean="0">
                <a:solidFill>
                  <a:schemeClr val="accent5"/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</a:t>
            </a:r>
            <a:r>
              <a:rPr lang="en-US" dirty="0">
                <a:solidFill>
                  <a:schemeClr val="accent5"/>
                </a:solidFill>
              </a:rPr>
              <a:t>print(b</a:t>
            </a:r>
            <a:r>
              <a:rPr lang="en-US" dirty="0" smtClean="0">
                <a:solidFill>
                  <a:schemeClr val="accent5"/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88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&gt;&gt;&gt; </a:t>
            </a:r>
            <a:r>
              <a:rPr lang="en-US" dirty="0" err="1">
                <a:solidFill>
                  <a:schemeClr val="accent5"/>
                </a:solidFill>
              </a:rPr>
              <a:t>def</a:t>
            </a:r>
            <a:r>
              <a:rPr lang="en-US" dirty="0">
                <a:solidFill>
                  <a:schemeClr val="accent5"/>
                </a:solidFill>
              </a:rPr>
              <a:t> changer(a, b): </a:t>
            </a:r>
            <a:endParaRPr lang="en-US" dirty="0" smtClean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           a </a:t>
            </a:r>
            <a:r>
              <a:rPr lang="en-US" dirty="0">
                <a:solidFill>
                  <a:schemeClr val="accent5"/>
                </a:solidFill>
              </a:rPr>
              <a:t>= 2 </a:t>
            </a:r>
            <a:endParaRPr lang="en-US" dirty="0" smtClean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           b[0</a:t>
            </a:r>
            <a:r>
              <a:rPr lang="en-US" dirty="0">
                <a:solidFill>
                  <a:schemeClr val="accent5"/>
                </a:solidFill>
              </a:rPr>
              <a:t>] = 'spam' </a:t>
            </a:r>
            <a:endParaRPr lang="en-US" dirty="0" smtClean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</a:t>
            </a:r>
            <a:r>
              <a:rPr lang="en-US" dirty="0">
                <a:solidFill>
                  <a:schemeClr val="accent5"/>
                </a:solidFill>
              </a:rPr>
              <a:t>X = 1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&gt;&gt;&gt; L = [1, 2] </a:t>
            </a:r>
            <a:endParaRPr lang="en-US" dirty="0" smtClean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</a:t>
            </a:r>
            <a:r>
              <a:rPr lang="en-US" dirty="0">
                <a:solidFill>
                  <a:schemeClr val="accent5"/>
                </a:solidFill>
              </a:rPr>
              <a:t>changer(X, L) </a:t>
            </a:r>
            <a:endParaRPr lang="en-US" dirty="0" smtClean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accent5"/>
                </a:solidFill>
              </a:rPr>
              <a:t>&gt;&gt;&gt; </a:t>
            </a:r>
            <a:r>
              <a:rPr lang="en-US" dirty="0">
                <a:solidFill>
                  <a:schemeClr val="accent5"/>
                </a:solidFill>
              </a:rPr>
              <a:t>X, </a:t>
            </a:r>
            <a:r>
              <a:rPr lang="en-US" dirty="0" smtClean="0">
                <a:solidFill>
                  <a:schemeClr val="accent5"/>
                </a:solidFill>
              </a:rPr>
              <a:t>L</a:t>
            </a:r>
            <a:endParaRPr lang="en-US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5"/>
                </a:solidFill>
              </a:rPr>
              <a:t>(1, ['spam', 2])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7A89F-0A78-46DC-BDC2-8FE968D1DF7C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275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1851</TotalTime>
  <Words>3649</Words>
  <Application>Microsoft Macintosh PowerPoint</Application>
  <PresentationFormat>Custom</PresentationFormat>
  <Paragraphs>490</Paragraphs>
  <Slides>28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EE 5453 – 002  Engineering Programming II Python Statements &amp; Functions</vt:lpstr>
      <vt:lpstr>Python Conceptual Hierarchy</vt:lpstr>
      <vt:lpstr>Python Statements Overview</vt:lpstr>
      <vt:lpstr>Sequence Assignments</vt:lpstr>
      <vt:lpstr>Advanced Sequence Assignments</vt:lpstr>
      <vt:lpstr>Extended Sequence Unpacking </vt:lpstr>
      <vt:lpstr>Extended Sequence Unpacking (Cont.)</vt:lpstr>
      <vt:lpstr>The range() Function</vt:lpstr>
      <vt:lpstr>Multiple-Target Assignments</vt:lpstr>
      <vt:lpstr>Augmented Assignments</vt:lpstr>
      <vt:lpstr>Print Operations (Python 3)</vt:lpstr>
      <vt:lpstr>Print Operations (Cont.)</vt:lpstr>
      <vt:lpstr>if Statements</vt:lpstr>
      <vt:lpstr>While Statements</vt:lpstr>
      <vt:lpstr>Enhanced With Error Handling</vt:lpstr>
      <vt:lpstr>for Statements</vt:lpstr>
      <vt:lpstr>break Statements</vt:lpstr>
      <vt:lpstr>continue and pass statements</vt:lpstr>
      <vt:lpstr>Changing Lists</vt:lpstr>
      <vt:lpstr>Parallel Traversals – zip</vt:lpstr>
      <vt:lpstr>Parallel Traversals – zip (Cont.)</vt:lpstr>
      <vt:lpstr>Dictionary Construction</vt:lpstr>
      <vt:lpstr>Getting Both Offsets and Items</vt:lpstr>
      <vt:lpstr>Iterations</vt:lpstr>
      <vt:lpstr>Defining Functions</vt:lpstr>
      <vt:lpstr>Polymorphism in Python</vt:lpstr>
      <vt:lpstr>Scopes And Namespaces</vt:lpstr>
      <vt:lpstr>Python Functions: Arguments Pass by Value</vt:lpstr>
    </vt:vector>
  </TitlesOfParts>
  <Company>University of Texas at San Antonio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 5453 – 002  Engineering Programming II Python Data Types</dc:title>
  <dc:creator>Lide Duan</dc:creator>
  <cp:lastModifiedBy>SSU</cp:lastModifiedBy>
  <cp:revision>109</cp:revision>
  <dcterms:created xsi:type="dcterms:W3CDTF">2014-11-07T19:40:04Z</dcterms:created>
  <dcterms:modified xsi:type="dcterms:W3CDTF">2017-09-19T02:43:24Z</dcterms:modified>
</cp:coreProperties>
</file>