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gif" ContentType="image/gif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9"/>
  </p:notesMasterIdLst>
  <p:sldIdLst>
    <p:sldId id="308" r:id="rId2"/>
    <p:sldId id="307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3" r:id="rId11"/>
    <p:sldId id="265" r:id="rId12"/>
    <p:sldId id="266" r:id="rId13"/>
    <p:sldId id="269" r:id="rId14"/>
    <p:sldId id="270" r:id="rId15"/>
    <p:sldId id="272" r:id="rId16"/>
    <p:sldId id="273" r:id="rId17"/>
    <p:sldId id="274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90" r:id="rId32"/>
    <p:sldId id="291" r:id="rId33"/>
    <p:sldId id="293" r:id="rId34"/>
    <p:sldId id="292" r:id="rId35"/>
    <p:sldId id="294" r:id="rId36"/>
    <p:sldId id="295" r:id="rId37"/>
    <p:sldId id="296" r:id="rId38"/>
    <p:sldId id="297" r:id="rId39"/>
    <p:sldId id="298" r:id="rId40"/>
    <p:sldId id="299" r:id="rId41"/>
    <p:sldId id="300" r:id="rId42"/>
    <p:sldId id="301" r:id="rId43"/>
    <p:sldId id="302" r:id="rId44"/>
    <p:sldId id="303" r:id="rId45"/>
    <p:sldId id="304" r:id="rId46"/>
    <p:sldId id="305" r:id="rId47"/>
    <p:sldId id="306" r:id="rId4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425" autoAdjust="0"/>
  </p:normalViewPr>
  <p:slideViewPr>
    <p:cSldViewPr snapToGrid="0">
      <p:cViewPr varScale="1">
        <p:scale>
          <a:sx n="92" d="100"/>
          <a:sy n="92" d="100"/>
        </p:scale>
        <p:origin x="-496" y="-1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50" Type="http://schemas.openxmlformats.org/officeDocument/2006/relationships/printerSettings" Target="printerSettings/printerSettings1.bin"/><Relationship Id="rId51" Type="http://schemas.openxmlformats.org/officeDocument/2006/relationships/presProps" Target="presProps.xml"/><Relationship Id="rId52" Type="http://schemas.openxmlformats.org/officeDocument/2006/relationships/viewProps" Target="viewProps.xml"/><Relationship Id="rId53" Type="http://schemas.openxmlformats.org/officeDocument/2006/relationships/theme" Target="theme/theme1.xml"/><Relationship Id="rId54" Type="http://schemas.openxmlformats.org/officeDocument/2006/relationships/tableStyles" Target="tableStyles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276C8A-9E1C-41D3-943E-C914711B1EFA}" type="datetimeFigureOut">
              <a:rPr lang="en-US" smtClean="0"/>
              <a:t>8/27/17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15A1A8-13B0-472C-B23F-5AB5D94C69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0901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15F22F-3EB1-4408-BCB1-17A1A69EA85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1253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15A1A8-13B0-472C-B23F-5AB5D94C69E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9651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 local variable must be initialized.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15A1A8-13B0-472C-B23F-5AB5D94C69E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9236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15A1A8-13B0-472C-B23F-5AB5D94C69E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2521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15A1A8-13B0-472C-B23F-5AB5D94C69E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4131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15A1A8-13B0-472C-B23F-5AB5D94C69E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5329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15A1A8-13B0-472C-B23F-5AB5D94C69E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4278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15A1A8-13B0-472C-B23F-5AB5D94C69EA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715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15A1A8-13B0-472C-B23F-5AB5D94C69EA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1343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Compilation</a:t>
            </a:r>
            <a:r>
              <a:rPr lang="en-US" baseline="0" dirty="0" smtClean="0"/>
              <a:t> errors if: break outside of switch or loop, continue outside of loop, label a non-loop statement.</a:t>
            </a:r>
          </a:p>
          <a:p>
            <a:r>
              <a:rPr lang="en-US" baseline="0" dirty="0" smtClean="0"/>
              <a:t>In C++, there isn’t labeled break/continue, so </a:t>
            </a:r>
            <a:r>
              <a:rPr lang="en-US" baseline="0" dirty="0" err="1" smtClean="0"/>
              <a:t>goto</a:t>
            </a:r>
            <a:r>
              <a:rPr lang="en-US" baseline="0" dirty="0" smtClean="0"/>
              <a:t> statements can be used for these purposes.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15A1A8-13B0-472C-B23F-5AB5D94C69EA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7299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D685E-4AA4-42AF-B56D-F1D95F86D98F}" type="datetime1">
              <a:rPr lang="en-US" smtClean="0"/>
              <a:t>8/27/17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ABDB1-18BE-4FDA-B9ED-FBF356C892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868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0183F-A788-4DC8-969D-197A696C7A70}" type="datetime1">
              <a:rPr lang="en-US" smtClean="0"/>
              <a:t>8/27/17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ABDB1-18BE-4FDA-B9ED-FBF356C892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463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C0E4C-BDF9-4911-9AA0-D26C08BB410C}" type="datetime1">
              <a:rPr lang="en-US" smtClean="0"/>
              <a:t>8/27/17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ABDB1-18BE-4FDA-B9ED-FBF356C892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405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CF4D0-71FC-4824-92A5-FBC50F3BA5BB}" type="datetime1">
              <a:rPr lang="en-US" smtClean="0"/>
              <a:t>8/27/17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ABDB1-18BE-4FDA-B9ED-FBF356C892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923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8233F-F3FF-4138-8438-980830E380C9}" type="datetime1">
              <a:rPr lang="en-US" smtClean="0"/>
              <a:t>8/27/17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ABDB1-18BE-4FDA-B9ED-FBF356C892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640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44F06-097A-45E5-96EB-2F3BC6DAEA9F}" type="datetime1">
              <a:rPr lang="en-US" smtClean="0"/>
              <a:t>8/27/17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ABDB1-18BE-4FDA-B9ED-FBF356C892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272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ED7D9-2FC6-4FC0-AFDA-2FF3754BB503}" type="datetime1">
              <a:rPr lang="en-US" smtClean="0"/>
              <a:t>8/27/17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ABDB1-18BE-4FDA-B9ED-FBF356C892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63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A6B3B-03BE-4376-B58F-E3A1E28B133A}" type="datetime1">
              <a:rPr lang="en-US" smtClean="0"/>
              <a:t>8/27/17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ABDB1-18BE-4FDA-B9ED-FBF356C892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35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A2D6E-75D0-45DD-8F29-DC2BFAFC51BC}" type="datetime1">
              <a:rPr lang="en-US" smtClean="0"/>
              <a:t>8/27/17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ABDB1-18BE-4FDA-B9ED-FBF356C892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968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6AEF9-DCCB-46D8-A838-D55E4FAA1E7D}" type="datetime1">
              <a:rPr lang="en-US" smtClean="0"/>
              <a:t>8/27/17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ABDB1-18BE-4FDA-B9ED-FBF356C892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193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394D2-7933-4E5B-A375-8735CA83CEDF}" type="datetime1">
              <a:rPr lang="en-US" smtClean="0"/>
              <a:t>8/27/17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ABDB1-18BE-4FDA-B9ED-FBF356C892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254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65B800-8B5F-4D0A-BC92-DE7FD506D983}" type="datetime1">
              <a:rPr lang="en-US" smtClean="0"/>
              <a:t>8/27/17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6ABDB1-18BE-4FDA-B9ED-FBF356C892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162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gi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EE </a:t>
            </a:r>
            <a:r>
              <a:rPr lang="en-US" smtClean="0"/>
              <a:t>5453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Engineering Programming II</a:t>
            </a:r>
            <a:br>
              <a:rPr lang="en-US" dirty="0" smtClean="0"/>
            </a:b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406269"/>
            <a:ext cx="9144000" cy="1655762"/>
          </a:xfrm>
        </p:spPr>
        <p:txBody>
          <a:bodyPr>
            <a:normAutofit/>
          </a:bodyPr>
          <a:lstStyle/>
          <a:p>
            <a:r>
              <a:rPr lang="en-US" sz="4000" dirty="0" smtClean="0"/>
              <a:t>Dr. </a:t>
            </a:r>
            <a:r>
              <a:rPr lang="en-US" sz="4000" dirty="0" err="1" smtClean="0"/>
              <a:t>Guenevere</a:t>
            </a:r>
            <a:r>
              <a:rPr lang="en-US" sz="4000" dirty="0" smtClean="0"/>
              <a:t> (Qian) Chen</a:t>
            </a:r>
          </a:p>
          <a:p>
            <a:r>
              <a:rPr lang="en-US" sz="4000" dirty="0" err="1" smtClean="0"/>
              <a:t>guenevereqian.chen@utsa.edu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65442815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 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Variables</a:t>
            </a:r>
          </a:p>
          <a:p>
            <a:r>
              <a:rPr lang="en-US" dirty="0" smtClean="0"/>
              <a:t>Primitive Data Types</a:t>
            </a:r>
          </a:p>
          <a:p>
            <a:r>
              <a:rPr lang="en-US" dirty="0" smtClean="0"/>
              <a:t>Operators</a:t>
            </a:r>
          </a:p>
          <a:p>
            <a:r>
              <a:rPr lang="en-US" dirty="0" smtClean="0"/>
              <a:t>Statements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ABDB1-18BE-4FDA-B9ED-FBF356C892E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382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Variables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Instance variables</a:t>
            </a:r>
          </a:p>
          <a:p>
            <a:r>
              <a:rPr lang="en-US" dirty="0" smtClean="0"/>
              <a:t>Class variables</a:t>
            </a:r>
          </a:p>
          <a:p>
            <a:r>
              <a:rPr lang="en-US" dirty="0" smtClean="0"/>
              <a:t>Local variables</a:t>
            </a:r>
          </a:p>
          <a:p>
            <a:r>
              <a:rPr lang="en-US" dirty="0" smtClean="0"/>
              <a:t>Parameters</a:t>
            </a:r>
          </a:p>
          <a:p>
            <a:r>
              <a:rPr lang="en-US" dirty="0" smtClean="0"/>
              <a:t>Reference variables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ABDB1-18BE-4FDA-B9ED-FBF356C892E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336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Instance Variables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90688"/>
            <a:ext cx="5181600" cy="4608939"/>
          </a:xfrm>
        </p:spPr>
        <p:txBody>
          <a:bodyPr>
            <a:noAutofit/>
          </a:bodyPr>
          <a:lstStyle/>
          <a:p>
            <a:r>
              <a:rPr lang="en-US" dirty="0" smtClean="0"/>
              <a:t>These are the non-static fields in a class</a:t>
            </a:r>
          </a:p>
          <a:p>
            <a:pPr lvl="1"/>
            <a:r>
              <a:rPr lang="en-US" dirty="0" smtClean="0"/>
              <a:t>Fields in a class declared without the </a:t>
            </a:r>
            <a:r>
              <a:rPr lang="en-US" dirty="0" smtClean="0">
                <a:solidFill>
                  <a:schemeClr val="accent5"/>
                </a:solidFill>
              </a:rPr>
              <a:t>static</a:t>
            </a:r>
            <a:r>
              <a:rPr lang="en-US" dirty="0" smtClean="0"/>
              <a:t> keyword</a:t>
            </a:r>
          </a:p>
          <a:p>
            <a:r>
              <a:rPr lang="en-US" dirty="0" smtClean="0"/>
              <a:t>Its value is unique to each object (i.e. each instance of a class)</a:t>
            </a:r>
          </a:p>
          <a:p>
            <a:r>
              <a:rPr lang="en-US" dirty="0" smtClean="0"/>
              <a:t>E.g. cadence, speed, gear in the Bicycle class.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427357"/>
            <a:ext cx="5181600" cy="487227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 smtClean="0">
                <a:solidFill>
                  <a:srgbClr val="4472C4"/>
                </a:solidFill>
              </a:rPr>
              <a:t>class Bicycle {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4472C4"/>
                </a:solidFill>
              </a:rPr>
              <a:t>  </a:t>
            </a:r>
            <a:r>
              <a:rPr lang="en-US" dirty="0" err="1" smtClean="0">
                <a:solidFill>
                  <a:srgbClr val="4472C4"/>
                </a:solidFill>
              </a:rPr>
              <a:t>int</a:t>
            </a:r>
            <a:r>
              <a:rPr lang="en-US" dirty="0" smtClean="0">
                <a:solidFill>
                  <a:srgbClr val="4472C4"/>
                </a:solidFill>
              </a:rPr>
              <a:t> cadence = 0; </a:t>
            </a:r>
          </a:p>
          <a:p>
            <a:pPr marL="0" indent="0">
              <a:buNone/>
            </a:pPr>
            <a:r>
              <a:rPr lang="en-US" dirty="0">
                <a:solidFill>
                  <a:srgbClr val="4472C4"/>
                </a:solidFill>
              </a:rPr>
              <a:t> </a:t>
            </a:r>
            <a:r>
              <a:rPr lang="en-US" dirty="0" smtClean="0">
                <a:solidFill>
                  <a:srgbClr val="4472C4"/>
                </a:solidFill>
              </a:rPr>
              <a:t> </a:t>
            </a:r>
            <a:r>
              <a:rPr lang="en-US" dirty="0" err="1" smtClean="0">
                <a:solidFill>
                  <a:srgbClr val="4472C4"/>
                </a:solidFill>
              </a:rPr>
              <a:t>int</a:t>
            </a:r>
            <a:r>
              <a:rPr lang="en-US" dirty="0" smtClean="0">
                <a:solidFill>
                  <a:srgbClr val="4472C4"/>
                </a:solidFill>
              </a:rPr>
              <a:t> speed = 0; </a:t>
            </a:r>
          </a:p>
          <a:p>
            <a:pPr marL="0" indent="0">
              <a:buNone/>
            </a:pPr>
            <a:r>
              <a:rPr lang="en-US" dirty="0">
                <a:solidFill>
                  <a:srgbClr val="4472C4"/>
                </a:solidFill>
              </a:rPr>
              <a:t> </a:t>
            </a:r>
            <a:r>
              <a:rPr lang="en-US" dirty="0" smtClean="0">
                <a:solidFill>
                  <a:srgbClr val="4472C4"/>
                </a:solidFill>
              </a:rPr>
              <a:t> </a:t>
            </a:r>
            <a:r>
              <a:rPr lang="en-US" dirty="0" err="1" smtClean="0">
                <a:solidFill>
                  <a:srgbClr val="4472C4"/>
                </a:solidFill>
              </a:rPr>
              <a:t>int</a:t>
            </a:r>
            <a:r>
              <a:rPr lang="en-US" dirty="0" smtClean="0">
                <a:solidFill>
                  <a:srgbClr val="4472C4"/>
                </a:solidFill>
              </a:rPr>
              <a:t> gear = 1;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4472C4"/>
                </a:solidFill>
              </a:rPr>
              <a:t>  void </a:t>
            </a:r>
            <a:r>
              <a:rPr lang="en-US" dirty="0" err="1" smtClean="0">
                <a:solidFill>
                  <a:srgbClr val="4472C4"/>
                </a:solidFill>
              </a:rPr>
              <a:t>changeCadence</a:t>
            </a:r>
            <a:r>
              <a:rPr lang="en-US" dirty="0" smtClean="0">
                <a:solidFill>
                  <a:srgbClr val="4472C4"/>
                </a:solidFill>
              </a:rPr>
              <a:t>(</a:t>
            </a:r>
            <a:r>
              <a:rPr lang="en-US" dirty="0" err="1" smtClean="0">
                <a:solidFill>
                  <a:srgbClr val="4472C4"/>
                </a:solidFill>
              </a:rPr>
              <a:t>int</a:t>
            </a:r>
            <a:r>
              <a:rPr lang="en-US" dirty="0" smtClean="0">
                <a:solidFill>
                  <a:srgbClr val="4472C4"/>
                </a:solidFill>
              </a:rPr>
              <a:t> </a:t>
            </a:r>
            <a:r>
              <a:rPr lang="en-US" dirty="0" err="1" smtClean="0">
                <a:solidFill>
                  <a:srgbClr val="4472C4"/>
                </a:solidFill>
              </a:rPr>
              <a:t>x_c</a:t>
            </a:r>
            <a:r>
              <a:rPr lang="en-US" dirty="0" smtClean="0">
                <a:solidFill>
                  <a:srgbClr val="4472C4"/>
                </a:solidFill>
              </a:rPr>
              <a:t>) {</a:t>
            </a:r>
          </a:p>
          <a:p>
            <a:pPr marL="0" indent="0">
              <a:buNone/>
            </a:pPr>
            <a:r>
              <a:rPr lang="en-US" dirty="0">
                <a:solidFill>
                  <a:srgbClr val="4472C4"/>
                </a:solidFill>
              </a:rPr>
              <a:t> </a:t>
            </a:r>
            <a:r>
              <a:rPr lang="en-US" dirty="0" smtClean="0">
                <a:solidFill>
                  <a:srgbClr val="4472C4"/>
                </a:solidFill>
              </a:rPr>
              <a:t>   cadence = </a:t>
            </a:r>
            <a:r>
              <a:rPr lang="en-US" dirty="0" err="1" smtClean="0">
                <a:solidFill>
                  <a:srgbClr val="4472C4"/>
                </a:solidFill>
              </a:rPr>
              <a:t>x_c</a:t>
            </a:r>
            <a:r>
              <a:rPr lang="en-US" dirty="0" smtClean="0">
                <a:solidFill>
                  <a:srgbClr val="4472C4"/>
                </a:solidFill>
              </a:rPr>
              <a:t>;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4472C4"/>
                </a:solidFill>
              </a:rPr>
              <a:t>  }</a:t>
            </a:r>
          </a:p>
          <a:p>
            <a:pPr marL="0" indent="0">
              <a:buNone/>
            </a:pPr>
            <a:r>
              <a:rPr lang="en-US" dirty="0">
                <a:solidFill>
                  <a:srgbClr val="4472C4"/>
                </a:solidFill>
              </a:rPr>
              <a:t> </a:t>
            </a:r>
            <a:r>
              <a:rPr lang="en-US" dirty="0" smtClean="0">
                <a:solidFill>
                  <a:srgbClr val="4472C4"/>
                </a:solidFill>
              </a:rPr>
              <a:t> ……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4472C4"/>
                </a:solidFill>
              </a:rPr>
              <a:t>}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4472C4"/>
                </a:solidFill>
              </a:rPr>
              <a:t>//</a:t>
            </a:r>
            <a:r>
              <a:rPr lang="en-US" dirty="0">
                <a:solidFill>
                  <a:srgbClr val="4472C4"/>
                </a:solidFill>
              </a:rPr>
              <a:t> </a:t>
            </a:r>
            <a:r>
              <a:rPr lang="en-US" dirty="0" smtClean="0">
                <a:solidFill>
                  <a:srgbClr val="4472C4"/>
                </a:solidFill>
              </a:rPr>
              <a:t>In main method: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4472C4"/>
                </a:solidFill>
              </a:rPr>
              <a:t>Bicycle b1 = new Bicycle();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4472C4"/>
                </a:solidFill>
              </a:rPr>
              <a:t>Bicycle b2 = new Bicycle();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4472C4"/>
                </a:solidFill>
              </a:rPr>
              <a:t>b1.changeCadence(1); b2.changeCadence(2);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4472C4"/>
                </a:solidFill>
              </a:rPr>
              <a:t>// Now b1 has cadence 1, and b2 has cadence 2.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ABDB1-18BE-4FDA-B9ED-FBF356C892E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14312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 Variables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US" dirty="0" smtClean="0"/>
              <a:t>These are the static fields in a class</a:t>
            </a:r>
          </a:p>
          <a:p>
            <a:pPr lvl="1"/>
            <a:r>
              <a:rPr lang="en-US" dirty="0" smtClean="0"/>
              <a:t>Fields in a class declared with the </a:t>
            </a:r>
            <a:r>
              <a:rPr lang="en-US" dirty="0" smtClean="0">
                <a:solidFill>
                  <a:schemeClr val="accent5"/>
                </a:solidFill>
              </a:rPr>
              <a:t>static</a:t>
            </a:r>
            <a:r>
              <a:rPr lang="en-US" dirty="0" smtClean="0"/>
              <a:t> keyword</a:t>
            </a:r>
          </a:p>
          <a:p>
            <a:r>
              <a:rPr lang="en-US" dirty="0" smtClean="0"/>
              <a:t>Only one copy of this variable for all objects of the class</a:t>
            </a:r>
          </a:p>
          <a:p>
            <a:pPr lvl="1"/>
            <a:r>
              <a:rPr lang="en-US" dirty="0" smtClean="0"/>
              <a:t>If you change it for one object, its value is changed for all objects of its class</a:t>
            </a:r>
          </a:p>
          <a:p>
            <a:r>
              <a:rPr lang="en-US" dirty="0" smtClean="0"/>
              <a:t>E.g. </a:t>
            </a:r>
            <a:r>
              <a:rPr lang="en-US" dirty="0" err="1" smtClean="0"/>
              <a:t>numGears</a:t>
            </a:r>
            <a:r>
              <a:rPr lang="en-US" dirty="0" smtClean="0"/>
              <a:t> in the Bicycle class.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6172200" y="1193180"/>
            <a:ext cx="5181600" cy="531913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 smtClean="0">
                <a:solidFill>
                  <a:srgbClr val="4472C4"/>
                </a:solidFill>
              </a:rPr>
              <a:t>class Bicycle {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rgbClr val="4472C4"/>
                </a:solidFill>
              </a:rPr>
              <a:t>  </a:t>
            </a:r>
            <a:r>
              <a:rPr lang="en-US" sz="2000" dirty="0" err="1" smtClean="0">
                <a:solidFill>
                  <a:srgbClr val="4472C4"/>
                </a:solidFill>
              </a:rPr>
              <a:t>int</a:t>
            </a:r>
            <a:r>
              <a:rPr lang="en-US" sz="2000" dirty="0" smtClean="0">
                <a:solidFill>
                  <a:srgbClr val="4472C4"/>
                </a:solidFill>
              </a:rPr>
              <a:t> cadence = 0; </a:t>
            </a:r>
            <a:r>
              <a:rPr lang="en-US" sz="2000" dirty="0" err="1" smtClean="0">
                <a:solidFill>
                  <a:srgbClr val="4472C4"/>
                </a:solidFill>
              </a:rPr>
              <a:t>int</a:t>
            </a:r>
            <a:r>
              <a:rPr lang="en-US" sz="2000" dirty="0" smtClean="0">
                <a:solidFill>
                  <a:srgbClr val="4472C4"/>
                </a:solidFill>
              </a:rPr>
              <a:t> speed = 0; </a:t>
            </a:r>
            <a:r>
              <a:rPr lang="en-US" sz="2000" dirty="0" err="1" smtClean="0">
                <a:solidFill>
                  <a:srgbClr val="4472C4"/>
                </a:solidFill>
              </a:rPr>
              <a:t>int</a:t>
            </a:r>
            <a:r>
              <a:rPr lang="en-US" sz="2000" dirty="0" smtClean="0">
                <a:solidFill>
                  <a:srgbClr val="4472C4"/>
                </a:solidFill>
              </a:rPr>
              <a:t> gear = 1;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rgbClr val="4472C4"/>
                </a:solidFill>
              </a:rPr>
              <a:t>  static </a:t>
            </a:r>
            <a:r>
              <a:rPr lang="en-US" sz="2000" dirty="0" err="1" smtClean="0">
                <a:solidFill>
                  <a:srgbClr val="4472C4"/>
                </a:solidFill>
              </a:rPr>
              <a:t>int</a:t>
            </a:r>
            <a:r>
              <a:rPr lang="en-US" sz="2000" dirty="0">
                <a:solidFill>
                  <a:srgbClr val="4472C4"/>
                </a:solidFill>
              </a:rPr>
              <a:t> </a:t>
            </a:r>
            <a:r>
              <a:rPr lang="en-US" sz="2000" dirty="0" err="1" smtClean="0">
                <a:solidFill>
                  <a:srgbClr val="4472C4"/>
                </a:solidFill>
              </a:rPr>
              <a:t>numGears</a:t>
            </a:r>
            <a:r>
              <a:rPr lang="en-US" sz="2000" dirty="0" smtClean="0">
                <a:solidFill>
                  <a:srgbClr val="4472C4"/>
                </a:solidFill>
              </a:rPr>
              <a:t> = 6;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rgbClr val="4472C4"/>
                </a:solidFill>
              </a:rPr>
              <a:t>  void </a:t>
            </a:r>
            <a:r>
              <a:rPr lang="en-US" sz="2000" dirty="0" err="1" smtClean="0">
                <a:solidFill>
                  <a:srgbClr val="4472C4"/>
                </a:solidFill>
              </a:rPr>
              <a:t>addGears</a:t>
            </a:r>
            <a:r>
              <a:rPr lang="en-US" sz="2000" dirty="0" smtClean="0">
                <a:solidFill>
                  <a:srgbClr val="4472C4"/>
                </a:solidFill>
              </a:rPr>
              <a:t>(</a:t>
            </a:r>
            <a:r>
              <a:rPr lang="en-US" sz="2000" dirty="0" err="1" smtClean="0">
                <a:solidFill>
                  <a:srgbClr val="4472C4"/>
                </a:solidFill>
              </a:rPr>
              <a:t>int</a:t>
            </a:r>
            <a:r>
              <a:rPr lang="en-US" sz="2000" dirty="0" smtClean="0">
                <a:solidFill>
                  <a:srgbClr val="4472C4"/>
                </a:solidFill>
              </a:rPr>
              <a:t> </a:t>
            </a:r>
            <a:r>
              <a:rPr lang="en-US" sz="2000" dirty="0" err="1" smtClean="0">
                <a:solidFill>
                  <a:srgbClr val="4472C4"/>
                </a:solidFill>
              </a:rPr>
              <a:t>x_n</a:t>
            </a:r>
            <a:r>
              <a:rPr lang="en-US" sz="2000" dirty="0" smtClean="0">
                <a:solidFill>
                  <a:srgbClr val="4472C4"/>
                </a:solidFill>
              </a:rPr>
              <a:t>) {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4472C4"/>
                </a:solidFill>
              </a:rPr>
              <a:t> </a:t>
            </a:r>
            <a:r>
              <a:rPr lang="en-US" sz="2000" dirty="0" smtClean="0">
                <a:solidFill>
                  <a:srgbClr val="4472C4"/>
                </a:solidFill>
              </a:rPr>
              <a:t>   </a:t>
            </a:r>
            <a:r>
              <a:rPr lang="en-US" sz="2000" dirty="0" err="1" smtClean="0">
                <a:solidFill>
                  <a:srgbClr val="4472C4"/>
                </a:solidFill>
              </a:rPr>
              <a:t>numGears</a:t>
            </a:r>
            <a:r>
              <a:rPr lang="en-US" sz="2000" dirty="0" smtClean="0">
                <a:solidFill>
                  <a:srgbClr val="4472C4"/>
                </a:solidFill>
              </a:rPr>
              <a:t> = </a:t>
            </a:r>
            <a:r>
              <a:rPr lang="en-US" sz="2000" dirty="0" err="1" smtClean="0">
                <a:solidFill>
                  <a:srgbClr val="4472C4"/>
                </a:solidFill>
              </a:rPr>
              <a:t>numGears</a:t>
            </a:r>
            <a:r>
              <a:rPr lang="en-US" sz="2000" dirty="0" smtClean="0">
                <a:solidFill>
                  <a:srgbClr val="4472C4"/>
                </a:solidFill>
              </a:rPr>
              <a:t> + </a:t>
            </a:r>
            <a:r>
              <a:rPr lang="en-US" sz="2000" dirty="0" err="1" smtClean="0">
                <a:solidFill>
                  <a:srgbClr val="4472C4"/>
                </a:solidFill>
              </a:rPr>
              <a:t>x_n</a:t>
            </a:r>
            <a:r>
              <a:rPr lang="en-US" sz="2000" dirty="0" smtClean="0">
                <a:solidFill>
                  <a:srgbClr val="4472C4"/>
                </a:solidFill>
              </a:rPr>
              <a:t>;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rgbClr val="4472C4"/>
                </a:solidFill>
              </a:rPr>
              <a:t>  }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rgbClr val="4472C4"/>
                </a:solidFill>
              </a:rPr>
              <a:t>  ……</a:t>
            </a:r>
            <a:endParaRPr lang="en-US" dirty="0"/>
          </a:p>
          <a:p>
            <a:pPr marL="0" indent="0">
              <a:buNone/>
            </a:pPr>
            <a:r>
              <a:rPr lang="en-US" sz="2000" dirty="0" smtClean="0">
                <a:solidFill>
                  <a:srgbClr val="4472C4"/>
                </a:solidFill>
              </a:rPr>
              <a:t>}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rgbClr val="4472C4"/>
                </a:solidFill>
              </a:rPr>
              <a:t>// In main method: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rgbClr val="4472C4"/>
                </a:solidFill>
              </a:rPr>
              <a:t>Bicycle b1 = new Bicycle(); 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rgbClr val="4472C4"/>
                </a:solidFill>
              </a:rPr>
              <a:t>Bicycle b2 = new Bicycle();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rgbClr val="4472C4"/>
                </a:solidFill>
              </a:rPr>
              <a:t>b1.addGears(1); b2.addGears(2);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rgbClr val="4472C4"/>
                </a:solidFill>
              </a:rPr>
              <a:t>//Now both b1 and b2 have </a:t>
            </a:r>
            <a:r>
              <a:rPr lang="en-US" sz="2000" dirty="0" err="1" smtClean="0">
                <a:solidFill>
                  <a:srgbClr val="4472C4"/>
                </a:solidFill>
              </a:rPr>
              <a:t>numGears</a:t>
            </a:r>
            <a:r>
              <a:rPr lang="en-US" sz="2000" dirty="0" smtClean="0">
                <a:solidFill>
                  <a:srgbClr val="4472C4"/>
                </a:solidFill>
              </a:rPr>
              <a:t> 9!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ABDB1-18BE-4FDA-B9ED-FBF356C892E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7796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Constants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 class variable can be further declared with the </a:t>
            </a:r>
            <a:r>
              <a:rPr lang="en-US" dirty="0" smtClean="0">
                <a:solidFill>
                  <a:schemeClr val="accent5"/>
                </a:solidFill>
              </a:rPr>
              <a:t>final</a:t>
            </a:r>
            <a:r>
              <a:rPr lang="en-US" dirty="0" smtClean="0"/>
              <a:t> keyword.</a:t>
            </a:r>
          </a:p>
          <a:p>
            <a:endParaRPr lang="en-US" dirty="0"/>
          </a:p>
          <a:p>
            <a:r>
              <a:rPr lang="en-US" dirty="0" smtClean="0"/>
              <a:t>Its value will never change after initialization.</a:t>
            </a:r>
          </a:p>
          <a:p>
            <a:endParaRPr lang="en-US" dirty="0"/>
          </a:p>
          <a:p>
            <a:r>
              <a:rPr lang="en-US" dirty="0" smtClean="0"/>
              <a:t>E.g. NUM_GEARS in the Bicycle class. Its value cannot be changed.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smtClean="0">
                <a:solidFill>
                  <a:srgbClr val="4472C4"/>
                </a:solidFill>
              </a:rPr>
              <a:t>class Bicycle {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rgbClr val="4472C4"/>
                </a:solidFill>
              </a:rPr>
              <a:t>  </a:t>
            </a:r>
            <a:r>
              <a:rPr lang="en-US" sz="2000" dirty="0" err="1" smtClean="0">
                <a:solidFill>
                  <a:srgbClr val="4472C4"/>
                </a:solidFill>
              </a:rPr>
              <a:t>int</a:t>
            </a:r>
            <a:r>
              <a:rPr lang="en-US" sz="2000" dirty="0" smtClean="0">
                <a:solidFill>
                  <a:srgbClr val="4472C4"/>
                </a:solidFill>
              </a:rPr>
              <a:t> cadence = 0; </a:t>
            </a:r>
            <a:r>
              <a:rPr lang="en-US" sz="2000" dirty="0" err="1" smtClean="0">
                <a:solidFill>
                  <a:srgbClr val="4472C4"/>
                </a:solidFill>
              </a:rPr>
              <a:t>int</a:t>
            </a:r>
            <a:r>
              <a:rPr lang="en-US" sz="2000" dirty="0" smtClean="0">
                <a:solidFill>
                  <a:srgbClr val="4472C4"/>
                </a:solidFill>
              </a:rPr>
              <a:t> speed = 0; </a:t>
            </a:r>
            <a:r>
              <a:rPr lang="en-US" sz="2000" dirty="0" err="1" smtClean="0">
                <a:solidFill>
                  <a:srgbClr val="4472C4"/>
                </a:solidFill>
              </a:rPr>
              <a:t>int</a:t>
            </a:r>
            <a:r>
              <a:rPr lang="en-US" sz="2000" dirty="0" smtClean="0">
                <a:solidFill>
                  <a:srgbClr val="4472C4"/>
                </a:solidFill>
              </a:rPr>
              <a:t> gear = 1;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rgbClr val="4472C4"/>
                </a:solidFill>
              </a:rPr>
              <a:t>  static final </a:t>
            </a:r>
            <a:r>
              <a:rPr lang="en-US" sz="2000" dirty="0" err="1" smtClean="0">
                <a:solidFill>
                  <a:srgbClr val="4472C4"/>
                </a:solidFill>
              </a:rPr>
              <a:t>int</a:t>
            </a:r>
            <a:r>
              <a:rPr lang="en-US" sz="2000" dirty="0" smtClean="0">
                <a:solidFill>
                  <a:srgbClr val="4472C4"/>
                </a:solidFill>
              </a:rPr>
              <a:t> NUM_GEARS = 6;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rgbClr val="4472C4"/>
                </a:solidFill>
              </a:rPr>
              <a:t>  void </a:t>
            </a:r>
            <a:r>
              <a:rPr lang="en-US" sz="2000" dirty="0" err="1" smtClean="0">
                <a:solidFill>
                  <a:srgbClr val="4472C4"/>
                </a:solidFill>
              </a:rPr>
              <a:t>printNumGears</a:t>
            </a:r>
            <a:r>
              <a:rPr lang="en-US" sz="2000" dirty="0" smtClean="0">
                <a:solidFill>
                  <a:srgbClr val="4472C4"/>
                </a:solidFill>
              </a:rPr>
              <a:t>() {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rgbClr val="4472C4"/>
                </a:solidFill>
              </a:rPr>
              <a:t>    </a:t>
            </a:r>
            <a:r>
              <a:rPr lang="en-US" sz="2000" dirty="0" err="1" smtClean="0">
                <a:solidFill>
                  <a:srgbClr val="4472C4"/>
                </a:solidFill>
              </a:rPr>
              <a:t>System.out.println</a:t>
            </a:r>
            <a:r>
              <a:rPr lang="en-US" sz="2000" dirty="0" smtClean="0">
                <a:solidFill>
                  <a:srgbClr val="4472C4"/>
                </a:solidFill>
              </a:rPr>
              <a:t>(“The bicycle has ” +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4472C4"/>
                </a:solidFill>
              </a:rPr>
              <a:t> </a:t>
            </a:r>
            <a:r>
              <a:rPr lang="en-US" sz="2000" dirty="0" smtClean="0">
                <a:solidFill>
                  <a:srgbClr val="4472C4"/>
                </a:solidFill>
              </a:rPr>
              <a:t>       NUM_GEARS + “ gears!”);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rgbClr val="4472C4"/>
                </a:solidFill>
              </a:rPr>
              <a:t>  }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rgbClr val="4472C4"/>
                </a:solidFill>
              </a:rPr>
              <a:t>  ……</a:t>
            </a: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>
                <a:solidFill>
                  <a:srgbClr val="4472C4"/>
                </a:solidFill>
              </a:rPr>
              <a:t>}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ABDB1-18BE-4FDA-B9ED-FBF356C892E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93575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Local Variables and Parameters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Local variables:</a:t>
            </a:r>
          </a:p>
          <a:p>
            <a:pPr lvl="1"/>
            <a:r>
              <a:rPr lang="en-US" dirty="0" smtClean="0"/>
              <a:t>Similar to fields, but declared within a method.</a:t>
            </a:r>
          </a:p>
          <a:p>
            <a:pPr lvl="1"/>
            <a:r>
              <a:rPr lang="en-US" dirty="0" smtClean="0"/>
              <a:t>Only visible to the method; not accessible from the rest of the class.</a:t>
            </a:r>
          </a:p>
          <a:p>
            <a:r>
              <a:rPr lang="en-US" dirty="0" smtClean="0"/>
              <a:t>Parameters:</a:t>
            </a:r>
          </a:p>
          <a:p>
            <a:pPr lvl="1"/>
            <a:r>
              <a:rPr lang="en-US" dirty="0" smtClean="0"/>
              <a:t>External variables passed to a method.</a:t>
            </a:r>
          </a:p>
          <a:p>
            <a:r>
              <a:rPr lang="en-US" dirty="0" smtClean="0"/>
              <a:t>E.g. In the Bicycle class, delta is a local variable; </a:t>
            </a:r>
            <a:r>
              <a:rPr lang="en-US" dirty="0" err="1" smtClean="0"/>
              <a:t>x_d</a:t>
            </a:r>
            <a:r>
              <a:rPr lang="en-US" dirty="0" smtClean="0"/>
              <a:t> is a parameter.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483112"/>
            <a:ext cx="5181600" cy="507380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dirty="0" smtClean="0">
                <a:solidFill>
                  <a:srgbClr val="4472C4"/>
                </a:solidFill>
              </a:rPr>
              <a:t>class Bicycle {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rgbClr val="4472C4"/>
                </a:solidFill>
              </a:rPr>
              <a:t>  </a:t>
            </a:r>
            <a:r>
              <a:rPr lang="en-US" sz="2000" dirty="0" err="1" smtClean="0">
                <a:solidFill>
                  <a:srgbClr val="4472C4"/>
                </a:solidFill>
              </a:rPr>
              <a:t>int</a:t>
            </a:r>
            <a:r>
              <a:rPr lang="en-US" sz="2000" dirty="0" smtClean="0">
                <a:solidFill>
                  <a:srgbClr val="4472C4"/>
                </a:solidFill>
              </a:rPr>
              <a:t> cadence = 0; </a:t>
            </a:r>
            <a:r>
              <a:rPr lang="en-US" sz="2000" dirty="0" err="1" smtClean="0">
                <a:solidFill>
                  <a:srgbClr val="4472C4"/>
                </a:solidFill>
              </a:rPr>
              <a:t>int</a:t>
            </a:r>
            <a:r>
              <a:rPr lang="en-US" sz="2000" dirty="0" smtClean="0">
                <a:solidFill>
                  <a:srgbClr val="4472C4"/>
                </a:solidFill>
              </a:rPr>
              <a:t> speed = 0; </a:t>
            </a:r>
            <a:r>
              <a:rPr lang="en-US" sz="2000" dirty="0" err="1" smtClean="0">
                <a:solidFill>
                  <a:srgbClr val="4472C4"/>
                </a:solidFill>
              </a:rPr>
              <a:t>int</a:t>
            </a:r>
            <a:r>
              <a:rPr lang="en-US" sz="2000" dirty="0" smtClean="0">
                <a:solidFill>
                  <a:srgbClr val="4472C4"/>
                </a:solidFill>
              </a:rPr>
              <a:t> gear = 1;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4472C4"/>
                </a:solidFill>
              </a:rPr>
              <a:t> </a:t>
            </a:r>
            <a:r>
              <a:rPr lang="en-US" sz="2000" dirty="0" smtClean="0">
                <a:solidFill>
                  <a:srgbClr val="4472C4"/>
                </a:solidFill>
              </a:rPr>
              <a:t> void </a:t>
            </a:r>
            <a:r>
              <a:rPr lang="en-US" sz="2000" dirty="0" err="1" smtClean="0">
                <a:solidFill>
                  <a:srgbClr val="4472C4"/>
                </a:solidFill>
              </a:rPr>
              <a:t>applyBreak</a:t>
            </a:r>
            <a:r>
              <a:rPr lang="en-US" sz="2000" dirty="0" smtClean="0">
                <a:solidFill>
                  <a:srgbClr val="4472C4"/>
                </a:solidFill>
              </a:rPr>
              <a:t>() {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4472C4"/>
                </a:solidFill>
              </a:rPr>
              <a:t> </a:t>
            </a:r>
            <a:r>
              <a:rPr lang="en-US" sz="2000" dirty="0" smtClean="0">
                <a:solidFill>
                  <a:srgbClr val="4472C4"/>
                </a:solidFill>
              </a:rPr>
              <a:t>   </a:t>
            </a:r>
            <a:r>
              <a:rPr lang="en-US" sz="2000" dirty="0" err="1" smtClean="0">
                <a:solidFill>
                  <a:srgbClr val="4472C4"/>
                </a:solidFill>
              </a:rPr>
              <a:t>int</a:t>
            </a:r>
            <a:r>
              <a:rPr lang="en-US" sz="2000" dirty="0" smtClean="0">
                <a:solidFill>
                  <a:srgbClr val="4472C4"/>
                </a:solidFill>
              </a:rPr>
              <a:t> delta = 1;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4472C4"/>
                </a:solidFill>
              </a:rPr>
              <a:t> </a:t>
            </a:r>
            <a:r>
              <a:rPr lang="en-US" sz="2000" dirty="0" smtClean="0">
                <a:solidFill>
                  <a:srgbClr val="4472C4"/>
                </a:solidFill>
              </a:rPr>
              <a:t>   if (speed &gt;= delta) {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4472C4"/>
                </a:solidFill>
              </a:rPr>
              <a:t> </a:t>
            </a:r>
            <a:r>
              <a:rPr lang="en-US" sz="2000" dirty="0" smtClean="0">
                <a:solidFill>
                  <a:srgbClr val="4472C4"/>
                </a:solidFill>
              </a:rPr>
              <a:t>     speed = speed - delta;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4472C4"/>
                </a:solidFill>
              </a:rPr>
              <a:t> </a:t>
            </a:r>
            <a:r>
              <a:rPr lang="en-US" sz="2000" dirty="0" smtClean="0">
                <a:solidFill>
                  <a:srgbClr val="4472C4"/>
                </a:solidFill>
              </a:rPr>
              <a:t>   }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4472C4"/>
                </a:solidFill>
              </a:rPr>
              <a:t> </a:t>
            </a:r>
            <a:r>
              <a:rPr lang="en-US" sz="2000" dirty="0" smtClean="0">
                <a:solidFill>
                  <a:srgbClr val="4472C4"/>
                </a:solidFill>
              </a:rPr>
              <a:t> }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rgbClr val="4472C4"/>
                </a:solidFill>
              </a:rPr>
              <a:t>  void </a:t>
            </a:r>
            <a:r>
              <a:rPr lang="en-US" sz="2000" dirty="0" err="1" smtClean="0">
                <a:solidFill>
                  <a:srgbClr val="4472C4"/>
                </a:solidFill>
              </a:rPr>
              <a:t>applyBreak</a:t>
            </a:r>
            <a:r>
              <a:rPr lang="en-US" sz="2000" dirty="0" smtClean="0">
                <a:solidFill>
                  <a:srgbClr val="4472C4"/>
                </a:solidFill>
              </a:rPr>
              <a:t>(</a:t>
            </a:r>
            <a:r>
              <a:rPr lang="en-US" sz="2000" dirty="0" err="1" smtClean="0">
                <a:solidFill>
                  <a:srgbClr val="4472C4"/>
                </a:solidFill>
              </a:rPr>
              <a:t>int</a:t>
            </a:r>
            <a:r>
              <a:rPr lang="en-US" sz="2000" dirty="0" smtClean="0">
                <a:solidFill>
                  <a:srgbClr val="4472C4"/>
                </a:solidFill>
              </a:rPr>
              <a:t> </a:t>
            </a:r>
            <a:r>
              <a:rPr lang="en-US" sz="2000" dirty="0" err="1" smtClean="0">
                <a:solidFill>
                  <a:srgbClr val="4472C4"/>
                </a:solidFill>
              </a:rPr>
              <a:t>x_d</a:t>
            </a:r>
            <a:r>
              <a:rPr lang="en-US" sz="2000" dirty="0" smtClean="0">
                <a:solidFill>
                  <a:srgbClr val="4472C4"/>
                </a:solidFill>
              </a:rPr>
              <a:t>) {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rgbClr val="4472C4"/>
                </a:solidFill>
              </a:rPr>
              <a:t>    if (speed &gt;= </a:t>
            </a:r>
            <a:r>
              <a:rPr lang="en-US" sz="2000" dirty="0" err="1" smtClean="0">
                <a:solidFill>
                  <a:srgbClr val="4472C4"/>
                </a:solidFill>
              </a:rPr>
              <a:t>x_d</a:t>
            </a:r>
            <a:r>
              <a:rPr lang="en-US" sz="2000" dirty="0" smtClean="0">
                <a:solidFill>
                  <a:srgbClr val="4472C4"/>
                </a:solidFill>
              </a:rPr>
              <a:t>) {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4472C4"/>
                </a:solidFill>
              </a:rPr>
              <a:t> </a:t>
            </a:r>
            <a:r>
              <a:rPr lang="en-US" sz="2000" dirty="0" smtClean="0">
                <a:solidFill>
                  <a:srgbClr val="4472C4"/>
                </a:solidFill>
              </a:rPr>
              <a:t>     speed  = speed - </a:t>
            </a:r>
            <a:r>
              <a:rPr lang="en-US" sz="2000" dirty="0" err="1" smtClean="0">
                <a:solidFill>
                  <a:srgbClr val="4472C4"/>
                </a:solidFill>
              </a:rPr>
              <a:t>x_d</a:t>
            </a:r>
            <a:r>
              <a:rPr lang="en-US" sz="2000" dirty="0" smtClean="0">
                <a:solidFill>
                  <a:srgbClr val="4472C4"/>
                </a:solidFill>
              </a:rPr>
              <a:t>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4472C4"/>
                </a:solidFill>
              </a:rPr>
              <a:t> </a:t>
            </a:r>
            <a:r>
              <a:rPr lang="en-US" sz="2000" dirty="0" smtClean="0">
                <a:solidFill>
                  <a:srgbClr val="4472C4"/>
                </a:solidFill>
              </a:rPr>
              <a:t>   }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rgbClr val="4472C4"/>
                </a:solidFill>
              </a:rPr>
              <a:t>  }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rgbClr val="4472C4"/>
                </a:solidFill>
              </a:rPr>
              <a:t>  ……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rgbClr val="4472C4"/>
                </a:solidFill>
              </a:rPr>
              <a:t>}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ABDB1-18BE-4FDA-B9ED-FBF356C892E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9972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Parameters To Main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The main method signature: </a:t>
            </a:r>
          </a:p>
          <a:p>
            <a:pPr marL="0" indent="0">
              <a:buNone/>
            </a:pPr>
            <a:r>
              <a:rPr lang="en-US" sz="2400" dirty="0" smtClean="0">
                <a:solidFill>
                  <a:schemeClr val="accent5"/>
                </a:solidFill>
              </a:rPr>
              <a:t>public static void main(String[] </a:t>
            </a:r>
            <a:r>
              <a:rPr lang="en-US" sz="2400" dirty="0" err="1" smtClean="0">
                <a:solidFill>
                  <a:schemeClr val="accent5"/>
                </a:solidFill>
              </a:rPr>
              <a:t>args</a:t>
            </a:r>
            <a:r>
              <a:rPr lang="en-US" sz="2400" dirty="0" smtClean="0">
                <a:solidFill>
                  <a:schemeClr val="accent5"/>
                </a:solidFill>
              </a:rPr>
              <a:t>) {</a:t>
            </a:r>
          </a:p>
          <a:p>
            <a:pPr marL="0" indent="0">
              <a:buNone/>
            </a:pPr>
            <a:r>
              <a:rPr lang="en-US" sz="2400" dirty="0" smtClean="0">
                <a:solidFill>
                  <a:schemeClr val="accent5"/>
                </a:solidFill>
              </a:rPr>
              <a:t>  …… </a:t>
            </a:r>
          </a:p>
          <a:p>
            <a:pPr marL="0" indent="0">
              <a:buNone/>
            </a:pPr>
            <a:r>
              <a:rPr lang="en-US" sz="2400" dirty="0" smtClean="0">
                <a:solidFill>
                  <a:schemeClr val="accent5"/>
                </a:solidFill>
              </a:rPr>
              <a:t>}</a:t>
            </a:r>
          </a:p>
          <a:p>
            <a:r>
              <a:rPr lang="en-US" dirty="0" smtClean="0"/>
              <a:t>All inputs after the program name are put into a string array </a:t>
            </a:r>
            <a:r>
              <a:rPr lang="en-US" dirty="0" err="1" smtClean="0">
                <a:solidFill>
                  <a:schemeClr val="accent5"/>
                </a:solidFill>
              </a:rPr>
              <a:t>args</a:t>
            </a:r>
            <a:r>
              <a:rPr lang="en-US" dirty="0">
                <a:solidFill>
                  <a:schemeClr val="accent5"/>
                </a:solidFill>
              </a:rPr>
              <a:t> </a:t>
            </a:r>
            <a:r>
              <a:rPr lang="en-US" dirty="0" smtClean="0"/>
              <a:t>as the parameters to the main method</a:t>
            </a:r>
          </a:p>
          <a:p>
            <a:pPr lvl="1"/>
            <a:r>
              <a:rPr lang="en-US" dirty="0" err="1" smtClean="0">
                <a:solidFill>
                  <a:schemeClr val="accent5"/>
                </a:solidFill>
              </a:rPr>
              <a:t>args</a:t>
            </a:r>
            <a:r>
              <a:rPr lang="en-US" dirty="0" smtClean="0">
                <a:solidFill>
                  <a:schemeClr val="accent5"/>
                </a:solidFill>
              </a:rPr>
              <a:t>[0]</a:t>
            </a:r>
            <a:r>
              <a:rPr lang="en-US" dirty="0" smtClean="0"/>
              <a:t> is the 1</a:t>
            </a:r>
            <a:r>
              <a:rPr lang="en-US" baseline="30000" dirty="0" smtClean="0"/>
              <a:t>st</a:t>
            </a:r>
            <a:r>
              <a:rPr lang="en-US" dirty="0" smtClean="0"/>
              <a:t> parameter</a:t>
            </a:r>
          </a:p>
          <a:p>
            <a:pPr lvl="1"/>
            <a:r>
              <a:rPr lang="en-US" dirty="0" err="1">
                <a:solidFill>
                  <a:schemeClr val="accent5"/>
                </a:solidFill>
              </a:rPr>
              <a:t>a</a:t>
            </a:r>
            <a:r>
              <a:rPr lang="en-US" dirty="0" err="1" smtClean="0">
                <a:solidFill>
                  <a:schemeClr val="accent5"/>
                </a:solidFill>
              </a:rPr>
              <a:t>rgs</a:t>
            </a:r>
            <a:r>
              <a:rPr lang="en-US" dirty="0" smtClean="0">
                <a:solidFill>
                  <a:schemeClr val="accent5"/>
                </a:solidFill>
              </a:rPr>
              <a:t>[1]</a:t>
            </a:r>
            <a:r>
              <a:rPr lang="en-US" dirty="0" smtClean="0"/>
              <a:t> is the 2</a:t>
            </a:r>
            <a:r>
              <a:rPr lang="en-US" baseline="30000" dirty="0" smtClean="0"/>
              <a:t>nd</a:t>
            </a:r>
            <a:r>
              <a:rPr lang="en-US" dirty="0"/>
              <a:t> </a:t>
            </a:r>
            <a:r>
              <a:rPr lang="en-US" dirty="0" smtClean="0"/>
              <a:t>parameter</a:t>
            </a:r>
          </a:p>
          <a:p>
            <a:pPr lvl="1"/>
            <a:r>
              <a:rPr lang="en-US" dirty="0" smtClean="0"/>
              <a:t>……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4502" y="1338146"/>
            <a:ext cx="5358161" cy="5185317"/>
          </a:xfrm>
        </p:spPr>
        <p:txBody>
          <a:bodyPr>
            <a:noAutofit/>
          </a:bodyPr>
          <a:lstStyle/>
          <a:p>
            <a:r>
              <a:rPr lang="en-US" sz="2400" dirty="0" smtClean="0"/>
              <a:t>ConcatenateStrings.java</a:t>
            </a:r>
          </a:p>
          <a:p>
            <a:pPr marL="0" indent="0">
              <a:buNone/>
            </a:pPr>
            <a:r>
              <a:rPr lang="en-US" sz="1400" dirty="0" smtClean="0">
                <a:solidFill>
                  <a:schemeClr val="accent5"/>
                </a:solidFill>
              </a:rPr>
              <a:t>class </a:t>
            </a:r>
            <a:r>
              <a:rPr lang="en-US" sz="1400" dirty="0" err="1" smtClean="0">
                <a:solidFill>
                  <a:schemeClr val="accent5"/>
                </a:solidFill>
              </a:rPr>
              <a:t>ConcatenateStrings</a:t>
            </a:r>
            <a:r>
              <a:rPr lang="en-US" sz="1400" dirty="0" smtClean="0">
                <a:solidFill>
                  <a:schemeClr val="accent5"/>
                </a:solidFill>
              </a:rPr>
              <a:t> {</a:t>
            </a:r>
          </a:p>
          <a:p>
            <a:pPr marL="0" indent="0">
              <a:buNone/>
            </a:pPr>
            <a:r>
              <a:rPr lang="en-US" sz="1400" dirty="0" smtClean="0">
                <a:solidFill>
                  <a:schemeClr val="accent5"/>
                </a:solidFill>
              </a:rPr>
              <a:t>  public static void main(String[] </a:t>
            </a:r>
            <a:r>
              <a:rPr lang="en-US" sz="1400" dirty="0" err="1" smtClean="0">
                <a:solidFill>
                  <a:schemeClr val="accent5"/>
                </a:solidFill>
              </a:rPr>
              <a:t>args</a:t>
            </a:r>
            <a:r>
              <a:rPr lang="en-US" sz="1400" dirty="0" smtClean="0">
                <a:solidFill>
                  <a:schemeClr val="accent5"/>
                </a:solidFill>
              </a:rPr>
              <a:t>) {</a:t>
            </a:r>
          </a:p>
          <a:p>
            <a:pPr marL="0" indent="0">
              <a:buNone/>
            </a:pPr>
            <a:r>
              <a:rPr lang="en-US" sz="1400" dirty="0" smtClean="0">
                <a:solidFill>
                  <a:schemeClr val="accent5"/>
                </a:solidFill>
              </a:rPr>
              <a:t>    String </a:t>
            </a:r>
            <a:r>
              <a:rPr lang="en-US" sz="1400" dirty="0" err="1" smtClean="0">
                <a:solidFill>
                  <a:schemeClr val="accent5"/>
                </a:solidFill>
              </a:rPr>
              <a:t>catString</a:t>
            </a:r>
            <a:r>
              <a:rPr lang="en-US" sz="1400" dirty="0" smtClean="0">
                <a:solidFill>
                  <a:schemeClr val="accent5"/>
                </a:solidFill>
              </a:rPr>
              <a:t> = "";</a:t>
            </a:r>
          </a:p>
          <a:p>
            <a:pPr marL="0" indent="0">
              <a:buNone/>
            </a:pPr>
            <a:r>
              <a:rPr lang="en-US" sz="1400" dirty="0" smtClean="0">
                <a:solidFill>
                  <a:schemeClr val="accent5"/>
                </a:solidFill>
              </a:rPr>
              <a:t>    for (String </a:t>
            </a:r>
            <a:r>
              <a:rPr lang="en-US" sz="1400" dirty="0" err="1" smtClean="0">
                <a:solidFill>
                  <a:schemeClr val="accent5"/>
                </a:solidFill>
              </a:rPr>
              <a:t>arg</a:t>
            </a:r>
            <a:r>
              <a:rPr lang="en-US" sz="1400" dirty="0" smtClean="0">
                <a:solidFill>
                  <a:schemeClr val="accent5"/>
                </a:solidFill>
              </a:rPr>
              <a:t> : </a:t>
            </a:r>
            <a:r>
              <a:rPr lang="en-US" sz="1400" dirty="0" err="1" smtClean="0">
                <a:solidFill>
                  <a:schemeClr val="accent5"/>
                </a:solidFill>
              </a:rPr>
              <a:t>args</a:t>
            </a:r>
            <a:r>
              <a:rPr lang="en-US" sz="1400" dirty="0" smtClean="0">
                <a:solidFill>
                  <a:schemeClr val="accent5"/>
                </a:solidFill>
              </a:rPr>
              <a:t>) {</a:t>
            </a:r>
          </a:p>
          <a:p>
            <a:pPr marL="0" indent="0">
              <a:buNone/>
            </a:pPr>
            <a:r>
              <a:rPr lang="en-US" sz="1400" dirty="0" smtClean="0">
                <a:solidFill>
                  <a:schemeClr val="accent5"/>
                </a:solidFill>
              </a:rPr>
              <a:t>      </a:t>
            </a:r>
            <a:r>
              <a:rPr lang="en-US" sz="1400" dirty="0" err="1" smtClean="0">
                <a:solidFill>
                  <a:schemeClr val="accent5"/>
                </a:solidFill>
              </a:rPr>
              <a:t>System.out.println</a:t>
            </a:r>
            <a:r>
              <a:rPr lang="en-US" sz="1400" dirty="0" smtClean="0">
                <a:solidFill>
                  <a:schemeClr val="accent5"/>
                </a:solidFill>
              </a:rPr>
              <a:t>("One of the original strings is: “ + </a:t>
            </a:r>
            <a:r>
              <a:rPr lang="en-US" sz="1400" dirty="0" err="1" smtClean="0">
                <a:solidFill>
                  <a:schemeClr val="accent5"/>
                </a:solidFill>
              </a:rPr>
              <a:t>arg</a:t>
            </a:r>
            <a:r>
              <a:rPr lang="en-US" sz="1400" dirty="0" smtClean="0">
                <a:solidFill>
                  <a:schemeClr val="accent5"/>
                </a:solidFill>
              </a:rPr>
              <a:t>);</a:t>
            </a:r>
          </a:p>
          <a:p>
            <a:pPr marL="0" indent="0">
              <a:buNone/>
            </a:pPr>
            <a:r>
              <a:rPr lang="en-US" sz="1400" dirty="0" smtClean="0">
                <a:solidFill>
                  <a:schemeClr val="accent5"/>
                </a:solidFill>
              </a:rPr>
              <a:t>      </a:t>
            </a:r>
            <a:r>
              <a:rPr lang="en-US" sz="1400" dirty="0" err="1" smtClean="0">
                <a:solidFill>
                  <a:schemeClr val="accent5"/>
                </a:solidFill>
              </a:rPr>
              <a:t>catString</a:t>
            </a:r>
            <a:r>
              <a:rPr lang="en-US" sz="1400" dirty="0" smtClean="0">
                <a:solidFill>
                  <a:schemeClr val="accent5"/>
                </a:solidFill>
              </a:rPr>
              <a:t> = </a:t>
            </a:r>
            <a:r>
              <a:rPr lang="en-US" sz="1400" dirty="0" err="1" smtClean="0">
                <a:solidFill>
                  <a:schemeClr val="accent5"/>
                </a:solidFill>
              </a:rPr>
              <a:t>catString</a:t>
            </a:r>
            <a:r>
              <a:rPr lang="en-US" sz="1400" dirty="0" smtClean="0">
                <a:solidFill>
                  <a:schemeClr val="accent5"/>
                </a:solidFill>
              </a:rPr>
              <a:t> + </a:t>
            </a:r>
            <a:r>
              <a:rPr lang="en-US" sz="1400" dirty="0" err="1" smtClean="0">
                <a:solidFill>
                  <a:schemeClr val="accent5"/>
                </a:solidFill>
              </a:rPr>
              <a:t>arg</a:t>
            </a:r>
            <a:r>
              <a:rPr lang="en-US" sz="1400" dirty="0" smtClean="0">
                <a:solidFill>
                  <a:schemeClr val="accent5"/>
                </a:solidFill>
              </a:rPr>
              <a:t>;</a:t>
            </a:r>
          </a:p>
          <a:p>
            <a:pPr marL="0" indent="0">
              <a:buNone/>
            </a:pPr>
            <a:r>
              <a:rPr lang="en-US" sz="1400" dirty="0" smtClean="0">
                <a:solidFill>
                  <a:schemeClr val="accent5"/>
                </a:solidFill>
              </a:rPr>
              <a:t>    }</a:t>
            </a:r>
          </a:p>
          <a:p>
            <a:pPr marL="0" indent="0">
              <a:buNone/>
            </a:pPr>
            <a:r>
              <a:rPr lang="en-US" sz="1400" dirty="0" smtClean="0">
                <a:solidFill>
                  <a:schemeClr val="accent5"/>
                </a:solidFill>
              </a:rPr>
              <a:t>    </a:t>
            </a:r>
            <a:r>
              <a:rPr lang="en-US" sz="1400" dirty="0" err="1" smtClean="0">
                <a:solidFill>
                  <a:schemeClr val="accent5"/>
                </a:solidFill>
              </a:rPr>
              <a:t>System.out.println</a:t>
            </a:r>
            <a:r>
              <a:rPr lang="en-US" sz="1400" dirty="0" smtClean="0">
                <a:solidFill>
                  <a:schemeClr val="accent5"/>
                </a:solidFill>
              </a:rPr>
              <a:t>("The concatenated string is: " + </a:t>
            </a:r>
            <a:r>
              <a:rPr lang="en-US" sz="1400" dirty="0" err="1" smtClean="0">
                <a:solidFill>
                  <a:schemeClr val="accent5"/>
                </a:solidFill>
              </a:rPr>
              <a:t>catString</a:t>
            </a:r>
            <a:r>
              <a:rPr lang="en-US" sz="1400" dirty="0" smtClean="0">
                <a:solidFill>
                  <a:schemeClr val="accent5"/>
                </a:solidFill>
              </a:rPr>
              <a:t>);</a:t>
            </a:r>
          </a:p>
          <a:p>
            <a:pPr marL="0" indent="0">
              <a:buNone/>
            </a:pPr>
            <a:r>
              <a:rPr lang="en-US" sz="1400" dirty="0" smtClean="0">
                <a:solidFill>
                  <a:schemeClr val="accent5"/>
                </a:solidFill>
              </a:rPr>
              <a:t>  }</a:t>
            </a:r>
          </a:p>
          <a:p>
            <a:pPr marL="0" indent="0">
              <a:buNone/>
            </a:pPr>
            <a:r>
              <a:rPr lang="en-US" sz="1400" dirty="0" smtClean="0">
                <a:solidFill>
                  <a:schemeClr val="accent5"/>
                </a:solidFill>
              </a:rPr>
              <a:t>}</a:t>
            </a:r>
          </a:p>
          <a:p>
            <a:pPr marL="0" indent="0">
              <a:buNone/>
            </a:pPr>
            <a:r>
              <a:rPr lang="en-US" sz="1400" dirty="0" smtClean="0">
                <a:solidFill>
                  <a:schemeClr val="accent5"/>
                </a:solidFill>
              </a:rPr>
              <a:t>// java </a:t>
            </a:r>
            <a:r>
              <a:rPr lang="en-US" sz="1400" dirty="0" err="1" smtClean="0">
                <a:solidFill>
                  <a:schemeClr val="accent5"/>
                </a:solidFill>
              </a:rPr>
              <a:t>ConcatenateStrings</a:t>
            </a:r>
            <a:r>
              <a:rPr lang="en-US" sz="1400" dirty="0" smtClean="0">
                <a:solidFill>
                  <a:schemeClr val="accent5"/>
                </a:solidFill>
              </a:rPr>
              <a:t> </a:t>
            </a:r>
            <a:r>
              <a:rPr lang="en-US" sz="1400" dirty="0" err="1" smtClean="0">
                <a:solidFill>
                  <a:schemeClr val="accent5"/>
                </a:solidFill>
              </a:rPr>
              <a:t>abc</a:t>
            </a:r>
            <a:r>
              <a:rPr lang="en-US" sz="1400" dirty="0" smtClean="0">
                <a:solidFill>
                  <a:schemeClr val="accent5"/>
                </a:solidFill>
              </a:rPr>
              <a:t> 123 hello</a:t>
            </a:r>
          </a:p>
          <a:p>
            <a:pPr marL="0" indent="0">
              <a:buNone/>
            </a:pPr>
            <a:r>
              <a:rPr lang="en-US" sz="1400" dirty="0" smtClean="0">
                <a:solidFill>
                  <a:schemeClr val="accent5"/>
                </a:solidFill>
              </a:rPr>
              <a:t>// One of the original strings is: </a:t>
            </a:r>
            <a:r>
              <a:rPr lang="en-US" sz="1400" dirty="0" err="1" smtClean="0">
                <a:solidFill>
                  <a:schemeClr val="accent5"/>
                </a:solidFill>
              </a:rPr>
              <a:t>abc</a:t>
            </a:r>
            <a:endParaRPr lang="en-US" sz="1400" dirty="0" smtClean="0">
              <a:solidFill>
                <a:schemeClr val="accent5"/>
              </a:solidFill>
            </a:endParaRPr>
          </a:p>
          <a:p>
            <a:pPr marL="0" indent="0">
              <a:buNone/>
            </a:pPr>
            <a:r>
              <a:rPr lang="en-US" sz="1400" dirty="0" smtClean="0">
                <a:solidFill>
                  <a:schemeClr val="accent5"/>
                </a:solidFill>
              </a:rPr>
              <a:t>// One of the original strings is: 123</a:t>
            </a:r>
          </a:p>
          <a:p>
            <a:pPr marL="0" indent="0">
              <a:buNone/>
            </a:pPr>
            <a:r>
              <a:rPr lang="en-US" sz="1400" dirty="0" smtClean="0">
                <a:solidFill>
                  <a:schemeClr val="accent5"/>
                </a:solidFill>
              </a:rPr>
              <a:t>// One of the original strings is: hello</a:t>
            </a:r>
          </a:p>
          <a:p>
            <a:pPr marL="0" indent="0">
              <a:buNone/>
            </a:pPr>
            <a:r>
              <a:rPr lang="en-US" sz="1400" dirty="0" smtClean="0">
                <a:solidFill>
                  <a:schemeClr val="accent5"/>
                </a:solidFill>
              </a:rPr>
              <a:t>// The concatenated string is: abc123hello</a:t>
            </a:r>
            <a:endParaRPr lang="en-US" sz="1400" dirty="0">
              <a:solidFill>
                <a:schemeClr val="accent5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ABDB1-18BE-4FDA-B9ED-FBF356C892E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41860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 Variables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In Java, we manipulate all the objects via “references” to the objects.</a:t>
            </a:r>
          </a:p>
          <a:p>
            <a:r>
              <a:rPr lang="en-US" dirty="0" smtClean="0"/>
              <a:t>A reference variable stores the address of the object (</a:t>
            </a:r>
            <a:r>
              <a:rPr lang="en-US" dirty="0" smtClean="0">
                <a:solidFill>
                  <a:srgbClr val="FF0000"/>
                </a:solidFill>
              </a:rPr>
              <a:t>not the object itself!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E.g. </a:t>
            </a:r>
            <a:r>
              <a:rPr lang="en-US" dirty="0" err="1" smtClean="0">
                <a:solidFill>
                  <a:schemeClr val="accent5"/>
                </a:solidFill>
              </a:rPr>
              <a:t>MyClass</a:t>
            </a:r>
            <a:r>
              <a:rPr lang="en-US" dirty="0" smtClean="0">
                <a:solidFill>
                  <a:schemeClr val="accent5"/>
                </a:solidFill>
              </a:rPr>
              <a:t> </a:t>
            </a:r>
            <a:r>
              <a:rPr lang="en-US" dirty="0" err="1" smtClean="0">
                <a:solidFill>
                  <a:schemeClr val="accent5"/>
                </a:solidFill>
              </a:rPr>
              <a:t>myReference</a:t>
            </a:r>
            <a:r>
              <a:rPr lang="en-US" dirty="0" smtClean="0">
                <a:solidFill>
                  <a:schemeClr val="accent5"/>
                </a:solidFill>
              </a:rPr>
              <a:t> = new </a:t>
            </a:r>
            <a:r>
              <a:rPr lang="en-US" dirty="0" err="1" smtClean="0">
                <a:solidFill>
                  <a:schemeClr val="accent5"/>
                </a:solidFill>
              </a:rPr>
              <a:t>MyClass</a:t>
            </a:r>
            <a:r>
              <a:rPr lang="en-US" dirty="0" smtClean="0">
                <a:solidFill>
                  <a:schemeClr val="accent5"/>
                </a:solidFill>
              </a:rPr>
              <a:t>();</a:t>
            </a:r>
          </a:p>
          <a:p>
            <a:r>
              <a:rPr lang="en-US" dirty="0" smtClean="0"/>
              <a:t>The reference can be used to access a field or invoke a method of the object. </a:t>
            </a:r>
          </a:p>
          <a:p>
            <a:pPr lvl="1"/>
            <a:r>
              <a:rPr lang="en-US" dirty="0" smtClean="0"/>
              <a:t>E.g. </a:t>
            </a:r>
            <a:r>
              <a:rPr lang="en-US" dirty="0" err="1" smtClean="0">
                <a:solidFill>
                  <a:schemeClr val="accent5"/>
                </a:solidFill>
              </a:rPr>
              <a:t>l_localVar</a:t>
            </a:r>
            <a:r>
              <a:rPr lang="en-US" dirty="0" smtClean="0">
                <a:solidFill>
                  <a:schemeClr val="accent5"/>
                </a:solidFill>
              </a:rPr>
              <a:t> = </a:t>
            </a:r>
            <a:r>
              <a:rPr lang="en-US" dirty="0" err="1" smtClean="0">
                <a:solidFill>
                  <a:schemeClr val="accent5"/>
                </a:solidFill>
              </a:rPr>
              <a:t>myReference.someField</a:t>
            </a:r>
            <a:r>
              <a:rPr lang="en-US" dirty="0" smtClean="0">
                <a:solidFill>
                  <a:schemeClr val="accent5"/>
                </a:solidFill>
              </a:rPr>
              <a:t>;</a:t>
            </a:r>
          </a:p>
          <a:p>
            <a:pPr lvl="1"/>
            <a:r>
              <a:rPr lang="en-US" dirty="0" err="1" smtClean="0">
                <a:solidFill>
                  <a:schemeClr val="accent5"/>
                </a:solidFill>
              </a:rPr>
              <a:t>myReference.someMethod</a:t>
            </a:r>
            <a:r>
              <a:rPr lang="en-US" dirty="0" smtClean="0">
                <a:solidFill>
                  <a:schemeClr val="accent5"/>
                </a:solidFill>
              </a:rPr>
              <a:t>();</a:t>
            </a:r>
          </a:p>
          <a:p>
            <a:pPr lvl="1"/>
            <a:r>
              <a:rPr lang="en-US" dirty="0" err="1" smtClean="0">
                <a:solidFill>
                  <a:schemeClr val="accent5"/>
                </a:solidFill>
              </a:rPr>
              <a:t>myReference</a:t>
            </a:r>
            <a:r>
              <a:rPr lang="en-US" dirty="0">
                <a:solidFill>
                  <a:schemeClr val="accent5"/>
                </a:solidFill>
              </a:rPr>
              <a:t> </a:t>
            </a:r>
            <a:r>
              <a:rPr lang="en-US" dirty="0" smtClean="0">
                <a:solidFill>
                  <a:schemeClr val="accent5"/>
                </a:solidFill>
              </a:rPr>
              <a:t>= null; // disconnects the reference and the object</a:t>
            </a:r>
          </a:p>
          <a:p>
            <a:r>
              <a:rPr lang="en-US" dirty="0" smtClean="0"/>
              <a:t>The size of a reference is machine/JVM dependent</a:t>
            </a:r>
          </a:p>
          <a:p>
            <a:pPr lvl="1"/>
            <a:r>
              <a:rPr lang="en-US" dirty="0" smtClean="0"/>
              <a:t>Typically, 32 bits for a 32-bit machine, 64 bits for a 64-bit machine.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ABDB1-18BE-4FDA-B9ED-FBF356C892E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28198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Variable Naming (Rules and Conventions)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1087"/>
            <a:ext cx="10515600" cy="4987772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Case sensitive</a:t>
            </a:r>
          </a:p>
          <a:p>
            <a:r>
              <a:rPr lang="en-US" dirty="0" smtClean="0"/>
              <a:t>Can be any legal identifier:</a:t>
            </a:r>
          </a:p>
          <a:p>
            <a:pPr lvl="1"/>
            <a:r>
              <a:rPr lang="en-US" dirty="0" smtClean="0"/>
              <a:t>Unlimited-length sequence</a:t>
            </a:r>
          </a:p>
          <a:p>
            <a:pPr lvl="1"/>
            <a:r>
              <a:rPr lang="en-US" dirty="0" smtClean="0"/>
              <a:t>Begins with a letter</a:t>
            </a:r>
          </a:p>
          <a:p>
            <a:pPr lvl="1"/>
            <a:r>
              <a:rPr lang="en-US" dirty="0" smtClean="0"/>
              <a:t>Subsequent characters can be letters, digits, or “_”.</a:t>
            </a:r>
          </a:p>
          <a:p>
            <a:r>
              <a:rPr lang="en-US" dirty="0" smtClean="0"/>
              <a:t>All lower cases for the 1</a:t>
            </a:r>
            <a:r>
              <a:rPr lang="en-US" baseline="30000" dirty="0" smtClean="0"/>
              <a:t>st</a:t>
            </a:r>
            <a:r>
              <a:rPr lang="en-US" dirty="0" smtClean="0"/>
              <a:t> word, but capitalize the first letter of each subsequent word. </a:t>
            </a:r>
          </a:p>
          <a:p>
            <a:pPr lvl="1"/>
            <a:r>
              <a:rPr lang="en-US" dirty="0" smtClean="0"/>
              <a:t>E.g. </a:t>
            </a:r>
            <a:r>
              <a:rPr lang="en-US" dirty="0" err="1" smtClean="0">
                <a:solidFill>
                  <a:schemeClr val="accent5"/>
                </a:solidFill>
              </a:rPr>
              <a:t>int</a:t>
            </a:r>
            <a:r>
              <a:rPr lang="en-US" dirty="0" smtClean="0">
                <a:solidFill>
                  <a:schemeClr val="accent5"/>
                </a:solidFill>
              </a:rPr>
              <a:t> </a:t>
            </a:r>
            <a:r>
              <a:rPr lang="en-US" dirty="0" err="1" smtClean="0">
                <a:solidFill>
                  <a:schemeClr val="accent5"/>
                </a:solidFill>
              </a:rPr>
              <a:t>myFieldName</a:t>
            </a:r>
            <a:r>
              <a:rPr lang="en-US" dirty="0" smtClean="0">
                <a:solidFill>
                  <a:schemeClr val="accent5"/>
                </a:solidFill>
              </a:rPr>
              <a:t> = 1;</a:t>
            </a:r>
          </a:p>
          <a:p>
            <a:r>
              <a:rPr lang="en-US" dirty="0" smtClean="0"/>
              <a:t>Constants: capitalize all letters and separate words with “_”.</a:t>
            </a:r>
          </a:p>
          <a:p>
            <a:pPr lvl="1"/>
            <a:r>
              <a:rPr lang="en-US" dirty="0" smtClean="0"/>
              <a:t>E.g. </a:t>
            </a:r>
            <a:r>
              <a:rPr lang="en-US" dirty="0" smtClean="0">
                <a:solidFill>
                  <a:schemeClr val="accent5"/>
                </a:solidFill>
              </a:rPr>
              <a:t>static final </a:t>
            </a:r>
            <a:r>
              <a:rPr lang="en-US" dirty="0" err="1" smtClean="0">
                <a:solidFill>
                  <a:schemeClr val="accent5"/>
                </a:solidFill>
              </a:rPr>
              <a:t>int</a:t>
            </a:r>
            <a:r>
              <a:rPr lang="en-US" dirty="0" smtClean="0">
                <a:solidFill>
                  <a:schemeClr val="accent5"/>
                </a:solidFill>
              </a:rPr>
              <a:t> MY_CONSTANT_FIELD = 3;</a:t>
            </a:r>
          </a:p>
          <a:p>
            <a:r>
              <a:rPr lang="en-US" dirty="0" smtClean="0"/>
              <a:t>(Suggestion) Add “m_”, “l_”, or “x_” prefixes to fields, local variables, and parameters, respectively.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ABDB1-18BE-4FDA-B9ED-FBF356C892E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70993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Primitive Data Types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5"/>
                </a:solidFill>
              </a:rPr>
              <a:t>b</a:t>
            </a:r>
            <a:r>
              <a:rPr lang="en-US" dirty="0" smtClean="0">
                <a:solidFill>
                  <a:schemeClr val="accent5"/>
                </a:solidFill>
              </a:rPr>
              <a:t>yte</a:t>
            </a:r>
          </a:p>
          <a:p>
            <a:r>
              <a:rPr lang="en-US" dirty="0">
                <a:solidFill>
                  <a:schemeClr val="accent5"/>
                </a:solidFill>
              </a:rPr>
              <a:t>s</a:t>
            </a:r>
            <a:r>
              <a:rPr lang="en-US" dirty="0" smtClean="0">
                <a:solidFill>
                  <a:schemeClr val="accent5"/>
                </a:solidFill>
              </a:rPr>
              <a:t>hort</a:t>
            </a:r>
          </a:p>
          <a:p>
            <a:r>
              <a:rPr lang="en-US" dirty="0" err="1">
                <a:solidFill>
                  <a:schemeClr val="accent5"/>
                </a:solidFill>
              </a:rPr>
              <a:t>i</a:t>
            </a:r>
            <a:r>
              <a:rPr lang="en-US" dirty="0" err="1" smtClean="0">
                <a:solidFill>
                  <a:schemeClr val="accent5"/>
                </a:solidFill>
              </a:rPr>
              <a:t>nt</a:t>
            </a:r>
            <a:endParaRPr lang="en-US" dirty="0" smtClean="0">
              <a:solidFill>
                <a:schemeClr val="accent5"/>
              </a:solidFill>
            </a:endParaRPr>
          </a:p>
          <a:p>
            <a:r>
              <a:rPr lang="en-US" dirty="0">
                <a:solidFill>
                  <a:schemeClr val="accent5"/>
                </a:solidFill>
              </a:rPr>
              <a:t>l</a:t>
            </a:r>
            <a:r>
              <a:rPr lang="en-US" dirty="0" smtClean="0">
                <a:solidFill>
                  <a:schemeClr val="accent5"/>
                </a:solidFill>
              </a:rPr>
              <a:t>ong</a:t>
            </a:r>
          </a:p>
          <a:p>
            <a:r>
              <a:rPr lang="en-US" dirty="0">
                <a:solidFill>
                  <a:schemeClr val="accent5"/>
                </a:solidFill>
              </a:rPr>
              <a:t>f</a:t>
            </a:r>
            <a:r>
              <a:rPr lang="en-US" dirty="0" smtClean="0">
                <a:solidFill>
                  <a:schemeClr val="accent5"/>
                </a:solidFill>
              </a:rPr>
              <a:t>loat</a:t>
            </a:r>
          </a:p>
          <a:p>
            <a:r>
              <a:rPr lang="en-US" dirty="0">
                <a:solidFill>
                  <a:schemeClr val="accent5"/>
                </a:solidFill>
              </a:rPr>
              <a:t>d</a:t>
            </a:r>
            <a:r>
              <a:rPr lang="en-US" dirty="0" smtClean="0">
                <a:solidFill>
                  <a:schemeClr val="accent5"/>
                </a:solidFill>
              </a:rPr>
              <a:t>ouble</a:t>
            </a:r>
          </a:p>
          <a:p>
            <a:r>
              <a:rPr lang="en-US" dirty="0">
                <a:solidFill>
                  <a:schemeClr val="accent5"/>
                </a:solidFill>
              </a:rPr>
              <a:t>c</a:t>
            </a:r>
            <a:r>
              <a:rPr lang="en-US" dirty="0" smtClean="0">
                <a:solidFill>
                  <a:schemeClr val="accent5"/>
                </a:solidFill>
              </a:rPr>
              <a:t>har</a:t>
            </a:r>
          </a:p>
          <a:p>
            <a:r>
              <a:rPr lang="en-US" dirty="0" err="1">
                <a:solidFill>
                  <a:schemeClr val="accent5"/>
                </a:solidFill>
              </a:rPr>
              <a:t>b</a:t>
            </a:r>
            <a:r>
              <a:rPr lang="en-US" dirty="0" err="1" smtClean="0">
                <a:solidFill>
                  <a:schemeClr val="accent5"/>
                </a:solidFill>
              </a:rPr>
              <a:t>oolean</a:t>
            </a:r>
            <a:endParaRPr lang="en-US" dirty="0" smtClean="0">
              <a:solidFill>
                <a:schemeClr val="accent5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ABDB1-18BE-4FDA-B9ED-FBF356C892E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57965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Integer types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chemeClr val="accent5"/>
                </a:solidFill>
              </a:rPr>
              <a:t>b</a:t>
            </a:r>
            <a:r>
              <a:rPr lang="en-US" dirty="0" smtClean="0">
                <a:solidFill>
                  <a:schemeClr val="accent5"/>
                </a:solidFill>
              </a:rPr>
              <a:t>yte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8-bit signed integer using two’s complement representation</a:t>
            </a:r>
          </a:p>
          <a:p>
            <a:pPr lvl="1"/>
            <a:r>
              <a:rPr lang="en-US" dirty="0" smtClean="0"/>
              <a:t>Can represent an integer in [-128, 127]</a:t>
            </a:r>
          </a:p>
          <a:p>
            <a:pPr lvl="1"/>
            <a:r>
              <a:rPr lang="en-US" dirty="0" smtClean="0"/>
              <a:t>Used for saving memory in large arrays</a:t>
            </a:r>
          </a:p>
          <a:p>
            <a:r>
              <a:rPr lang="en-US" dirty="0">
                <a:solidFill>
                  <a:schemeClr val="accent5"/>
                </a:solidFill>
              </a:rPr>
              <a:t>s</a:t>
            </a:r>
            <a:r>
              <a:rPr lang="en-US" dirty="0" smtClean="0">
                <a:solidFill>
                  <a:schemeClr val="accent5"/>
                </a:solidFill>
              </a:rPr>
              <a:t>hort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Similar to byte, signed, but has 16 bits</a:t>
            </a:r>
          </a:p>
          <a:p>
            <a:pPr lvl="1"/>
            <a:r>
              <a:rPr lang="en-US" dirty="0" smtClean="0"/>
              <a:t>Range is [-32768, 32767]</a:t>
            </a:r>
          </a:p>
          <a:p>
            <a:r>
              <a:rPr lang="en-US" dirty="0" err="1">
                <a:solidFill>
                  <a:schemeClr val="accent5"/>
                </a:solidFill>
              </a:rPr>
              <a:t>i</a:t>
            </a:r>
            <a:r>
              <a:rPr lang="en-US" dirty="0" err="1" smtClean="0">
                <a:solidFill>
                  <a:schemeClr val="accent5"/>
                </a:solidFill>
              </a:rPr>
              <a:t>nt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Signed, with 32 bits</a:t>
            </a:r>
          </a:p>
          <a:p>
            <a:r>
              <a:rPr lang="en-US" dirty="0">
                <a:solidFill>
                  <a:schemeClr val="accent5"/>
                </a:solidFill>
              </a:rPr>
              <a:t>l</a:t>
            </a:r>
            <a:r>
              <a:rPr lang="en-US" dirty="0" smtClean="0">
                <a:solidFill>
                  <a:schemeClr val="accent5"/>
                </a:solidFill>
              </a:rPr>
              <a:t>ong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Signed, with 64 bits</a:t>
            </a:r>
          </a:p>
          <a:p>
            <a:r>
              <a:rPr lang="en-US" dirty="0" smtClean="0"/>
              <a:t>What are the ranges for </a:t>
            </a:r>
            <a:r>
              <a:rPr lang="en-US" dirty="0" err="1" smtClean="0">
                <a:solidFill>
                  <a:schemeClr val="accent5"/>
                </a:solidFill>
              </a:rPr>
              <a:t>int</a:t>
            </a:r>
            <a:r>
              <a:rPr lang="en-US" dirty="0" smtClean="0">
                <a:solidFill>
                  <a:schemeClr val="accent5"/>
                </a:solidFill>
              </a:rPr>
              <a:t> </a:t>
            </a:r>
            <a:r>
              <a:rPr lang="en-US" dirty="0" smtClean="0"/>
              <a:t>and </a:t>
            </a:r>
            <a:r>
              <a:rPr lang="en-US" dirty="0" smtClean="0">
                <a:solidFill>
                  <a:schemeClr val="accent5"/>
                </a:solidFill>
              </a:rPr>
              <a:t>long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ABDB1-18BE-4FDA-B9ED-FBF356C892E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29378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Ranges of Two’s Complement Numbers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range for a signed N-bit integer:</a:t>
            </a:r>
          </a:p>
          <a:p>
            <a:pPr marL="0" indent="0">
              <a:buNone/>
            </a:pPr>
            <a:r>
              <a:rPr lang="en-US" dirty="0" smtClean="0"/>
              <a:t>		[-2</a:t>
            </a:r>
            <a:r>
              <a:rPr lang="en-US" baseline="30000" dirty="0" smtClean="0"/>
              <a:t>N-1</a:t>
            </a:r>
            <a:r>
              <a:rPr lang="en-US" dirty="0" smtClean="0"/>
              <a:t>, 2</a:t>
            </a:r>
            <a:r>
              <a:rPr lang="en-US" baseline="30000" dirty="0" smtClean="0"/>
              <a:t>N-1</a:t>
            </a:r>
            <a:r>
              <a:rPr lang="en-US" dirty="0" smtClean="0"/>
              <a:t>-1]</a:t>
            </a:r>
            <a:endParaRPr lang="en-US" dirty="0"/>
          </a:p>
          <a:p>
            <a:endParaRPr lang="en-US" dirty="0" smtClean="0"/>
          </a:p>
          <a:p>
            <a:r>
              <a:rPr lang="en-US" dirty="0" smtClean="0"/>
              <a:t>What are the ranges for different integer types?</a:t>
            </a:r>
          </a:p>
          <a:p>
            <a:pPr lvl="1"/>
            <a:r>
              <a:rPr lang="en-US" dirty="0" smtClean="0">
                <a:solidFill>
                  <a:schemeClr val="accent5"/>
                </a:solidFill>
              </a:rPr>
              <a:t>byte</a:t>
            </a:r>
            <a:r>
              <a:rPr lang="en-US" dirty="0" smtClean="0"/>
              <a:t>: [-2</a:t>
            </a:r>
            <a:r>
              <a:rPr lang="en-US" baseline="30000" dirty="0"/>
              <a:t>7</a:t>
            </a:r>
            <a:r>
              <a:rPr lang="en-US" dirty="0" smtClean="0"/>
              <a:t>, 2</a:t>
            </a:r>
            <a:r>
              <a:rPr lang="en-US" baseline="30000" dirty="0"/>
              <a:t>7</a:t>
            </a:r>
            <a:r>
              <a:rPr lang="en-US" dirty="0" smtClean="0"/>
              <a:t>-1], i.e. [-128, 127]</a:t>
            </a:r>
          </a:p>
          <a:p>
            <a:pPr lvl="1"/>
            <a:r>
              <a:rPr lang="en-US" dirty="0" smtClean="0">
                <a:solidFill>
                  <a:schemeClr val="accent5"/>
                </a:solidFill>
              </a:rPr>
              <a:t>short</a:t>
            </a:r>
            <a:r>
              <a:rPr lang="en-US" dirty="0" smtClean="0"/>
              <a:t>: [-2</a:t>
            </a:r>
            <a:r>
              <a:rPr lang="en-US" baseline="30000" dirty="0" smtClean="0"/>
              <a:t>15</a:t>
            </a:r>
            <a:r>
              <a:rPr lang="en-US" dirty="0" smtClean="0"/>
              <a:t>, 2</a:t>
            </a:r>
            <a:r>
              <a:rPr lang="en-US" baseline="30000" dirty="0" smtClean="0"/>
              <a:t>15</a:t>
            </a:r>
            <a:r>
              <a:rPr lang="en-US" dirty="0" smtClean="0"/>
              <a:t>-1], i.e. [-32768, 32767]</a:t>
            </a:r>
          </a:p>
          <a:p>
            <a:pPr lvl="1"/>
            <a:r>
              <a:rPr lang="en-US" dirty="0" err="1" smtClean="0">
                <a:solidFill>
                  <a:schemeClr val="accent5"/>
                </a:solidFill>
              </a:rPr>
              <a:t>int</a:t>
            </a:r>
            <a:r>
              <a:rPr lang="en-US" dirty="0" smtClean="0"/>
              <a:t>: [-2</a:t>
            </a:r>
            <a:r>
              <a:rPr lang="en-US" baseline="30000" dirty="0" smtClean="0"/>
              <a:t>31</a:t>
            </a:r>
            <a:r>
              <a:rPr lang="en-US" dirty="0" smtClean="0"/>
              <a:t>, 2</a:t>
            </a:r>
            <a:r>
              <a:rPr lang="en-US" baseline="30000" dirty="0" smtClean="0"/>
              <a:t>31</a:t>
            </a:r>
            <a:r>
              <a:rPr lang="en-US" dirty="0" smtClean="0"/>
              <a:t>-1]</a:t>
            </a:r>
          </a:p>
          <a:p>
            <a:pPr lvl="1"/>
            <a:r>
              <a:rPr lang="en-US" dirty="0">
                <a:solidFill>
                  <a:schemeClr val="accent5"/>
                </a:solidFill>
              </a:rPr>
              <a:t>l</a:t>
            </a:r>
            <a:r>
              <a:rPr lang="en-US" dirty="0" smtClean="0">
                <a:solidFill>
                  <a:schemeClr val="accent5"/>
                </a:solidFill>
              </a:rPr>
              <a:t>ong</a:t>
            </a:r>
            <a:r>
              <a:rPr lang="en-US" dirty="0" smtClean="0"/>
              <a:t>: [-2</a:t>
            </a:r>
            <a:r>
              <a:rPr lang="en-US" baseline="30000" dirty="0" smtClean="0"/>
              <a:t>63</a:t>
            </a:r>
            <a:r>
              <a:rPr lang="en-US" dirty="0" smtClean="0"/>
              <a:t>, 2</a:t>
            </a:r>
            <a:r>
              <a:rPr lang="en-US" baseline="30000" dirty="0" smtClean="0"/>
              <a:t>63</a:t>
            </a:r>
            <a:r>
              <a:rPr lang="en-US" dirty="0" smtClean="0"/>
              <a:t>-1]</a:t>
            </a:r>
          </a:p>
          <a:p>
            <a:pPr lvl="1"/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ABDB1-18BE-4FDA-B9ED-FBF356C892E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5191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Floating Points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5"/>
                </a:solidFill>
              </a:rPr>
              <a:t>f</a:t>
            </a:r>
            <a:r>
              <a:rPr lang="en-US" dirty="0" smtClean="0">
                <a:solidFill>
                  <a:schemeClr val="accent5"/>
                </a:solidFill>
              </a:rPr>
              <a:t>loat</a:t>
            </a:r>
            <a:r>
              <a:rPr lang="en-US" dirty="0" smtClean="0"/>
              <a:t>: single precision, 32-bit IEEE 754 floating point</a:t>
            </a:r>
          </a:p>
          <a:p>
            <a:r>
              <a:rPr lang="en-US" dirty="0">
                <a:solidFill>
                  <a:schemeClr val="accent5"/>
                </a:solidFill>
              </a:rPr>
              <a:t>d</a:t>
            </a:r>
            <a:r>
              <a:rPr lang="en-US" dirty="0" smtClean="0">
                <a:solidFill>
                  <a:schemeClr val="accent5"/>
                </a:solidFill>
              </a:rPr>
              <a:t>ouble</a:t>
            </a:r>
            <a:r>
              <a:rPr lang="en-US" dirty="0" smtClean="0"/>
              <a:t>: double precision, 64-bit IEEE 754 floating point</a:t>
            </a:r>
          </a:p>
          <a:p>
            <a:r>
              <a:rPr lang="en-US" dirty="0" smtClean="0"/>
              <a:t>Both the range and the precision are different!</a:t>
            </a:r>
          </a:p>
          <a:p>
            <a:endParaRPr lang="en-US" dirty="0"/>
          </a:p>
          <a:p>
            <a:r>
              <a:rPr lang="en-US" dirty="0" smtClean="0"/>
              <a:t>For extremely precise values, e.g. currency:</a:t>
            </a:r>
          </a:p>
          <a:p>
            <a:pPr lvl="1"/>
            <a:r>
              <a:rPr lang="en-US" dirty="0" smtClean="0"/>
              <a:t>Use </a:t>
            </a:r>
            <a:r>
              <a:rPr lang="en-US" dirty="0" err="1" smtClean="0"/>
              <a:t>java.math.BigDecimal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ABDB1-18BE-4FDA-B9ED-FBF356C892E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6342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Characters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5"/>
                </a:solidFill>
              </a:rPr>
              <a:t>c</a:t>
            </a:r>
            <a:r>
              <a:rPr lang="en-US" dirty="0" smtClean="0">
                <a:solidFill>
                  <a:schemeClr val="accent5"/>
                </a:solidFill>
              </a:rPr>
              <a:t>har</a:t>
            </a:r>
            <a:r>
              <a:rPr lang="en-US" dirty="0" smtClean="0"/>
              <a:t>: </a:t>
            </a:r>
          </a:p>
          <a:p>
            <a:pPr lvl="1"/>
            <a:r>
              <a:rPr lang="en-US" dirty="0" smtClean="0"/>
              <a:t>16 bits, unsigned</a:t>
            </a:r>
          </a:p>
          <a:p>
            <a:pPr lvl="1"/>
            <a:r>
              <a:rPr lang="en-US" dirty="0" smtClean="0"/>
              <a:t>Range (in hexadecimal, binary, and decimal): </a:t>
            </a:r>
          </a:p>
          <a:p>
            <a:pPr lvl="2"/>
            <a:r>
              <a:rPr lang="en-US" dirty="0" smtClean="0"/>
              <a:t>[0x0, 0xffff] = [0b0, 0b1111_1111_1111_1111] = [0, 2</a:t>
            </a:r>
            <a:r>
              <a:rPr lang="en-US" baseline="30000" dirty="0" smtClean="0"/>
              <a:t>16</a:t>
            </a:r>
            <a:r>
              <a:rPr lang="en-US" dirty="0" smtClean="0"/>
              <a:t>-1]</a:t>
            </a:r>
          </a:p>
          <a:p>
            <a:r>
              <a:rPr lang="en-US" dirty="0" smtClean="0"/>
              <a:t>ASCII:</a:t>
            </a:r>
          </a:p>
          <a:p>
            <a:pPr lvl="1"/>
            <a:r>
              <a:rPr lang="en-US" dirty="0" smtClean="0"/>
              <a:t>American Standard Code for Information Interchange</a:t>
            </a:r>
          </a:p>
          <a:p>
            <a:pPr lvl="1"/>
            <a:r>
              <a:rPr lang="en-US" dirty="0" smtClean="0"/>
              <a:t>A table that maps integers to characters (e.g. 65 to A, 97 to a)</a:t>
            </a:r>
          </a:p>
          <a:p>
            <a:r>
              <a:rPr lang="en-US" dirty="0" smtClean="0"/>
              <a:t>Java actually uses Unicode, which includes ASCII and other characters from different languages</a:t>
            </a:r>
          </a:p>
          <a:p>
            <a:pPr lvl="1"/>
            <a:r>
              <a:rPr lang="en-US" dirty="0"/>
              <a:t>Unicode table: http://</a:t>
            </a:r>
            <a:r>
              <a:rPr lang="en-US" dirty="0" smtClean="0"/>
              <a:t>unicode-table.com/en/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ABDB1-18BE-4FDA-B9ED-FBF356C892E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11402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Boolean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>
                <a:solidFill>
                  <a:schemeClr val="accent5"/>
                </a:solidFill>
              </a:rPr>
              <a:t>boolean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Has only two values (</a:t>
            </a:r>
            <a:r>
              <a:rPr lang="en-US" dirty="0" smtClean="0">
                <a:solidFill>
                  <a:schemeClr val="accent5"/>
                </a:solidFill>
              </a:rPr>
              <a:t>true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chemeClr val="accent5"/>
                </a:solidFill>
              </a:rPr>
              <a:t>false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Its size is not precisely defined.</a:t>
            </a:r>
          </a:p>
          <a:p>
            <a:endParaRPr lang="en-US" dirty="0"/>
          </a:p>
          <a:p>
            <a:r>
              <a:rPr lang="en-US" dirty="0" smtClean="0"/>
              <a:t>In Java, an </a:t>
            </a:r>
            <a:r>
              <a:rPr lang="en-US" dirty="0" err="1" smtClean="0">
                <a:solidFill>
                  <a:schemeClr val="accent5"/>
                </a:solidFill>
              </a:rPr>
              <a:t>int</a:t>
            </a:r>
            <a:r>
              <a:rPr lang="en-US" dirty="0" smtClean="0">
                <a:solidFill>
                  <a:schemeClr val="accent5"/>
                </a:solidFill>
              </a:rPr>
              <a:t> </a:t>
            </a:r>
            <a:r>
              <a:rPr lang="en-US" dirty="0" smtClean="0"/>
              <a:t>value cannot be automatically used as a </a:t>
            </a:r>
            <a:r>
              <a:rPr lang="en-US" dirty="0" err="1" smtClean="0">
                <a:solidFill>
                  <a:schemeClr val="accent5"/>
                </a:solidFill>
              </a:rPr>
              <a:t>boolean</a:t>
            </a:r>
            <a:r>
              <a:rPr lang="en-US" dirty="0" smtClean="0">
                <a:solidFill>
                  <a:schemeClr val="accent5"/>
                </a:solidFill>
              </a:rPr>
              <a:t> </a:t>
            </a:r>
            <a:r>
              <a:rPr lang="en-US" dirty="0" smtClean="0"/>
              <a:t>value.</a:t>
            </a:r>
          </a:p>
          <a:p>
            <a:pPr lvl="1"/>
            <a:r>
              <a:rPr lang="en-US" dirty="0" smtClean="0"/>
              <a:t>E.g. </a:t>
            </a:r>
            <a:r>
              <a:rPr lang="en-US" dirty="0" err="1" smtClean="0">
                <a:solidFill>
                  <a:schemeClr val="accent5"/>
                </a:solidFill>
              </a:rPr>
              <a:t>int</a:t>
            </a:r>
            <a:r>
              <a:rPr lang="en-US" dirty="0" smtClean="0">
                <a:solidFill>
                  <a:schemeClr val="accent5"/>
                </a:solidFill>
              </a:rPr>
              <a:t> </a:t>
            </a:r>
            <a:r>
              <a:rPr lang="en-US" dirty="0" err="1" smtClean="0">
                <a:solidFill>
                  <a:schemeClr val="accent5"/>
                </a:solidFill>
              </a:rPr>
              <a:t>i</a:t>
            </a:r>
            <a:r>
              <a:rPr lang="en-US" dirty="0" smtClean="0">
                <a:solidFill>
                  <a:schemeClr val="accent5"/>
                </a:solidFill>
              </a:rPr>
              <a:t> = 3; if (</a:t>
            </a:r>
            <a:r>
              <a:rPr lang="en-US" dirty="0" err="1" smtClean="0">
                <a:solidFill>
                  <a:schemeClr val="accent5"/>
                </a:solidFill>
              </a:rPr>
              <a:t>i</a:t>
            </a:r>
            <a:r>
              <a:rPr lang="en-US" dirty="0" smtClean="0">
                <a:solidFill>
                  <a:schemeClr val="accent5"/>
                </a:solidFill>
              </a:rPr>
              <a:t>) {…} </a:t>
            </a:r>
            <a:r>
              <a:rPr lang="en-US" dirty="0" smtClean="0"/>
              <a:t>won’t work.</a:t>
            </a:r>
          </a:p>
          <a:p>
            <a:pPr lvl="1"/>
            <a:r>
              <a:rPr lang="en-US" dirty="0" smtClean="0"/>
              <a:t>Instead, you should use something like: </a:t>
            </a:r>
            <a:r>
              <a:rPr lang="en-US" dirty="0" smtClean="0">
                <a:solidFill>
                  <a:schemeClr val="accent5"/>
                </a:solidFill>
              </a:rPr>
              <a:t>if (</a:t>
            </a:r>
            <a:r>
              <a:rPr lang="en-US" dirty="0" err="1" smtClean="0">
                <a:solidFill>
                  <a:schemeClr val="accent5"/>
                </a:solidFill>
              </a:rPr>
              <a:t>i</a:t>
            </a:r>
            <a:r>
              <a:rPr lang="en-US" dirty="0" smtClean="0">
                <a:solidFill>
                  <a:schemeClr val="accent5"/>
                </a:solidFill>
              </a:rPr>
              <a:t> != 0) {…}</a:t>
            </a:r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ABDB1-18BE-4FDA-B9ED-FBF356C892E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45744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Default Values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13030"/>
            <a:ext cx="10515600" cy="4351338"/>
          </a:xfrm>
        </p:spPr>
        <p:txBody>
          <a:bodyPr/>
          <a:lstStyle/>
          <a:p>
            <a:r>
              <a:rPr lang="en-US" dirty="0" smtClean="0"/>
              <a:t>Local variables must be initialized explicitly!</a:t>
            </a:r>
          </a:p>
          <a:p>
            <a:pPr lvl="1"/>
            <a:r>
              <a:rPr lang="en-US" dirty="0" smtClean="0"/>
              <a:t>Otherwise, you will get a compilation error</a:t>
            </a:r>
          </a:p>
          <a:p>
            <a:r>
              <a:rPr lang="en-US" dirty="0" smtClean="0"/>
              <a:t>Fields of a class will be set to a reasonable default if not initialized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4929315"/>
              </p:ext>
            </p:extLst>
          </p:nvPr>
        </p:nvGraphicFramePr>
        <p:xfrm>
          <a:off x="1496742" y="2845498"/>
          <a:ext cx="8128000" cy="37473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1961"/>
                <a:gridCol w="4116039"/>
              </a:tblGrid>
              <a:tr h="304263">
                <a:tc>
                  <a:txBody>
                    <a:bodyPr/>
                    <a:lstStyle/>
                    <a:p>
                      <a:r>
                        <a:rPr lang="en-US" dirty="0" smtClean="0"/>
                        <a:t>Data Type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Default Value</a:t>
                      </a:r>
                      <a:r>
                        <a:rPr lang="en-US" baseline="0" dirty="0" smtClean="0"/>
                        <a:t> (for fields)</a:t>
                      </a:r>
                      <a:endParaRPr lang="en-US" dirty="0"/>
                    </a:p>
                  </a:txBody>
                  <a:tcPr/>
                </a:tc>
              </a:tr>
              <a:tr h="304263">
                <a:tc>
                  <a:txBody>
                    <a:bodyPr/>
                    <a:lstStyle/>
                    <a:p>
                      <a:r>
                        <a:rPr lang="en-US" dirty="0" smtClean="0"/>
                        <a:t>byte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304263">
                <a:tc>
                  <a:txBody>
                    <a:bodyPr/>
                    <a:lstStyle/>
                    <a:p>
                      <a:r>
                        <a:rPr lang="en-US" dirty="0" smtClean="0"/>
                        <a:t>short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304263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int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304263">
                <a:tc>
                  <a:txBody>
                    <a:bodyPr/>
                    <a:lstStyle/>
                    <a:p>
                      <a:r>
                        <a:rPr lang="en-US" dirty="0" smtClean="0"/>
                        <a:t>long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304263">
                <a:tc>
                  <a:txBody>
                    <a:bodyPr/>
                    <a:lstStyle/>
                    <a:p>
                      <a:r>
                        <a:rPr lang="en-US" dirty="0" smtClean="0"/>
                        <a:t>float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0.0f</a:t>
                      </a:r>
                      <a:endParaRPr lang="en-US" dirty="0"/>
                    </a:p>
                  </a:txBody>
                  <a:tcPr/>
                </a:tc>
              </a:tr>
              <a:tr h="304263">
                <a:tc>
                  <a:txBody>
                    <a:bodyPr/>
                    <a:lstStyle/>
                    <a:p>
                      <a:r>
                        <a:rPr lang="en-US" dirty="0" smtClean="0"/>
                        <a:t>double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0.0d</a:t>
                      </a:r>
                      <a:endParaRPr lang="en-US" dirty="0"/>
                    </a:p>
                  </a:txBody>
                  <a:tcPr/>
                </a:tc>
              </a:tr>
              <a:tr h="304263">
                <a:tc>
                  <a:txBody>
                    <a:bodyPr/>
                    <a:lstStyle/>
                    <a:p>
                      <a:r>
                        <a:rPr lang="en-US" dirty="0" smtClean="0"/>
                        <a:t>char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‘A’</a:t>
                      </a:r>
                      <a:endParaRPr lang="en-US" dirty="0"/>
                    </a:p>
                  </a:txBody>
                  <a:tcPr/>
                </a:tc>
              </a:tr>
              <a:tr h="304263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boolean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false</a:t>
                      </a:r>
                      <a:endParaRPr lang="en-US" dirty="0"/>
                    </a:p>
                  </a:txBody>
                  <a:tcPr/>
                </a:tc>
              </a:tr>
              <a:tr h="45548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String (or any object)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null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ABDB1-18BE-4FDA-B9ED-FBF356C892E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53474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Literals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1088"/>
            <a:ext cx="10515600" cy="4909712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The source code representation of fixed values</a:t>
            </a:r>
          </a:p>
          <a:p>
            <a:r>
              <a:rPr lang="en-US" dirty="0" smtClean="0"/>
              <a:t>Integers (</a:t>
            </a:r>
            <a:r>
              <a:rPr lang="en-US" dirty="0" smtClean="0">
                <a:solidFill>
                  <a:srgbClr val="FF0000"/>
                </a:solidFill>
              </a:rPr>
              <a:t>default is </a:t>
            </a:r>
            <a:r>
              <a:rPr lang="en-US" dirty="0" err="1" smtClean="0">
                <a:solidFill>
                  <a:schemeClr val="accent5"/>
                </a:solidFill>
              </a:rPr>
              <a:t>int</a:t>
            </a:r>
            <a:r>
              <a:rPr lang="en-US" dirty="0" smtClean="0"/>
              <a:t>):</a:t>
            </a:r>
          </a:p>
          <a:p>
            <a:pPr lvl="1"/>
            <a:r>
              <a:rPr lang="en-US" dirty="0">
                <a:solidFill>
                  <a:schemeClr val="accent5"/>
                </a:solidFill>
              </a:rPr>
              <a:t>l</a:t>
            </a:r>
            <a:r>
              <a:rPr lang="en-US" dirty="0" smtClean="0">
                <a:solidFill>
                  <a:schemeClr val="accent5"/>
                </a:solidFill>
              </a:rPr>
              <a:t>ong</a:t>
            </a:r>
            <a:r>
              <a:rPr lang="en-US" dirty="0" smtClean="0"/>
              <a:t>: </a:t>
            </a:r>
            <a:r>
              <a:rPr lang="en-US" dirty="0" smtClean="0">
                <a:solidFill>
                  <a:schemeClr val="accent5"/>
                </a:solidFill>
              </a:rPr>
              <a:t>10000000L</a:t>
            </a:r>
          </a:p>
          <a:p>
            <a:pPr lvl="1"/>
            <a:r>
              <a:rPr lang="en-US" dirty="0" smtClean="0"/>
              <a:t>Number systems: </a:t>
            </a:r>
            <a:r>
              <a:rPr lang="en-US" dirty="0" smtClean="0">
                <a:solidFill>
                  <a:schemeClr val="accent5"/>
                </a:solidFill>
              </a:rPr>
              <a:t>26</a:t>
            </a:r>
            <a:r>
              <a:rPr lang="en-US" dirty="0" smtClean="0"/>
              <a:t> (decimal), </a:t>
            </a:r>
            <a:r>
              <a:rPr lang="en-US" dirty="0" smtClean="0">
                <a:solidFill>
                  <a:schemeClr val="accent5"/>
                </a:solidFill>
              </a:rPr>
              <a:t>0x1a</a:t>
            </a:r>
            <a:r>
              <a:rPr lang="en-US" dirty="0" smtClean="0"/>
              <a:t> (hex), </a:t>
            </a:r>
            <a:r>
              <a:rPr lang="en-US" dirty="0" smtClean="0">
                <a:solidFill>
                  <a:schemeClr val="accent5"/>
                </a:solidFill>
              </a:rPr>
              <a:t>0b1101</a:t>
            </a:r>
            <a:r>
              <a:rPr lang="en-US" dirty="0" smtClean="0"/>
              <a:t> (binary)</a:t>
            </a:r>
          </a:p>
          <a:p>
            <a:pPr lvl="1"/>
            <a:r>
              <a:rPr lang="en-US" dirty="0" smtClean="0"/>
              <a:t>Any number of underscores can appear anywhere between digits:</a:t>
            </a:r>
          </a:p>
          <a:p>
            <a:pPr lvl="2"/>
            <a:r>
              <a:rPr lang="en-US" dirty="0" smtClean="0"/>
              <a:t>E.g., </a:t>
            </a:r>
            <a:r>
              <a:rPr lang="en-US" dirty="0" smtClean="0">
                <a:solidFill>
                  <a:schemeClr val="accent5"/>
                </a:solidFill>
              </a:rPr>
              <a:t>1234_5678_9012_3456L</a:t>
            </a:r>
            <a:r>
              <a:rPr lang="en-US" dirty="0" smtClean="0"/>
              <a:t>, </a:t>
            </a:r>
            <a:r>
              <a:rPr lang="en-US" dirty="0" smtClean="0">
                <a:solidFill>
                  <a:schemeClr val="accent5"/>
                </a:solidFill>
              </a:rPr>
              <a:t>0xff_ffff_1234, 0b10_1100_0000</a:t>
            </a:r>
          </a:p>
          <a:p>
            <a:pPr lvl="2"/>
            <a:r>
              <a:rPr lang="en-US" dirty="0" smtClean="0"/>
              <a:t>Improves code readability</a:t>
            </a:r>
          </a:p>
          <a:p>
            <a:r>
              <a:rPr lang="en-US" dirty="0" smtClean="0"/>
              <a:t>Floating points (</a:t>
            </a:r>
            <a:r>
              <a:rPr lang="en-US" dirty="0" smtClean="0">
                <a:solidFill>
                  <a:srgbClr val="FF0000"/>
                </a:solidFill>
              </a:rPr>
              <a:t>default is</a:t>
            </a:r>
            <a:r>
              <a:rPr lang="en-US" dirty="0" smtClean="0"/>
              <a:t> </a:t>
            </a:r>
            <a:r>
              <a:rPr lang="en-US" dirty="0" smtClean="0">
                <a:solidFill>
                  <a:schemeClr val="accent5"/>
                </a:solidFill>
              </a:rPr>
              <a:t>double</a:t>
            </a:r>
            <a:r>
              <a:rPr lang="en-US" dirty="0" smtClean="0"/>
              <a:t>):</a:t>
            </a:r>
          </a:p>
          <a:p>
            <a:pPr lvl="1"/>
            <a:r>
              <a:rPr lang="en-US" dirty="0">
                <a:solidFill>
                  <a:schemeClr val="accent5"/>
                </a:solidFill>
              </a:rPr>
              <a:t>f</a:t>
            </a:r>
            <a:r>
              <a:rPr lang="en-US" dirty="0" smtClean="0">
                <a:solidFill>
                  <a:schemeClr val="accent5"/>
                </a:solidFill>
              </a:rPr>
              <a:t>loat</a:t>
            </a:r>
            <a:r>
              <a:rPr lang="en-US" dirty="0" smtClean="0"/>
              <a:t>: </a:t>
            </a:r>
            <a:r>
              <a:rPr lang="en-US" dirty="0" smtClean="0">
                <a:solidFill>
                  <a:schemeClr val="accent5"/>
                </a:solidFill>
              </a:rPr>
              <a:t>123.4f</a:t>
            </a:r>
          </a:p>
          <a:p>
            <a:pPr lvl="1"/>
            <a:r>
              <a:rPr lang="en-US" dirty="0">
                <a:solidFill>
                  <a:schemeClr val="accent5"/>
                </a:solidFill>
              </a:rPr>
              <a:t>d</a:t>
            </a:r>
            <a:r>
              <a:rPr lang="en-US" dirty="0" smtClean="0">
                <a:solidFill>
                  <a:schemeClr val="accent5"/>
                </a:solidFill>
              </a:rPr>
              <a:t>ouble</a:t>
            </a:r>
            <a:r>
              <a:rPr lang="en-US" dirty="0" smtClean="0"/>
              <a:t>: </a:t>
            </a:r>
            <a:r>
              <a:rPr lang="en-US" dirty="0" smtClean="0">
                <a:solidFill>
                  <a:schemeClr val="accent5"/>
                </a:solidFill>
              </a:rPr>
              <a:t>123.4567d</a:t>
            </a:r>
          </a:p>
          <a:p>
            <a:r>
              <a:rPr lang="en-US" dirty="0" smtClean="0"/>
              <a:t>Characters: </a:t>
            </a:r>
          </a:p>
          <a:p>
            <a:pPr lvl="1"/>
            <a:r>
              <a:rPr lang="en-US" dirty="0" smtClean="0"/>
              <a:t>Use single quotes: </a:t>
            </a:r>
            <a:r>
              <a:rPr lang="en-US" dirty="0" smtClean="0">
                <a:solidFill>
                  <a:schemeClr val="accent5"/>
                </a:solidFill>
              </a:rPr>
              <a:t>‘c’, ‘3’, ‘\n’</a:t>
            </a:r>
          </a:p>
          <a:p>
            <a:pPr lvl="1"/>
            <a:r>
              <a:rPr lang="en-US" dirty="0" smtClean="0"/>
              <a:t>Escape sequences: </a:t>
            </a:r>
            <a:r>
              <a:rPr lang="en-US" dirty="0" smtClean="0">
                <a:solidFill>
                  <a:schemeClr val="accent5"/>
                </a:solidFill>
              </a:rPr>
              <a:t>\b, \t, \n, \”, \’, \\</a:t>
            </a:r>
          </a:p>
          <a:p>
            <a:pPr lvl="1"/>
            <a:r>
              <a:rPr lang="en-US" dirty="0" smtClean="0"/>
              <a:t>Strings use double quotes: </a:t>
            </a:r>
            <a:r>
              <a:rPr lang="en-US" dirty="0" smtClean="0">
                <a:solidFill>
                  <a:schemeClr val="accent5"/>
                </a:solidFill>
              </a:rPr>
              <a:t>“I\’m a string”</a:t>
            </a:r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ABDB1-18BE-4FDA-B9ED-FBF356C892E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71234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Arrays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container object that holds a fixed number of values of a single type</a:t>
            </a:r>
          </a:p>
          <a:p>
            <a:pPr lvl="1"/>
            <a:r>
              <a:rPr lang="en-US" dirty="0" smtClean="0"/>
              <a:t>The length is established when array is created, and is fixed after that</a:t>
            </a:r>
          </a:p>
          <a:p>
            <a:pPr lvl="1"/>
            <a:r>
              <a:rPr lang="en-US" dirty="0" smtClean="0"/>
              <a:t>Each item is called an element</a:t>
            </a:r>
          </a:p>
          <a:p>
            <a:pPr lvl="1"/>
            <a:r>
              <a:rPr lang="en-US" dirty="0" smtClean="0"/>
              <a:t>Each element is accessed by its index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645" y="4001294"/>
            <a:ext cx="6293818" cy="2175669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ABDB1-18BE-4FDA-B9ED-FBF356C892E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6208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Array Operations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94624"/>
            <a:ext cx="10515600" cy="4772721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Declare an array, allocate the memory, and initialize it:</a:t>
            </a:r>
          </a:p>
          <a:p>
            <a:pPr marL="457200" lvl="1" indent="0">
              <a:buNone/>
            </a:pPr>
            <a:r>
              <a:rPr lang="en-US" dirty="0" err="1">
                <a:solidFill>
                  <a:schemeClr val="accent5"/>
                </a:solidFill>
              </a:rPr>
              <a:t>i</a:t>
            </a:r>
            <a:r>
              <a:rPr lang="en-US" dirty="0" err="1" smtClean="0">
                <a:solidFill>
                  <a:schemeClr val="accent5"/>
                </a:solidFill>
              </a:rPr>
              <a:t>nt</a:t>
            </a:r>
            <a:r>
              <a:rPr lang="en-US" dirty="0" smtClean="0">
                <a:solidFill>
                  <a:schemeClr val="accent5"/>
                </a:solidFill>
              </a:rPr>
              <a:t>[] </a:t>
            </a:r>
            <a:r>
              <a:rPr lang="en-US" dirty="0" err="1" smtClean="0">
                <a:solidFill>
                  <a:schemeClr val="accent5"/>
                </a:solidFill>
              </a:rPr>
              <a:t>myArray</a:t>
            </a:r>
            <a:r>
              <a:rPr lang="en-US" dirty="0" smtClean="0">
                <a:solidFill>
                  <a:schemeClr val="accent5"/>
                </a:solidFill>
              </a:rPr>
              <a:t>; </a:t>
            </a:r>
            <a:r>
              <a:rPr lang="en-US" dirty="0" err="1" smtClean="0">
                <a:solidFill>
                  <a:schemeClr val="accent5"/>
                </a:solidFill>
              </a:rPr>
              <a:t>myArray</a:t>
            </a:r>
            <a:r>
              <a:rPr lang="en-US" dirty="0" smtClean="0">
                <a:solidFill>
                  <a:schemeClr val="accent5"/>
                </a:solidFill>
              </a:rPr>
              <a:t> = new </a:t>
            </a:r>
            <a:r>
              <a:rPr lang="en-US" dirty="0" err="1" smtClean="0">
                <a:solidFill>
                  <a:schemeClr val="accent5"/>
                </a:solidFill>
              </a:rPr>
              <a:t>int</a:t>
            </a:r>
            <a:r>
              <a:rPr lang="en-US" dirty="0" smtClean="0">
                <a:solidFill>
                  <a:schemeClr val="accent5"/>
                </a:solidFill>
              </a:rPr>
              <a:t>[5];</a:t>
            </a:r>
            <a:endParaRPr lang="en-US" dirty="0">
              <a:solidFill>
                <a:schemeClr val="accent5"/>
              </a:solidFill>
            </a:endParaRPr>
          </a:p>
          <a:p>
            <a:pPr marL="457200" lvl="1" indent="0">
              <a:buNone/>
            </a:pPr>
            <a:r>
              <a:rPr lang="en-US" dirty="0" err="1" smtClean="0">
                <a:solidFill>
                  <a:schemeClr val="accent5"/>
                </a:solidFill>
              </a:rPr>
              <a:t>myArray</a:t>
            </a:r>
            <a:r>
              <a:rPr lang="en-US" dirty="0" smtClean="0">
                <a:solidFill>
                  <a:schemeClr val="accent5"/>
                </a:solidFill>
              </a:rPr>
              <a:t>[0] = 0; </a:t>
            </a:r>
            <a:r>
              <a:rPr lang="en-US" dirty="0" err="1" smtClean="0">
                <a:solidFill>
                  <a:schemeClr val="accent5"/>
                </a:solidFill>
              </a:rPr>
              <a:t>myArray</a:t>
            </a:r>
            <a:r>
              <a:rPr lang="en-US" dirty="0" smtClean="0">
                <a:solidFill>
                  <a:schemeClr val="accent5"/>
                </a:solidFill>
              </a:rPr>
              <a:t>[1] = 100; ……; </a:t>
            </a:r>
            <a:r>
              <a:rPr lang="en-US" dirty="0" err="1" smtClean="0">
                <a:solidFill>
                  <a:schemeClr val="accent5"/>
                </a:solidFill>
              </a:rPr>
              <a:t>myArray</a:t>
            </a:r>
            <a:r>
              <a:rPr lang="en-US" dirty="0" smtClean="0">
                <a:solidFill>
                  <a:schemeClr val="accent5"/>
                </a:solidFill>
              </a:rPr>
              <a:t>[4] = 400;</a:t>
            </a:r>
          </a:p>
          <a:p>
            <a:r>
              <a:rPr lang="en-US" dirty="0" smtClean="0"/>
              <a:t>Alternatively:</a:t>
            </a:r>
          </a:p>
          <a:p>
            <a:pPr marL="457200" lvl="1" indent="0">
              <a:buNone/>
            </a:pPr>
            <a:r>
              <a:rPr lang="en-US" dirty="0" err="1">
                <a:solidFill>
                  <a:schemeClr val="accent5"/>
                </a:solidFill>
              </a:rPr>
              <a:t>i</a:t>
            </a:r>
            <a:r>
              <a:rPr lang="en-US" dirty="0" err="1" smtClean="0">
                <a:solidFill>
                  <a:schemeClr val="accent5"/>
                </a:solidFill>
              </a:rPr>
              <a:t>nt</a:t>
            </a:r>
            <a:r>
              <a:rPr lang="en-US" dirty="0" smtClean="0">
                <a:solidFill>
                  <a:schemeClr val="accent5"/>
                </a:solidFill>
              </a:rPr>
              <a:t>[] </a:t>
            </a:r>
            <a:r>
              <a:rPr lang="en-US" dirty="0" err="1" smtClean="0">
                <a:solidFill>
                  <a:schemeClr val="accent5"/>
                </a:solidFill>
              </a:rPr>
              <a:t>myArray</a:t>
            </a:r>
            <a:r>
              <a:rPr lang="en-US" dirty="0" smtClean="0">
                <a:solidFill>
                  <a:schemeClr val="accent5"/>
                </a:solidFill>
              </a:rPr>
              <a:t> = {0, 100, 200, 300, 400};</a:t>
            </a:r>
          </a:p>
          <a:p>
            <a:r>
              <a:rPr lang="en-US" dirty="0" smtClean="0"/>
              <a:t>Accessing the array element:</a:t>
            </a:r>
          </a:p>
          <a:p>
            <a:pPr marL="457200" lvl="1" indent="0">
              <a:buNone/>
            </a:pPr>
            <a:r>
              <a:rPr lang="en-US" dirty="0" err="1">
                <a:solidFill>
                  <a:schemeClr val="accent5"/>
                </a:solidFill>
              </a:rPr>
              <a:t>i</a:t>
            </a:r>
            <a:r>
              <a:rPr lang="en-US" dirty="0" err="1" smtClean="0">
                <a:solidFill>
                  <a:schemeClr val="accent5"/>
                </a:solidFill>
              </a:rPr>
              <a:t>nt</a:t>
            </a:r>
            <a:r>
              <a:rPr lang="en-US" dirty="0" smtClean="0">
                <a:solidFill>
                  <a:schemeClr val="accent5"/>
                </a:solidFill>
              </a:rPr>
              <a:t> </a:t>
            </a:r>
            <a:r>
              <a:rPr lang="en-US" dirty="0" err="1" smtClean="0">
                <a:solidFill>
                  <a:schemeClr val="accent5"/>
                </a:solidFill>
              </a:rPr>
              <a:t>myVar</a:t>
            </a:r>
            <a:r>
              <a:rPr lang="en-US" dirty="0" smtClean="0">
                <a:solidFill>
                  <a:schemeClr val="accent5"/>
                </a:solidFill>
              </a:rPr>
              <a:t> = </a:t>
            </a:r>
            <a:r>
              <a:rPr lang="en-US" dirty="0" err="1" smtClean="0">
                <a:solidFill>
                  <a:schemeClr val="accent5"/>
                </a:solidFill>
              </a:rPr>
              <a:t>myArray</a:t>
            </a:r>
            <a:r>
              <a:rPr lang="en-US" dirty="0" smtClean="0">
                <a:solidFill>
                  <a:schemeClr val="accent5"/>
                </a:solidFill>
              </a:rPr>
              <a:t>[3];</a:t>
            </a:r>
          </a:p>
          <a:p>
            <a:r>
              <a:rPr lang="en-US" dirty="0"/>
              <a:t>Can we </a:t>
            </a:r>
            <a:r>
              <a:rPr lang="en-US" dirty="0" smtClean="0"/>
              <a:t>access an “out-of-bound” element? </a:t>
            </a:r>
            <a:r>
              <a:rPr lang="en-US" dirty="0">
                <a:solidFill>
                  <a:srgbClr val="FF0000"/>
                </a:solidFill>
              </a:rPr>
              <a:t>No!</a:t>
            </a:r>
          </a:p>
          <a:p>
            <a:pPr marL="457200" lvl="1" indent="0">
              <a:buNone/>
            </a:pPr>
            <a:r>
              <a:rPr lang="en-US" dirty="0" err="1">
                <a:solidFill>
                  <a:schemeClr val="accent5"/>
                </a:solidFill>
              </a:rPr>
              <a:t>int</a:t>
            </a:r>
            <a:r>
              <a:rPr lang="en-US" dirty="0">
                <a:solidFill>
                  <a:schemeClr val="accent5"/>
                </a:solidFill>
              </a:rPr>
              <a:t> myVar2 = </a:t>
            </a:r>
            <a:r>
              <a:rPr lang="en-US" dirty="0" err="1">
                <a:solidFill>
                  <a:schemeClr val="accent5"/>
                </a:solidFill>
              </a:rPr>
              <a:t>myArray</a:t>
            </a:r>
            <a:r>
              <a:rPr lang="en-US" dirty="0">
                <a:solidFill>
                  <a:schemeClr val="accent5"/>
                </a:solidFill>
              </a:rPr>
              <a:t>[5];</a:t>
            </a:r>
          </a:p>
          <a:p>
            <a:pPr marL="457200" lvl="1" indent="0">
              <a:buNone/>
            </a:pPr>
            <a:r>
              <a:rPr lang="en-US" dirty="0" err="1">
                <a:solidFill>
                  <a:schemeClr val="accent5"/>
                </a:solidFill>
              </a:rPr>
              <a:t>myArray</a:t>
            </a:r>
            <a:r>
              <a:rPr lang="en-US" dirty="0">
                <a:solidFill>
                  <a:schemeClr val="accent5"/>
                </a:solidFill>
              </a:rPr>
              <a:t>[5] = 1000;</a:t>
            </a:r>
          </a:p>
          <a:p>
            <a:r>
              <a:rPr lang="en-US" dirty="0" smtClean="0"/>
              <a:t>Array length:</a:t>
            </a:r>
          </a:p>
          <a:p>
            <a:pPr marL="457200" lvl="1" indent="0">
              <a:buNone/>
            </a:pPr>
            <a:r>
              <a:rPr lang="en-US" dirty="0" err="1" smtClean="0">
                <a:solidFill>
                  <a:schemeClr val="accent5"/>
                </a:solidFill>
              </a:rPr>
              <a:t>myArray.length</a:t>
            </a:r>
            <a:endParaRPr lang="en-US" dirty="0" smtClean="0">
              <a:solidFill>
                <a:schemeClr val="accent5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ABDB1-18BE-4FDA-B9ED-FBF356C892E4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98067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Multidimensional Arrays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An array whose elements are arrays themselves</a:t>
            </a:r>
          </a:p>
          <a:p>
            <a:r>
              <a:rPr lang="en-US" dirty="0" smtClean="0"/>
              <a:t>Each element array can vary in length:</a:t>
            </a:r>
          </a:p>
          <a:p>
            <a:pPr marL="457200" lvl="1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String[][] </a:t>
            </a:r>
            <a:r>
              <a:rPr lang="en-US" dirty="0" err="1" smtClean="0">
                <a:solidFill>
                  <a:schemeClr val="accent5"/>
                </a:solidFill>
              </a:rPr>
              <a:t>myPersons</a:t>
            </a:r>
            <a:r>
              <a:rPr lang="en-US" dirty="0" smtClean="0">
                <a:solidFill>
                  <a:schemeClr val="accent5"/>
                </a:solidFill>
              </a:rPr>
              <a:t> = {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accent5"/>
                </a:solidFill>
              </a:rPr>
              <a:t> </a:t>
            </a:r>
            <a:r>
              <a:rPr lang="en-US" dirty="0" smtClean="0">
                <a:solidFill>
                  <a:schemeClr val="accent5"/>
                </a:solidFill>
              </a:rPr>
              <a:t> {“Mr.”, “Ms.”, “Mrs.”},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accent5"/>
                </a:solidFill>
              </a:rPr>
              <a:t> </a:t>
            </a:r>
            <a:r>
              <a:rPr lang="en-US" dirty="0" smtClean="0">
                <a:solidFill>
                  <a:schemeClr val="accent5"/>
                </a:solidFill>
              </a:rPr>
              <a:t> {“Smith”, “Jones”}</a:t>
            </a:r>
          </a:p>
          <a:p>
            <a:pPr marL="457200" lvl="1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};</a:t>
            </a:r>
          </a:p>
          <a:p>
            <a:pPr marL="457200" lvl="1" indent="0">
              <a:buNone/>
            </a:pPr>
            <a:r>
              <a:rPr lang="en-US" dirty="0" err="1" smtClean="0">
                <a:solidFill>
                  <a:schemeClr val="accent5"/>
                </a:solidFill>
              </a:rPr>
              <a:t>System.out.println</a:t>
            </a:r>
            <a:r>
              <a:rPr lang="en-US" dirty="0" smtClean="0">
                <a:solidFill>
                  <a:schemeClr val="accent5"/>
                </a:solidFill>
              </a:rPr>
              <a:t>(</a:t>
            </a:r>
            <a:r>
              <a:rPr lang="en-US" dirty="0" err="1" smtClean="0">
                <a:solidFill>
                  <a:schemeClr val="accent5"/>
                </a:solidFill>
              </a:rPr>
              <a:t>myPersons</a:t>
            </a:r>
            <a:r>
              <a:rPr lang="en-US" dirty="0" smtClean="0">
                <a:solidFill>
                  <a:schemeClr val="accent5"/>
                </a:solidFill>
              </a:rPr>
              <a:t>[0][2] + </a:t>
            </a:r>
            <a:r>
              <a:rPr lang="en-US" dirty="0" err="1" smtClean="0">
                <a:solidFill>
                  <a:schemeClr val="accent5"/>
                </a:solidFill>
              </a:rPr>
              <a:t>myPersons</a:t>
            </a:r>
            <a:r>
              <a:rPr lang="en-US" dirty="0" smtClean="0">
                <a:solidFill>
                  <a:schemeClr val="accent5"/>
                </a:solidFill>
              </a:rPr>
              <a:t>[1][0]); // Mrs. Smith</a:t>
            </a:r>
          </a:p>
          <a:p>
            <a:pPr marL="457200" lvl="1" indent="0">
              <a:buNone/>
            </a:pPr>
            <a:r>
              <a:rPr lang="en-US" dirty="0" err="1" smtClean="0">
                <a:solidFill>
                  <a:schemeClr val="accent5"/>
                </a:solidFill>
              </a:rPr>
              <a:t>myPersons</a:t>
            </a:r>
            <a:r>
              <a:rPr lang="en-US" dirty="0" smtClean="0">
                <a:solidFill>
                  <a:schemeClr val="accent5"/>
                </a:solidFill>
              </a:rPr>
              <a:t>[1].length;</a:t>
            </a:r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ABDB1-18BE-4FDA-B9ED-FBF356C892E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7911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Operators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</a:t>
            </a:r>
            <a:r>
              <a:rPr lang="en-US" dirty="0" smtClean="0"/>
              <a:t>ssignment operator</a:t>
            </a:r>
          </a:p>
          <a:p>
            <a:r>
              <a:rPr lang="en-US" dirty="0" smtClean="0"/>
              <a:t>Arithmetic operators</a:t>
            </a:r>
          </a:p>
          <a:p>
            <a:r>
              <a:rPr lang="en-US" dirty="0" smtClean="0"/>
              <a:t>Unary operators</a:t>
            </a:r>
          </a:p>
          <a:p>
            <a:r>
              <a:rPr lang="en-US" dirty="0"/>
              <a:t>R</a:t>
            </a:r>
            <a:r>
              <a:rPr lang="en-US" dirty="0" smtClean="0"/>
              <a:t>elational operators</a:t>
            </a:r>
          </a:p>
          <a:p>
            <a:r>
              <a:rPr lang="en-US" dirty="0" smtClean="0"/>
              <a:t>Logical operators</a:t>
            </a:r>
          </a:p>
          <a:p>
            <a:r>
              <a:rPr lang="en-US" dirty="0" smtClean="0"/>
              <a:t>Ternary operator</a:t>
            </a:r>
          </a:p>
          <a:p>
            <a:r>
              <a:rPr lang="en-US" dirty="0" smtClean="0"/>
              <a:t>Type comparison operator</a:t>
            </a:r>
          </a:p>
          <a:p>
            <a:r>
              <a:rPr lang="en-US" dirty="0" smtClean="0"/>
              <a:t>Bitwise operators</a:t>
            </a:r>
          </a:p>
          <a:p>
            <a:r>
              <a:rPr lang="en-US" dirty="0" smtClean="0"/>
              <a:t>Bit shift operators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ABDB1-18BE-4FDA-B9ED-FBF356C892E4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44693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Assignment Operator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sz="4000" dirty="0" smtClean="0"/>
              <a:t>Assign the value of right-hand side to the left-hand side:</a:t>
            </a:r>
          </a:p>
          <a:p>
            <a:pPr lvl="1"/>
            <a:r>
              <a:rPr lang="en-US" sz="3400" dirty="0" err="1"/>
              <a:t>i</a:t>
            </a:r>
            <a:r>
              <a:rPr lang="en-US" sz="3400" dirty="0" err="1" smtClean="0"/>
              <a:t>nt</a:t>
            </a:r>
            <a:r>
              <a:rPr lang="en-US" sz="3400" dirty="0" smtClean="0"/>
              <a:t> gear = 1;</a:t>
            </a:r>
          </a:p>
          <a:p>
            <a:r>
              <a:rPr lang="en-US" sz="4000" dirty="0" smtClean="0"/>
              <a:t>Assignment of references:</a:t>
            </a:r>
          </a:p>
          <a:p>
            <a:pPr lvl="1"/>
            <a:r>
              <a:rPr lang="en-US" sz="3400" dirty="0" smtClean="0"/>
              <a:t>Assignment.java</a:t>
            </a:r>
          </a:p>
          <a:p>
            <a:pPr marL="0" indent="0">
              <a:buNone/>
            </a:pPr>
            <a:r>
              <a:rPr lang="en-US" sz="2600" dirty="0" smtClean="0">
                <a:solidFill>
                  <a:schemeClr val="accent5"/>
                </a:solidFill>
              </a:rPr>
              <a:t>class Tank {</a:t>
            </a:r>
          </a:p>
          <a:p>
            <a:pPr marL="0" indent="0">
              <a:buNone/>
            </a:pPr>
            <a:r>
              <a:rPr lang="en-US" sz="2600" dirty="0" smtClean="0">
                <a:solidFill>
                  <a:schemeClr val="accent5"/>
                </a:solidFill>
              </a:rPr>
              <a:t>  </a:t>
            </a:r>
            <a:r>
              <a:rPr lang="en-US" sz="2600" dirty="0" err="1" smtClean="0">
                <a:solidFill>
                  <a:schemeClr val="accent5"/>
                </a:solidFill>
              </a:rPr>
              <a:t>int</a:t>
            </a:r>
            <a:r>
              <a:rPr lang="en-US" sz="2600" dirty="0" smtClean="0">
                <a:solidFill>
                  <a:schemeClr val="accent5"/>
                </a:solidFill>
              </a:rPr>
              <a:t> level;</a:t>
            </a:r>
          </a:p>
          <a:p>
            <a:pPr marL="0" indent="0">
              <a:buNone/>
            </a:pPr>
            <a:r>
              <a:rPr lang="en-US" sz="2600" dirty="0" smtClean="0">
                <a:solidFill>
                  <a:schemeClr val="accent5"/>
                </a:solidFill>
              </a:rPr>
              <a:t>}</a:t>
            </a:r>
          </a:p>
          <a:p>
            <a:pPr marL="0" indent="0">
              <a:buNone/>
            </a:pPr>
            <a:r>
              <a:rPr lang="en-US" sz="2600" dirty="0" smtClean="0">
                <a:solidFill>
                  <a:schemeClr val="accent5"/>
                </a:solidFill>
              </a:rPr>
              <a:t>public </a:t>
            </a:r>
            <a:r>
              <a:rPr lang="en-US" sz="2600" dirty="0">
                <a:solidFill>
                  <a:schemeClr val="accent5"/>
                </a:solidFill>
              </a:rPr>
              <a:t>class Assignment {</a:t>
            </a:r>
          </a:p>
          <a:p>
            <a:pPr marL="0" indent="0">
              <a:buNone/>
            </a:pPr>
            <a:r>
              <a:rPr lang="en-US" sz="2600" dirty="0">
                <a:solidFill>
                  <a:schemeClr val="accent5"/>
                </a:solidFill>
              </a:rPr>
              <a:t>  public static void main(String[] </a:t>
            </a:r>
            <a:r>
              <a:rPr lang="en-US" sz="2600" dirty="0" err="1">
                <a:solidFill>
                  <a:schemeClr val="accent5"/>
                </a:solidFill>
              </a:rPr>
              <a:t>args</a:t>
            </a:r>
            <a:r>
              <a:rPr lang="en-US" sz="2600" dirty="0">
                <a:solidFill>
                  <a:schemeClr val="accent5"/>
                </a:solidFill>
              </a:rPr>
              <a:t>) {</a:t>
            </a:r>
          </a:p>
          <a:p>
            <a:pPr marL="0" indent="0">
              <a:buNone/>
            </a:pPr>
            <a:r>
              <a:rPr lang="en-US" sz="2600" dirty="0">
                <a:solidFill>
                  <a:schemeClr val="accent5"/>
                </a:solidFill>
              </a:rPr>
              <a:t>    Tank t1 = new Tank();</a:t>
            </a:r>
          </a:p>
          <a:p>
            <a:pPr marL="0" indent="0">
              <a:buNone/>
            </a:pPr>
            <a:r>
              <a:rPr lang="en-US" sz="2600" dirty="0">
                <a:solidFill>
                  <a:schemeClr val="accent5"/>
                </a:solidFill>
              </a:rPr>
              <a:t>    Tank t2 = new Tank();</a:t>
            </a:r>
          </a:p>
          <a:p>
            <a:pPr marL="0" indent="0">
              <a:buNone/>
            </a:pPr>
            <a:r>
              <a:rPr lang="en-US" sz="2600" dirty="0">
                <a:solidFill>
                  <a:schemeClr val="accent5"/>
                </a:solidFill>
              </a:rPr>
              <a:t>    t1.level = 9; </a:t>
            </a:r>
            <a:r>
              <a:rPr lang="en-US" sz="2600" dirty="0" smtClean="0">
                <a:solidFill>
                  <a:schemeClr val="accent5"/>
                </a:solidFill>
              </a:rPr>
              <a:t>t2.level </a:t>
            </a:r>
            <a:r>
              <a:rPr lang="en-US" sz="2600" dirty="0">
                <a:solidFill>
                  <a:schemeClr val="accent5"/>
                </a:solidFill>
              </a:rPr>
              <a:t>= 23;</a:t>
            </a:r>
          </a:p>
          <a:p>
            <a:pPr marL="0" indent="0">
              <a:buNone/>
            </a:pPr>
            <a:r>
              <a:rPr lang="en-US" sz="2600" dirty="0">
                <a:solidFill>
                  <a:schemeClr val="accent5"/>
                </a:solidFill>
              </a:rPr>
              <a:t>    </a:t>
            </a:r>
            <a:r>
              <a:rPr lang="en-US" sz="2600" dirty="0" err="1">
                <a:solidFill>
                  <a:schemeClr val="accent5"/>
                </a:solidFill>
              </a:rPr>
              <a:t>System.out.println</a:t>
            </a:r>
            <a:r>
              <a:rPr lang="en-US" sz="2600" dirty="0">
                <a:solidFill>
                  <a:schemeClr val="accent5"/>
                </a:solidFill>
              </a:rPr>
              <a:t>(t1.level + ", " + t2.level</a:t>
            </a:r>
            <a:r>
              <a:rPr lang="en-US" sz="2600" dirty="0" smtClean="0">
                <a:solidFill>
                  <a:schemeClr val="accent5"/>
                </a:solidFill>
              </a:rPr>
              <a:t>); // 9, 23</a:t>
            </a:r>
          </a:p>
          <a:p>
            <a:pPr marL="457200" lvl="1" indent="0">
              <a:buNone/>
            </a:pPr>
            <a:endParaRPr lang="en-US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2600" dirty="0" smtClean="0">
                <a:solidFill>
                  <a:schemeClr val="accent5"/>
                </a:solidFill>
              </a:rPr>
              <a:t>    t1 </a:t>
            </a:r>
            <a:r>
              <a:rPr lang="en-US" sz="2600" dirty="0">
                <a:solidFill>
                  <a:schemeClr val="accent5"/>
                </a:solidFill>
              </a:rPr>
              <a:t>= t2</a:t>
            </a:r>
            <a:r>
              <a:rPr lang="en-US" sz="2600" dirty="0" smtClean="0">
                <a:solidFill>
                  <a:schemeClr val="accent5"/>
                </a:solidFill>
              </a:rPr>
              <a:t>; // both t1 and t2 point to the 2nd object</a:t>
            </a:r>
            <a:endParaRPr lang="en-US" sz="2600" dirty="0">
              <a:solidFill>
                <a:schemeClr val="accent5"/>
              </a:solidFill>
            </a:endParaRPr>
          </a:p>
          <a:p>
            <a:pPr marL="0" indent="0">
              <a:buNone/>
            </a:pPr>
            <a:r>
              <a:rPr lang="en-US" sz="2600" dirty="0">
                <a:solidFill>
                  <a:schemeClr val="accent5"/>
                </a:solidFill>
              </a:rPr>
              <a:t>    </a:t>
            </a:r>
            <a:r>
              <a:rPr lang="en-US" sz="2600" dirty="0" err="1">
                <a:solidFill>
                  <a:schemeClr val="accent5"/>
                </a:solidFill>
              </a:rPr>
              <a:t>System.out.println</a:t>
            </a:r>
            <a:r>
              <a:rPr lang="en-US" sz="2600" dirty="0">
                <a:solidFill>
                  <a:schemeClr val="accent5"/>
                </a:solidFill>
              </a:rPr>
              <a:t>(t1.level + ", " + t2.level</a:t>
            </a:r>
            <a:r>
              <a:rPr lang="en-US" sz="2600" dirty="0" smtClean="0">
                <a:solidFill>
                  <a:schemeClr val="accent5"/>
                </a:solidFill>
              </a:rPr>
              <a:t>); // 23, 23</a:t>
            </a:r>
            <a:endParaRPr lang="en-US" sz="2600" dirty="0">
              <a:solidFill>
                <a:schemeClr val="accent5"/>
              </a:solidFill>
            </a:endParaRPr>
          </a:p>
          <a:p>
            <a:pPr marL="0" indent="0">
              <a:buNone/>
            </a:pPr>
            <a:r>
              <a:rPr lang="en-US" sz="2600" dirty="0">
                <a:solidFill>
                  <a:schemeClr val="accent5"/>
                </a:solidFill>
              </a:rPr>
              <a:t>    t1.level = 40;</a:t>
            </a:r>
          </a:p>
          <a:p>
            <a:pPr marL="0" indent="0">
              <a:buNone/>
            </a:pPr>
            <a:r>
              <a:rPr lang="en-US" sz="2600" dirty="0">
                <a:solidFill>
                  <a:schemeClr val="accent5"/>
                </a:solidFill>
              </a:rPr>
              <a:t>    </a:t>
            </a:r>
            <a:r>
              <a:rPr lang="en-US" sz="2600" dirty="0" err="1">
                <a:solidFill>
                  <a:schemeClr val="accent5"/>
                </a:solidFill>
              </a:rPr>
              <a:t>System.out.println</a:t>
            </a:r>
            <a:r>
              <a:rPr lang="en-US" sz="2600" dirty="0">
                <a:solidFill>
                  <a:schemeClr val="accent5"/>
                </a:solidFill>
              </a:rPr>
              <a:t>(t1.level + ", " + t2.level</a:t>
            </a:r>
            <a:r>
              <a:rPr lang="en-US" sz="2600" dirty="0" smtClean="0">
                <a:solidFill>
                  <a:schemeClr val="accent5"/>
                </a:solidFill>
              </a:rPr>
              <a:t>); // 40, 40</a:t>
            </a:r>
            <a:endParaRPr lang="en-US" sz="2600" dirty="0">
              <a:solidFill>
                <a:schemeClr val="accent5"/>
              </a:solidFill>
            </a:endParaRPr>
          </a:p>
          <a:p>
            <a:pPr marL="0" indent="0">
              <a:buNone/>
            </a:pPr>
            <a:r>
              <a:rPr lang="en-US" sz="2600" dirty="0">
                <a:solidFill>
                  <a:schemeClr val="accent5"/>
                </a:solidFill>
              </a:rPr>
              <a:t>  }</a:t>
            </a:r>
          </a:p>
          <a:p>
            <a:pPr marL="0" indent="0">
              <a:buNone/>
            </a:pPr>
            <a:r>
              <a:rPr lang="en-US" sz="2600" dirty="0" smtClean="0">
                <a:solidFill>
                  <a:schemeClr val="accent5"/>
                </a:solidFill>
              </a:rPr>
              <a:t>}</a:t>
            </a:r>
          </a:p>
          <a:p>
            <a:pPr marL="0" indent="0">
              <a:buNone/>
            </a:pPr>
            <a:endParaRPr lang="en-US" sz="2600" dirty="0" smtClean="0"/>
          </a:p>
          <a:p>
            <a:pPr lvl="1"/>
            <a:r>
              <a:rPr lang="en-US" sz="3800" dirty="0" smtClean="0"/>
              <a:t>What if you just want to duplicate the object contents?</a:t>
            </a:r>
            <a:endParaRPr lang="en-US" sz="3800" dirty="0"/>
          </a:p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    t1.level = t2.level;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ABDB1-18BE-4FDA-B9ED-FBF356C892E4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40775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Arithmetic Operators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92376257"/>
              </p:ext>
            </p:extLst>
          </p:nvPr>
        </p:nvGraphicFramePr>
        <p:xfrm>
          <a:off x="670932" y="1687514"/>
          <a:ext cx="51816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/>
                <a:gridCol w="25908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Operator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Description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+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Addition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-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Subtraction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*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Multiplication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/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Division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Remainder/modulus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xfrm>
            <a:off x="6283713" y="1836777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err="1">
                <a:solidFill>
                  <a:schemeClr val="accent5"/>
                </a:solidFill>
              </a:rPr>
              <a:t>i</a:t>
            </a:r>
            <a:r>
              <a:rPr lang="en-US" sz="2000" dirty="0" err="1" smtClean="0">
                <a:solidFill>
                  <a:schemeClr val="accent5"/>
                </a:solidFill>
              </a:rPr>
              <a:t>nt</a:t>
            </a:r>
            <a:r>
              <a:rPr lang="en-US" sz="2000" dirty="0" smtClean="0">
                <a:solidFill>
                  <a:schemeClr val="accent5"/>
                </a:solidFill>
              </a:rPr>
              <a:t> result = 1+2; // 3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5"/>
                </a:solidFill>
              </a:rPr>
              <a:t>r</a:t>
            </a:r>
            <a:r>
              <a:rPr lang="en-US" sz="2000" dirty="0" smtClean="0">
                <a:solidFill>
                  <a:schemeClr val="accent5"/>
                </a:solidFill>
              </a:rPr>
              <a:t>esult = result - 1; // 2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5"/>
                </a:solidFill>
              </a:rPr>
              <a:t>r</a:t>
            </a:r>
            <a:r>
              <a:rPr lang="en-US" sz="2000" dirty="0" smtClean="0">
                <a:solidFill>
                  <a:schemeClr val="accent5"/>
                </a:solidFill>
              </a:rPr>
              <a:t>esult = result * 2; // 4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5"/>
                </a:solidFill>
              </a:rPr>
              <a:t>r</a:t>
            </a:r>
            <a:r>
              <a:rPr lang="en-US" sz="2000" dirty="0" smtClean="0">
                <a:solidFill>
                  <a:schemeClr val="accent5"/>
                </a:solidFill>
              </a:rPr>
              <a:t>esult = 5;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5"/>
                </a:solidFill>
              </a:rPr>
              <a:t>r</a:t>
            </a:r>
            <a:r>
              <a:rPr lang="en-US" sz="2000" dirty="0" smtClean="0">
                <a:solidFill>
                  <a:schemeClr val="accent5"/>
                </a:solidFill>
              </a:rPr>
              <a:t>esult = result / 3; // 1 (truncating!)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5"/>
                </a:solidFill>
              </a:rPr>
              <a:t>r</a:t>
            </a:r>
            <a:r>
              <a:rPr lang="en-US" sz="2000" dirty="0" smtClean="0">
                <a:solidFill>
                  <a:schemeClr val="accent5"/>
                </a:solidFill>
              </a:rPr>
              <a:t>esult = 5;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5"/>
                </a:solidFill>
              </a:rPr>
              <a:t>r</a:t>
            </a:r>
            <a:r>
              <a:rPr lang="en-US" sz="2000" dirty="0" smtClean="0">
                <a:solidFill>
                  <a:schemeClr val="accent5"/>
                </a:solidFill>
              </a:rPr>
              <a:t>esult = result % 2; // 1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chemeClr val="accent5"/>
                </a:solidFill>
              </a:rPr>
              <a:t>String s = “” + result; //1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chemeClr val="accent5"/>
                </a:solidFill>
              </a:rPr>
              <a:t>s += “ student!”; //1 student!</a:t>
            </a:r>
            <a:endParaRPr lang="en-US" sz="2000" dirty="0">
              <a:solidFill>
                <a:schemeClr val="accent5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25965" y="4282068"/>
            <a:ext cx="546224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smtClean="0"/>
              <a:t>Compound assignments:</a:t>
            </a:r>
          </a:p>
          <a:p>
            <a:r>
              <a:rPr lang="en-US" dirty="0" smtClean="0">
                <a:solidFill>
                  <a:schemeClr val="accent5"/>
                </a:solidFill>
              </a:rPr>
              <a:t>x = x + 1;</a:t>
            </a:r>
          </a:p>
          <a:p>
            <a:r>
              <a:rPr lang="en-US" dirty="0" smtClean="0">
                <a:solidFill>
                  <a:schemeClr val="accent5"/>
                </a:solidFill>
              </a:rPr>
              <a:t>x += 1; // equivalent to the above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smtClean="0"/>
              <a:t>+ and += can be used for strings!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When a string + a non-string, the compiler converts the non-string into a string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ABDB1-18BE-4FDA-B9ED-FBF356C892E4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23722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Unary Operators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686196392"/>
              </p:ext>
            </p:extLst>
          </p:nvPr>
        </p:nvGraphicFramePr>
        <p:xfrm>
          <a:off x="748991" y="1546845"/>
          <a:ext cx="5181600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3624"/>
                <a:gridCol w="3967976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Operator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Description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+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Unary</a:t>
                      </a:r>
                      <a:r>
                        <a:rPr lang="en-US" baseline="0" dirty="0" smtClean="0"/>
                        <a:t> plus; indicates positive value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-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Unary minus;</a:t>
                      </a:r>
                      <a:r>
                        <a:rPr lang="en-US" baseline="0" dirty="0" smtClean="0"/>
                        <a:t> negates an expression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++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Increment; increments</a:t>
                      </a:r>
                      <a:r>
                        <a:rPr lang="en-US" baseline="0" dirty="0" smtClean="0"/>
                        <a:t> a value by 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--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Decrement; decrements a value by 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!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Logical complement; inverts the value of a </a:t>
                      </a:r>
                      <a:r>
                        <a:rPr lang="en-US" dirty="0" err="1" smtClean="0"/>
                        <a:t>boolean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6096000" y="1134249"/>
            <a:ext cx="5181600" cy="4597478"/>
          </a:xfrm>
        </p:spPr>
        <p:txBody>
          <a:bodyPr>
            <a:normAutofit/>
          </a:bodyPr>
          <a:lstStyle/>
          <a:p>
            <a:r>
              <a:rPr lang="en-US" sz="1800" dirty="0" smtClean="0"/>
              <a:t>Pre-increment/pre-decrement (++a/--a): the operation is performed and then value is produced.</a:t>
            </a:r>
          </a:p>
          <a:p>
            <a:r>
              <a:rPr lang="en-US" sz="1800" dirty="0" smtClean="0"/>
              <a:t>Post-increment/post-decrement (a++/a--): the value is produced and then the operation is performed.</a:t>
            </a:r>
          </a:p>
          <a:p>
            <a:pPr marL="0" indent="0">
              <a:buNone/>
            </a:pPr>
            <a:endParaRPr lang="en-US" sz="1800" dirty="0" smtClean="0"/>
          </a:p>
          <a:p>
            <a:pPr marL="0" indent="0">
              <a:buNone/>
            </a:pPr>
            <a:r>
              <a:rPr lang="en-US" sz="1800" dirty="0" err="1" smtClean="0">
                <a:solidFill>
                  <a:schemeClr val="accent5"/>
                </a:solidFill>
              </a:rPr>
              <a:t>int</a:t>
            </a:r>
            <a:r>
              <a:rPr lang="en-US" sz="1800" dirty="0" smtClean="0">
                <a:solidFill>
                  <a:schemeClr val="accent5"/>
                </a:solidFill>
              </a:rPr>
              <a:t> </a:t>
            </a:r>
            <a:r>
              <a:rPr lang="en-US" sz="1800" dirty="0" err="1" smtClean="0">
                <a:solidFill>
                  <a:schemeClr val="accent5"/>
                </a:solidFill>
              </a:rPr>
              <a:t>i</a:t>
            </a:r>
            <a:r>
              <a:rPr lang="en-US" sz="1800" dirty="0" smtClean="0">
                <a:solidFill>
                  <a:schemeClr val="accent5"/>
                </a:solidFill>
              </a:rPr>
              <a:t> = 1;</a:t>
            </a:r>
          </a:p>
          <a:p>
            <a:pPr marL="0" indent="0">
              <a:buNone/>
            </a:pPr>
            <a:r>
              <a:rPr lang="en-US" sz="1800" dirty="0" err="1" smtClean="0">
                <a:solidFill>
                  <a:schemeClr val="accent5"/>
                </a:solidFill>
              </a:rPr>
              <a:t>System.out.println</a:t>
            </a:r>
            <a:r>
              <a:rPr lang="en-US" sz="1800" dirty="0" smtClean="0">
                <a:solidFill>
                  <a:schemeClr val="accent5"/>
                </a:solidFill>
              </a:rPr>
              <a:t>(++</a:t>
            </a:r>
            <a:r>
              <a:rPr lang="en-US" sz="1800" dirty="0" err="1" smtClean="0">
                <a:solidFill>
                  <a:schemeClr val="accent5"/>
                </a:solidFill>
              </a:rPr>
              <a:t>i</a:t>
            </a:r>
            <a:r>
              <a:rPr lang="en-US" sz="1800" dirty="0" smtClean="0">
                <a:solidFill>
                  <a:schemeClr val="accent5"/>
                </a:solidFill>
              </a:rPr>
              <a:t>); // prints out 2, </a:t>
            </a:r>
            <a:r>
              <a:rPr lang="en-US" sz="1800" dirty="0" err="1" smtClean="0">
                <a:solidFill>
                  <a:schemeClr val="accent5"/>
                </a:solidFill>
              </a:rPr>
              <a:t>i</a:t>
            </a:r>
            <a:r>
              <a:rPr lang="en-US" sz="1800" dirty="0" smtClean="0">
                <a:solidFill>
                  <a:schemeClr val="accent5"/>
                </a:solidFill>
              </a:rPr>
              <a:t> becomes 2.</a:t>
            </a:r>
          </a:p>
          <a:p>
            <a:pPr marL="0" indent="0">
              <a:buNone/>
            </a:pPr>
            <a:r>
              <a:rPr lang="en-US" sz="1800" dirty="0" err="1" smtClean="0">
                <a:solidFill>
                  <a:schemeClr val="accent5"/>
                </a:solidFill>
              </a:rPr>
              <a:t>System.out.println</a:t>
            </a:r>
            <a:r>
              <a:rPr lang="en-US" sz="1800" dirty="0" smtClean="0">
                <a:solidFill>
                  <a:schemeClr val="accent5"/>
                </a:solidFill>
              </a:rPr>
              <a:t>(</a:t>
            </a:r>
            <a:r>
              <a:rPr lang="en-US" sz="1800" dirty="0" err="1" smtClean="0">
                <a:solidFill>
                  <a:schemeClr val="accent5"/>
                </a:solidFill>
              </a:rPr>
              <a:t>i</a:t>
            </a:r>
            <a:r>
              <a:rPr lang="en-US" sz="1800" dirty="0" smtClean="0">
                <a:solidFill>
                  <a:schemeClr val="accent5"/>
                </a:solidFill>
              </a:rPr>
              <a:t>++); // prints out 2, </a:t>
            </a:r>
            <a:r>
              <a:rPr lang="en-US" sz="1800" dirty="0" err="1" smtClean="0">
                <a:solidFill>
                  <a:schemeClr val="accent5"/>
                </a:solidFill>
              </a:rPr>
              <a:t>i</a:t>
            </a:r>
            <a:r>
              <a:rPr lang="en-US" sz="1800" dirty="0" smtClean="0">
                <a:solidFill>
                  <a:schemeClr val="accent5"/>
                </a:solidFill>
              </a:rPr>
              <a:t> becomes 3.</a:t>
            </a:r>
          </a:p>
          <a:p>
            <a:pPr marL="0" indent="0">
              <a:buNone/>
            </a:pPr>
            <a:r>
              <a:rPr lang="en-US" sz="1800" dirty="0" err="1" smtClean="0">
                <a:solidFill>
                  <a:schemeClr val="accent5"/>
                </a:solidFill>
              </a:rPr>
              <a:t>System.out.println</a:t>
            </a:r>
            <a:r>
              <a:rPr lang="en-US" sz="1800" dirty="0" smtClean="0">
                <a:solidFill>
                  <a:schemeClr val="accent5"/>
                </a:solidFill>
              </a:rPr>
              <a:t>(--</a:t>
            </a:r>
            <a:r>
              <a:rPr lang="en-US" sz="1800" dirty="0" err="1" smtClean="0">
                <a:solidFill>
                  <a:schemeClr val="accent5"/>
                </a:solidFill>
              </a:rPr>
              <a:t>i</a:t>
            </a:r>
            <a:r>
              <a:rPr lang="en-US" sz="1800" dirty="0" smtClean="0">
                <a:solidFill>
                  <a:schemeClr val="accent5"/>
                </a:solidFill>
              </a:rPr>
              <a:t>); // prints out 2, </a:t>
            </a:r>
            <a:r>
              <a:rPr lang="en-US" sz="1800" dirty="0" err="1" smtClean="0">
                <a:solidFill>
                  <a:schemeClr val="accent5"/>
                </a:solidFill>
              </a:rPr>
              <a:t>i</a:t>
            </a:r>
            <a:r>
              <a:rPr lang="en-US" sz="1800" dirty="0" smtClean="0">
                <a:solidFill>
                  <a:schemeClr val="accent5"/>
                </a:solidFill>
              </a:rPr>
              <a:t> becomes 2.</a:t>
            </a:r>
          </a:p>
          <a:p>
            <a:pPr marL="0" indent="0">
              <a:buNone/>
            </a:pPr>
            <a:r>
              <a:rPr lang="en-US" sz="1800" dirty="0" err="1" smtClean="0">
                <a:solidFill>
                  <a:schemeClr val="accent5"/>
                </a:solidFill>
              </a:rPr>
              <a:t>System.out.println</a:t>
            </a:r>
            <a:r>
              <a:rPr lang="en-US" sz="1800" dirty="0" smtClean="0">
                <a:solidFill>
                  <a:schemeClr val="accent5"/>
                </a:solidFill>
              </a:rPr>
              <a:t>(</a:t>
            </a:r>
            <a:r>
              <a:rPr lang="en-US" sz="1800" dirty="0" err="1" smtClean="0">
                <a:solidFill>
                  <a:schemeClr val="accent5"/>
                </a:solidFill>
              </a:rPr>
              <a:t>i</a:t>
            </a:r>
            <a:r>
              <a:rPr lang="en-US" sz="1800" dirty="0" smtClean="0">
                <a:solidFill>
                  <a:schemeClr val="accent5"/>
                </a:solidFill>
              </a:rPr>
              <a:t>--); // prints out 2, </a:t>
            </a:r>
            <a:r>
              <a:rPr lang="en-US" sz="1800" dirty="0" err="1" smtClean="0">
                <a:solidFill>
                  <a:schemeClr val="accent5"/>
                </a:solidFill>
              </a:rPr>
              <a:t>i</a:t>
            </a:r>
            <a:r>
              <a:rPr lang="en-US" sz="1800" dirty="0" smtClean="0">
                <a:solidFill>
                  <a:schemeClr val="accent5"/>
                </a:solidFill>
              </a:rPr>
              <a:t> becomes 1.</a:t>
            </a:r>
            <a:endParaRPr lang="en-US" sz="1800" dirty="0">
              <a:solidFill>
                <a:schemeClr val="accent5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38200" y="4360126"/>
            <a:ext cx="502734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accent5"/>
                </a:solidFill>
              </a:rPr>
              <a:t>i</a:t>
            </a:r>
            <a:r>
              <a:rPr lang="en-US" dirty="0" err="1" smtClean="0">
                <a:solidFill>
                  <a:schemeClr val="accent5"/>
                </a:solidFill>
              </a:rPr>
              <a:t>nt</a:t>
            </a:r>
            <a:r>
              <a:rPr lang="en-US" dirty="0" smtClean="0">
                <a:solidFill>
                  <a:schemeClr val="accent5"/>
                </a:solidFill>
              </a:rPr>
              <a:t> result = +1;</a:t>
            </a:r>
          </a:p>
          <a:p>
            <a:r>
              <a:rPr lang="en-US" dirty="0">
                <a:solidFill>
                  <a:schemeClr val="accent5"/>
                </a:solidFill>
              </a:rPr>
              <a:t>r</a:t>
            </a:r>
            <a:r>
              <a:rPr lang="en-US" dirty="0" smtClean="0">
                <a:solidFill>
                  <a:schemeClr val="accent5"/>
                </a:solidFill>
              </a:rPr>
              <a:t>esult--; // 0</a:t>
            </a:r>
          </a:p>
          <a:p>
            <a:r>
              <a:rPr lang="en-US" dirty="0">
                <a:solidFill>
                  <a:schemeClr val="accent5"/>
                </a:solidFill>
              </a:rPr>
              <a:t>r</a:t>
            </a:r>
            <a:r>
              <a:rPr lang="en-US" dirty="0" smtClean="0">
                <a:solidFill>
                  <a:schemeClr val="accent5"/>
                </a:solidFill>
              </a:rPr>
              <a:t>esult++; // 1</a:t>
            </a:r>
          </a:p>
          <a:p>
            <a:r>
              <a:rPr lang="en-US" dirty="0">
                <a:solidFill>
                  <a:schemeClr val="accent5"/>
                </a:solidFill>
              </a:rPr>
              <a:t>r</a:t>
            </a:r>
            <a:r>
              <a:rPr lang="en-US" dirty="0" smtClean="0">
                <a:solidFill>
                  <a:schemeClr val="accent5"/>
                </a:solidFill>
              </a:rPr>
              <a:t>esult = -result; // -1</a:t>
            </a:r>
          </a:p>
          <a:p>
            <a:r>
              <a:rPr lang="en-US" dirty="0" err="1" smtClean="0">
                <a:solidFill>
                  <a:schemeClr val="accent5"/>
                </a:solidFill>
              </a:rPr>
              <a:t>boolean</a:t>
            </a:r>
            <a:r>
              <a:rPr lang="en-US" dirty="0" smtClean="0">
                <a:solidFill>
                  <a:schemeClr val="accent5"/>
                </a:solidFill>
              </a:rPr>
              <a:t> success = false;</a:t>
            </a:r>
          </a:p>
          <a:p>
            <a:r>
              <a:rPr lang="en-US" dirty="0" err="1" smtClean="0">
                <a:solidFill>
                  <a:schemeClr val="accent5"/>
                </a:solidFill>
              </a:rPr>
              <a:t>System.out.println</a:t>
            </a:r>
            <a:r>
              <a:rPr lang="en-US" dirty="0" smtClean="0">
                <a:solidFill>
                  <a:schemeClr val="accent5"/>
                </a:solidFill>
              </a:rPr>
              <a:t>(success); // false</a:t>
            </a:r>
          </a:p>
          <a:p>
            <a:r>
              <a:rPr lang="en-US" dirty="0" err="1">
                <a:solidFill>
                  <a:schemeClr val="accent5"/>
                </a:solidFill>
              </a:rPr>
              <a:t>System.out.println</a:t>
            </a:r>
            <a:r>
              <a:rPr lang="en-US" dirty="0" smtClean="0">
                <a:solidFill>
                  <a:schemeClr val="accent5"/>
                </a:solidFill>
              </a:rPr>
              <a:t>(!success); // true</a:t>
            </a:r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ABDB1-18BE-4FDA-B9ED-FBF356C892E4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27361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Relational Operators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674921695"/>
              </p:ext>
            </p:extLst>
          </p:nvPr>
        </p:nvGraphicFramePr>
        <p:xfrm>
          <a:off x="838200" y="1825625"/>
          <a:ext cx="51816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/>
                <a:gridCol w="25908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Operator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Description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==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Equal to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!=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Not equal to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&gt;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Greater</a:t>
                      </a:r>
                      <a:r>
                        <a:rPr lang="en-US" baseline="0" dirty="0" smtClean="0"/>
                        <a:t> than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&gt;=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Greater than or equal to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&lt;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Less than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&lt;=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Less than or equal to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dirty="0" err="1">
                <a:solidFill>
                  <a:schemeClr val="accent5"/>
                </a:solidFill>
              </a:rPr>
              <a:t>i</a:t>
            </a:r>
            <a:r>
              <a:rPr lang="en-US" sz="1800" dirty="0" err="1" smtClean="0">
                <a:solidFill>
                  <a:schemeClr val="accent5"/>
                </a:solidFill>
              </a:rPr>
              <a:t>nt</a:t>
            </a:r>
            <a:r>
              <a:rPr lang="en-US" sz="1800" dirty="0" smtClean="0">
                <a:solidFill>
                  <a:schemeClr val="accent5"/>
                </a:solidFill>
              </a:rPr>
              <a:t> v1 = 1; </a:t>
            </a:r>
          </a:p>
          <a:p>
            <a:pPr marL="0" indent="0">
              <a:buNone/>
            </a:pPr>
            <a:r>
              <a:rPr lang="en-US" sz="1800" dirty="0" err="1" smtClean="0">
                <a:solidFill>
                  <a:schemeClr val="accent5"/>
                </a:solidFill>
              </a:rPr>
              <a:t>int</a:t>
            </a:r>
            <a:r>
              <a:rPr lang="en-US" sz="1800" dirty="0" smtClean="0">
                <a:solidFill>
                  <a:schemeClr val="accent5"/>
                </a:solidFill>
              </a:rPr>
              <a:t> v2 = 2;</a:t>
            </a:r>
          </a:p>
          <a:p>
            <a:pPr marL="0" indent="0">
              <a:buNone/>
            </a:pPr>
            <a:r>
              <a:rPr lang="en-US" sz="1800" dirty="0" err="1" smtClean="0">
                <a:solidFill>
                  <a:schemeClr val="accent5"/>
                </a:solidFill>
              </a:rPr>
              <a:t>System.out.println</a:t>
            </a:r>
            <a:r>
              <a:rPr lang="en-US" sz="1800" dirty="0" smtClean="0">
                <a:solidFill>
                  <a:schemeClr val="accent5"/>
                </a:solidFill>
              </a:rPr>
              <a:t>(v1 == v2); // false</a:t>
            </a:r>
          </a:p>
          <a:p>
            <a:pPr marL="0" indent="0">
              <a:buNone/>
            </a:pPr>
            <a:r>
              <a:rPr lang="en-US" sz="1800" dirty="0" err="1">
                <a:solidFill>
                  <a:schemeClr val="accent5"/>
                </a:solidFill>
              </a:rPr>
              <a:t>System.out.println</a:t>
            </a:r>
            <a:r>
              <a:rPr lang="en-US" sz="1800" dirty="0">
                <a:solidFill>
                  <a:schemeClr val="accent5"/>
                </a:solidFill>
              </a:rPr>
              <a:t>(v1 </a:t>
            </a:r>
            <a:r>
              <a:rPr lang="en-US" sz="1800" dirty="0" smtClean="0">
                <a:solidFill>
                  <a:schemeClr val="accent5"/>
                </a:solidFill>
              </a:rPr>
              <a:t>!= </a:t>
            </a:r>
            <a:r>
              <a:rPr lang="en-US" sz="1800" dirty="0">
                <a:solidFill>
                  <a:schemeClr val="accent5"/>
                </a:solidFill>
              </a:rPr>
              <a:t>v2</a:t>
            </a:r>
            <a:r>
              <a:rPr lang="en-US" sz="1800" dirty="0" smtClean="0">
                <a:solidFill>
                  <a:schemeClr val="accent5"/>
                </a:solidFill>
              </a:rPr>
              <a:t>); // true</a:t>
            </a:r>
          </a:p>
          <a:p>
            <a:pPr marL="0" indent="0">
              <a:buNone/>
            </a:pPr>
            <a:r>
              <a:rPr lang="en-US" sz="1800" dirty="0" err="1">
                <a:solidFill>
                  <a:schemeClr val="accent5"/>
                </a:solidFill>
              </a:rPr>
              <a:t>System.out.println</a:t>
            </a:r>
            <a:r>
              <a:rPr lang="en-US" sz="1800" dirty="0">
                <a:solidFill>
                  <a:schemeClr val="accent5"/>
                </a:solidFill>
              </a:rPr>
              <a:t>(v1 &gt;</a:t>
            </a:r>
            <a:r>
              <a:rPr lang="en-US" sz="1800" dirty="0" smtClean="0">
                <a:solidFill>
                  <a:schemeClr val="accent5"/>
                </a:solidFill>
              </a:rPr>
              <a:t> </a:t>
            </a:r>
            <a:r>
              <a:rPr lang="en-US" sz="1800" dirty="0">
                <a:solidFill>
                  <a:schemeClr val="accent5"/>
                </a:solidFill>
              </a:rPr>
              <a:t>v2); // false</a:t>
            </a:r>
          </a:p>
          <a:p>
            <a:pPr marL="0" indent="0">
              <a:buNone/>
            </a:pPr>
            <a:r>
              <a:rPr lang="en-US" sz="1800" dirty="0" err="1">
                <a:solidFill>
                  <a:schemeClr val="accent5"/>
                </a:solidFill>
              </a:rPr>
              <a:t>System.out.println</a:t>
            </a:r>
            <a:r>
              <a:rPr lang="en-US" sz="1800" dirty="0">
                <a:solidFill>
                  <a:schemeClr val="accent5"/>
                </a:solidFill>
              </a:rPr>
              <a:t>(v1 </a:t>
            </a:r>
            <a:r>
              <a:rPr lang="en-US" sz="1800" dirty="0" smtClean="0">
                <a:solidFill>
                  <a:schemeClr val="accent5"/>
                </a:solidFill>
              </a:rPr>
              <a:t>&gt;= </a:t>
            </a:r>
            <a:r>
              <a:rPr lang="en-US" sz="1800" dirty="0">
                <a:solidFill>
                  <a:schemeClr val="accent5"/>
                </a:solidFill>
              </a:rPr>
              <a:t>v2); // false</a:t>
            </a:r>
          </a:p>
          <a:p>
            <a:pPr marL="0" indent="0">
              <a:buNone/>
            </a:pPr>
            <a:r>
              <a:rPr lang="en-US" sz="1800" dirty="0" err="1">
                <a:solidFill>
                  <a:schemeClr val="accent5"/>
                </a:solidFill>
              </a:rPr>
              <a:t>System.out.println</a:t>
            </a:r>
            <a:r>
              <a:rPr lang="en-US" sz="1800" dirty="0">
                <a:solidFill>
                  <a:schemeClr val="accent5"/>
                </a:solidFill>
              </a:rPr>
              <a:t>(v1 </a:t>
            </a:r>
            <a:r>
              <a:rPr lang="en-US" sz="1800" dirty="0" smtClean="0">
                <a:solidFill>
                  <a:schemeClr val="accent5"/>
                </a:solidFill>
              </a:rPr>
              <a:t>&lt; </a:t>
            </a:r>
            <a:r>
              <a:rPr lang="en-US" sz="1800" dirty="0">
                <a:solidFill>
                  <a:schemeClr val="accent5"/>
                </a:solidFill>
              </a:rPr>
              <a:t>v2); // </a:t>
            </a:r>
            <a:r>
              <a:rPr lang="en-US" sz="1800" dirty="0" smtClean="0">
                <a:solidFill>
                  <a:schemeClr val="accent5"/>
                </a:solidFill>
              </a:rPr>
              <a:t>true</a:t>
            </a:r>
            <a:endParaRPr lang="en-US" sz="1800" dirty="0">
              <a:solidFill>
                <a:schemeClr val="accent5"/>
              </a:solidFill>
            </a:endParaRPr>
          </a:p>
          <a:p>
            <a:pPr marL="0" indent="0">
              <a:buNone/>
            </a:pPr>
            <a:r>
              <a:rPr lang="en-US" sz="1800" dirty="0" err="1">
                <a:solidFill>
                  <a:schemeClr val="accent5"/>
                </a:solidFill>
              </a:rPr>
              <a:t>System.out.println</a:t>
            </a:r>
            <a:r>
              <a:rPr lang="en-US" sz="1800" dirty="0">
                <a:solidFill>
                  <a:schemeClr val="accent5"/>
                </a:solidFill>
              </a:rPr>
              <a:t>(v1 </a:t>
            </a:r>
            <a:r>
              <a:rPr lang="en-US" sz="1800" dirty="0" smtClean="0">
                <a:solidFill>
                  <a:schemeClr val="accent5"/>
                </a:solidFill>
              </a:rPr>
              <a:t>&lt;= </a:t>
            </a:r>
            <a:r>
              <a:rPr lang="en-US" sz="1800" dirty="0">
                <a:solidFill>
                  <a:schemeClr val="accent5"/>
                </a:solidFill>
              </a:rPr>
              <a:t>v2); // </a:t>
            </a:r>
            <a:r>
              <a:rPr lang="en-US" sz="1800" dirty="0" smtClean="0">
                <a:solidFill>
                  <a:schemeClr val="accent5"/>
                </a:solidFill>
              </a:rPr>
              <a:t>true</a:t>
            </a:r>
            <a:endParaRPr lang="en-US" sz="1800" dirty="0">
              <a:solidFill>
                <a:schemeClr val="accent5"/>
              </a:solidFill>
            </a:endParaRP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ABDB1-18BE-4FDA-B9ED-FBF356C892E4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68090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 Equivalence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Comparing two references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accent5"/>
                </a:solidFill>
              </a:rPr>
              <a:t>class Tank {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accent5"/>
                </a:solidFill>
              </a:rPr>
              <a:t>  </a:t>
            </a:r>
            <a:r>
              <a:rPr lang="en-US" sz="1800" dirty="0" err="1">
                <a:solidFill>
                  <a:schemeClr val="accent5"/>
                </a:solidFill>
              </a:rPr>
              <a:t>int</a:t>
            </a:r>
            <a:r>
              <a:rPr lang="en-US" sz="1800" dirty="0">
                <a:solidFill>
                  <a:schemeClr val="accent5"/>
                </a:solidFill>
              </a:rPr>
              <a:t> level;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schemeClr val="accent5"/>
                </a:solidFill>
              </a:rPr>
              <a:t>}</a:t>
            </a:r>
            <a:endParaRPr lang="en-US" sz="1800" dirty="0">
              <a:solidFill>
                <a:schemeClr val="accent5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accent5"/>
                </a:solidFill>
              </a:rPr>
              <a:t>public class Equivalence1 {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accent5"/>
                </a:solidFill>
              </a:rPr>
              <a:t>  public static void main(String[] </a:t>
            </a:r>
            <a:r>
              <a:rPr lang="en-US" sz="1800" dirty="0" err="1">
                <a:solidFill>
                  <a:schemeClr val="accent5"/>
                </a:solidFill>
              </a:rPr>
              <a:t>args</a:t>
            </a:r>
            <a:r>
              <a:rPr lang="en-US" sz="1800" dirty="0">
                <a:solidFill>
                  <a:schemeClr val="accent5"/>
                </a:solidFill>
              </a:rPr>
              <a:t>) {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accent5"/>
                </a:solidFill>
              </a:rPr>
              <a:t>    Tank t1 = new Tank();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accent5"/>
                </a:solidFill>
              </a:rPr>
              <a:t>    Tank t2 = new Tank();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accent5"/>
                </a:solidFill>
              </a:rPr>
              <a:t>    t1.level = t2.level = 3;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accent5"/>
                </a:solidFill>
              </a:rPr>
              <a:t>    </a:t>
            </a:r>
            <a:r>
              <a:rPr lang="en-US" sz="1800" dirty="0" err="1">
                <a:solidFill>
                  <a:schemeClr val="accent5"/>
                </a:solidFill>
              </a:rPr>
              <a:t>System.out.println</a:t>
            </a:r>
            <a:r>
              <a:rPr lang="en-US" sz="1800" dirty="0">
                <a:solidFill>
                  <a:schemeClr val="accent5"/>
                </a:solidFill>
              </a:rPr>
              <a:t>(t1 == t2</a:t>
            </a:r>
            <a:r>
              <a:rPr lang="en-US" sz="1800" dirty="0" smtClean="0">
                <a:solidFill>
                  <a:schemeClr val="accent5"/>
                </a:solidFill>
              </a:rPr>
              <a:t>); // </a:t>
            </a:r>
            <a:r>
              <a:rPr lang="en-US" sz="1800" dirty="0" smtClean="0">
                <a:solidFill>
                  <a:srgbClr val="FF0000"/>
                </a:solidFill>
              </a:rPr>
              <a:t>false!</a:t>
            </a:r>
            <a:endParaRPr lang="en-US" sz="18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accent5"/>
                </a:solidFill>
              </a:rPr>
              <a:t>    </a:t>
            </a:r>
            <a:r>
              <a:rPr lang="en-US" sz="1800" dirty="0" err="1" smtClean="0">
                <a:solidFill>
                  <a:schemeClr val="accent5"/>
                </a:solidFill>
              </a:rPr>
              <a:t>System.out.println</a:t>
            </a:r>
            <a:r>
              <a:rPr lang="en-US" sz="1800" dirty="0" smtClean="0">
                <a:solidFill>
                  <a:schemeClr val="accent5"/>
                </a:solidFill>
              </a:rPr>
              <a:t>(t1.equals(t2)); // </a:t>
            </a:r>
            <a:r>
              <a:rPr lang="en-US" sz="1800" dirty="0" smtClean="0">
                <a:solidFill>
                  <a:srgbClr val="FF0000"/>
                </a:solidFill>
              </a:rPr>
              <a:t>false!</a:t>
            </a:r>
            <a:endParaRPr lang="en-US" sz="18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accent5"/>
                </a:solidFill>
              </a:rPr>
              <a:t>  }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accent5"/>
                </a:solidFill>
              </a:rPr>
              <a:t>}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0" y="395403"/>
            <a:ext cx="5181600" cy="6244883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Use equals() to compare two objects</a:t>
            </a:r>
          </a:p>
          <a:p>
            <a:pPr marL="0" indent="0">
              <a:buNone/>
            </a:pPr>
            <a:r>
              <a:rPr lang="en-US" sz="1700" dirty="0">
                <a:solidFill>
                  <a:schemeClr val="accent5"/>
                </a:solidFill>
              </a:rPr>
              <a:t>class Tank {</a:t>
            </a:r>
          </a:p>
          <a:p>
            <a:pPr marL="0" indent="0">
              <a:buNone/>
            </a:pPr>
            <a:r>
              <a:rPr lang="en-US" sz="1700" dirty="0">
                <a:solidFill>
                  <a:schemeClr val="accent5"/>
                </a:solidFill>
              </a:rPr>
              <a:t>  </a:t>
            </a:r>
            <a:r>
              <a:rPr lang="en-US" sz="1700" dirty="0" err="1">
                <a:solidFill>
                  <a:schemeClr val="accent5"/>
                </a:solidFill>
              </a:rPr>
              <a:t>int</a:t>
            </a:r>
            <a:r>
              <a:rPr lang="en-US" sz="1700" dirty="0">
                <a:solidFill>
                  <a:schemeClr val="accent5"/>
                </a:solidFill>
              </a:rPr>
              <a:t> level;</a:t>
            </a:r>
          </a:p>
          <a:p>
            <a:pPr marL="0" indent="0">
              <a:buNone/>
            </a:pPr>
            <a:r>
              <a:rPr lang="en-US" sz="1700" dirty="0">
                <a:solidFill>
                  <a:schemeClr val="accent5"/>
                </a:solidFill>
              </a:rPr>
              <a:t>  </a:t>
            </a:r>
            <a:r>
              <a:rPr lang="en-US" sz="1700" dirty="0" err="1">
                <a:solidFill>
                  <a:schemeClr val="accent5"/>
                </a:solidFill>
              </a:rPr>
              <a:t>boolean</a:t>
            </a:r>
            <a:r>
              <a:rPr lang="en-US" sz="1700" dirty="0">
                <a:solidFill>
                  <a:schemeClr val="accent5"/>
                </a:solidFill>
              </a:rPr>
              <a:t> equals(Tank </a:t>
            </a:r>
            <a:r>
              <a:rPr lang="en-US" sz="1700" dirty="0" err="1">
                <a:solidFill>
                  <a:schemeClr val="accent5"/>
                </a:solidFill>
              </a:rPr>
              <a:t>x_t</a:t>
            </a:r>
            <a:r>
              <a:rPr lang="en-US" sz="1700" dirty="0">
                <a:solidFill>
                  <a:schemeClr val="accent5"/>
                </a:solidFill>
              </a:rPr>
              <a:t>) {</a:t>
            </a:r>
          </a:p>
          <a:p>
            <a:pPr marL="0" indent="0">
              <a:buNone/>
            </a:pPr>
            <a:r>
              <a:rPr lang="en-US" sz="1700" dirty="0">
                <a:solidFill>
                  <a:schemeClr val="accent5"/>
                </a:solidFill>
              </a:rPr>
              <a:t>    return </a:t>
            </a:r>
            <a:r>
              <a:rPr lang="en-US" sz="1700" dirty="0" err="1">
                <a:solidFill>
                  <a:schemeClr val="accent5"/>
                </a:solidFill>
              </a:rPr>
              <a:t>this.level</a:t>
            </a:r>
            <a:r>
              <a:rPr lang="en-US" sz="1700" dirty="0">
                <a:solidFill>
                  <a:schemeClr val="accent5"/>
                </a:solidFill>
              </a:rPr>
              <a:t> == </a:t>
            </a:r>
            <a:r>
              <a:rPr lang="en-US" sz="1700" dirty="0" err="1">
                <a:solidFill>
                  <a:schemeClr val="accent5"/>
                </a:solidFill>
              </a:rPr>
              <a:t>x_t.level</a:t>
            </a:r>
            <a:r>
              <a:rPr lang="en-US" sz="1700" dirty="0">
                <a:solidFill>
                  <a:schemeClr val="accent5"/>
                </a:solidFill>
              </a:rPr>
              <a:t>;</a:t>
            </a:r>
          </a:p>
          <a:p>
            <a:pPr marL="0" indent="0">
              <a:buNone/>
            </a:pPr>
            <a:r>
              <a:rPr lang="en-US" sz="1700" dirty="0">
                <a:solidFill>
                  <a:schemeClr val="accent5"/>
                </a:solidFill>
              </a:rPr>
              <a:t>  }</a:t>
            </a:r>
          </a:p>
          <a:p>
            <a:pPr marL="0" indent="0">
              <a:buNone/>
            </a:pPr>
            <a:r>
              <a:rPr lang="en-US" sz="1700" dirty="0" smtClean="0">
                <a:solidFill>
                  <a:schemeClr val="accent5"/>
                </a:solidFill>
              </a:rPr>
              <a:t>}</a:t>
            </a:r>
            <a:endParaRPr lang="en-US" sz="1700" dirty="0">
              <a:solidFill>
                <a:schemeClr val="accent5"/>
              </a:solidFill>
            </a:endParaRPr>
          </a:p>
          <a:p>
            <a:pPr marL="0" indent="0">
              <a:buNone/>
            </a:pPr>
            <a:r>
              <a:rPr lang="en-US" sz="1700" dirty="0">
                <a:solidFill>
                  <a:schemeClr val="accent5"/>
                </a:solidFill>
              </a:rPr>
              <a:t>public class Equivalence2 {</a:t>
            </a:r>
          </a:p>
          <a:p>
            <a:pPr marL="0" indent="0">
              <a:buNone/>
            </a:pPr>
            <a:r>
              <a:rPr lang="en-US" sz="1700" dirty="0">
                <a:solidFill>
                  <a:schemeClr val="accent5"/>
                </a:solidFill>
              </a:rPr>
              <a:t>  public static void main(String[] </a:t>
            </a:r>
            <a:r>
              <a:rPr lang="en-US" sz="1700" dirty="0" err="1">
                <a:solidFill>
                  <a:schemeClr val="accent5"/>
                </a:solidFill>
              </a:rPr>
              <a:t>args</a:t>
            </a:r>
            <a:r>
              <a:rPr lang="en-US" sz="1700" dirty="0">
                <a:solidFill>
                  <a:schemeClr val="accent5"/>
                </a:solidFill>
              </a:rPr>
              <a:t>) {</a:t>
            </a:r>
          </a:p>
          <a:p>
            <a:pPr marL="0" indent="0">
              <a:buNone/>
            </a:pPr>
            <a:r>
              <a:rPr lang="en-US" sz="1700" dirty="0">
                <a:solidFill>
                  <a:schemeClr val="accent5"/>
                </a:solidFill>
              </a:rPr>
              <a:t>    Tank t1 = new Tank();</a:t>
            </a:r>
          </a:p>
          <a:p>
            <a:pPr marL="0" indent="0">
              <a:buNone/>
            </a:pPr>
            <a:r>
              <a:rPr lang="en-US" sz="1700" dirty="0">
                <a:solidFill>
                  <a:schemeClr val="accent5"/>
                </a:solidFill>
              </a:rPr>
              <a:t>    Tank t2 = new Tank();</a:t>
            </a:r>
          </a:p>
          <a:p>
            <a:pPr marL="0" indent="0">
              <a:buNone/>
            </a:pPr>
            <a:r>
              <a:rPr lang="en-US" sz="1700" dirty="0">
                <a:solidFill>
                  <a:schemeClr val="accent5"/>
                </a:solidFill>
              </a:rPr>
              <a:t>    t1.level = t2.level = 3;</a:t>
            </a:r>
          </a:p>
          <a:p>
            <a:pPr marL="0" indent="0">
              <a:buNone/>
            </a:pPr>
            <a:r>
              <a:rPr lang="en-US" sz="1700" dirty="0">
                <a:solidFill>
                  <a:schemeClr val="accent5"/>
                </a:solidFill>
              </a:rPr>
              <a:t>    </a:t>
            </a:r>
            <a:r>
              <a:rPr lang="en-US" sz="1700" dirty="0" err="1">
                <a:solidFill>
                  <a:schemeClr val="accent5"/>
                </a:solidFill>
              </a:rPr>
              <a:t>System.out.println</a:t>
            </a:r>
            <a:r>
              <a:rPr lang="en-US" sz="1700" dirty="0">
                <a:solidFill>
                  <a:schemeClr val="accent5"/>
                </a:solidFill>
              </a:rPr>
              <a:t>(t1.equals(t2</a:t>
            </a:r>
            <a:r>
              <a:rPr lang="en-US" sz="1700" dirty="0" smtClean="0">
                <a:solidFill>
                  <a:schemeClr val="accent5"/>
                </a:solidFill>
              </a:rPr>
              <a:t>)); // true</a:t>
            </a:r>
          </a:p>
          <a:p>
            <a:pPr marL="0" indent="0">
              <a:buNone/>
            </a:pPr>
            <a:r>
              <a:rPr lang="en-US" sz="1700" dirty="0">
                <a:solidFill>
                  <a:schemeClr val="accent5"/>
                </a:solidFill>
              </a:rPr>
              <a:t> </a:t>
            </a:r>
            <a:r>
              <a:rPr lang="en-US" sz="1700" dirty="0" smtClean="0">
                <a:solidFill>
                  <a:schemeClr val="accent5"/>
                </a:solidFill>
              </a:rPr>
              <a:t>   </a:t>
            </a:r>
            <a:r>
              <a:rPr lang="en-US" sz="1700" dirty="0" err="1" smtClean="0">
                <a:solidFill>
                  <a:schemeClr val="accent5"/>
                </a:solidFill>
              </a:rPr>
              <a:t>System.out.println</a:t>
            </a:r>
            <a:r>
              <a:rPr lang="en-US" sz="1700" dirty="0" smtClean="0">
                <a:solidFill>
                  <a:schemeClr val="accent5"/>
                </a:solidFill>
              </a:rPr>
              <a:t>(t1 </a:t>
            </a:r>
            <a:r>
              <a:rPr lang="en-US" sz="1700" dirty="0">
                <a:solidFill>
                  <a:schemeClr val="accent5"/>
                </a:solidFill>
              </a:rPr>
              <a:t>== t2); // </a:t>
            </a:r>
            <a:r>
              <a:rPr lang="en-US" sz="1700" dirty="0">
                <a:solidFill>
                  <a:srgbClr val="FF0000"/>
                </a:solidFill>
              </a:rPr>
              <a:t>false</a:t>
            </a:r>
            <a:r>
              <a:rPr lang="en-US" sz="1700" dirty="0" smtClean="0">
                <a:solidFill>
                  <a:srgbClr val="FF0000"/>
                </a:solidFill>
              </a:rPr>
              <a:t>! Still comparing refs</a:t>
            </a:r>
            <a:endParaRPr lang="en-US" sz="1700" dirty="0">
              <a:solidFill>
                <a:schemeClr val="accent5"/>
              </a:solidFill>
            </a:endParaRPr>
          </a:p>
          <a:p>
            <a:pPr marL="0" indent="0">
              <a:buNone/>
            </a:pPr>
            <a:r>
              <a:rPr lang="en-US" sz="1700" dirty="0">
                <a:solidFill>
                  <a:schemeClr val="accent5"/>
                </a:solidFill>
              </a:rPr>
              <a:t>  }</a:t>
            </a:r>
          </a:p>
          <a:p>
            <a:pPr marL="0" indent="0">
              <a:buNone/>
            </a:pPr>
            <a:r>
              <a:rPr lang="en-US" sz="1700" dirty="0">
                <a:solidFill>
                  <a:schemeClr val="accent5"/>
                </a:solidFill>
              </a:rPr>
              <a:t>}</a:t>
            </a:r>
            <a:endParaRPr lang="en-US" sz="1700" dirty="0" smtClean="0">
              <a:solidFill>
                <a:schemeClr val="accent5"/>
              </a:solidFill>
            </a:endParaRPr>
          </a:p>
          <a:p>
            <a:r>
              <a:rPr lang="en-US" dirty="0" smtClean="0"/>
              <a:t>However, by default (not overriding </a:t>
            </a:r>
            <a:r>
              <a:rPr lang="en-US" dirty="0" smtClean="0">
                <a:solidFill>
                  <a:schemeClr val="accent5"/>
                </a:solidFill>
              </a:rPr>
              <a:t>equals()</a:t>
            </a:r>
            <a:r>
              <a:rPr lang="en-US" dirty="0" smtClean="0"/>
              <a:t>), </a:t>
            </a:r>
            <a:r>
              <a:rPr lang="en-US" dirty="0" smtClean="0">
                <a:solidFill>
                  <a:schemeClr val="accent5"/>
                </a:solidFill>
              </a:rPr>
              <a:t>equals() </a:t>
            </a:r>
            <a:r>
              <a:rPr lang="en-US" dirty="0" smtClean="0"/>
              <a:t>still compares the references!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ABDB1-18BE-4FDA-B9ED-FBF356C892E4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29352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Logical Operators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66626512"/>
              </p:ext>
            </p:extLst>
          </p:nvPr>
        </p:nvGraphicFramePr>
        <p:xfrm>
          <a:off x="838200" y="1825625"/>
          <a:ext cx="51816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/>
                <a:gridCol w="25908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Operator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Description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&amp;&amp;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Logical AND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||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Logical OR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!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Logical complement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199" y="365125"/>
            <a:ext cx="5380463" cy="6303304"/>
          </a:xfrm>
        </p:spPr>
        <p:txBody>
          <a:bodyPr>
            <a:normAutofit fontScale="77500" lnSpcReduction="20000"/>
          </a:bodyPr>
          <a:lstStyle/>
          <a:p>
            <a:r>
              <a:rPr lang="en-US" sz="2400" dirty="0" smtClean="0"/>
              <a:t>Short-circuiting: the next operand is evaluated only if needed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accent5"/>
                </a:solidFill>
              </a:rPr>
              <a:t>public class </a:t>
            </a:r>
            <a:r>
              <a:rPr lang="en-US" sz="1800" dirty="0" err="1">
                <a:solidFill>
                  <a:schemeClr val="accent5"/>
                </a:solidFill>
              </a:rPr>
              <a:t>ShortCircuiting</a:t>
            </a:r>
            <a:r>
              <a:rPr lang="en-US" sz="1800" dirty="0">
                <a:solidFill>
                  <a:schemeClr val="accent5"/>
                </a:solidFill>
              </a:rPr>
              <a:t> {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accent5"/>
                </a:solidFill>
              </a:rPr>
              <a:t>  static </a:t>
            </a:r>
            <a:r>
              <a:rPr lang="en-US" sz="1800" dirty="0" err="1">
                <a:solidFill>
                  <a:schemeClr val="accent5"/>
                </a:solidFill>
              </a:rPr>
              <a:t>boolean</a:t>
            </a:r>
            <a:r>
              <a:rPr lang="en-US" sz="1800" dirty="0">
                <a:solidFill>
                  <a:schemeClr val="accent5"/>
                </a:solidFill>
              </a:rPr>
              <a:t> test1(</a:t>
            </a:r>
            <a:r>
              <a:rPr lang="en-US" sz="1800" dirty="0" err="1">
                <a:solidFill>
                  <a:schemeClr val="accent5"/>
                </a:solidFill>
              </a:rPr>
              <a:t>int</a:t>
            </a:r>
            <a:r>
              <a:rPr lang="en-US" sz="1800" dirty="0">
                <a:solidFill>
                  <a:schemeClr val="accent5"/>
                </a:solidFill>
              </a:rPr>
              <a:t> </a:t>
            </a:r>
            <a:r>
              <a:rPr lang="en-US" sz="1800" dirty="0" err="1">
                <a:solidFill>
                  <a:schemeClr val="accent5"/>
                </a:solidFill>
              </a:rPr>
              <a:t>x_v</a:t>
            </a:r>
            <a:r>
              <a:rPr lang="en-US" sz="1800" dirty="0">
                <a:solidFill>
                  <a:schemeClr val="accent5"/>
                </a:solidFill>
              </a:rPr>
              <a:t>) {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accent5"/>
                </a:solidFill>
              </a:rPr>
              <a:t>    </a:t>
            </a:r>
            <a:r>
              <a:rPr lang="en-US" sz="1800" dirty="0" err="1">
                <a:solidFill>
                  <a:schemeClr val="accent5"/>
                </a:solidFill>
              </a:rPr>
              <a:t>System.out.println</a:t>
            </a:r>
            <a:r>
              <a:rPr lang="en-US" sz="1800" dirty="0">
                <a:solidFill>
                  <a:schemeClr val="accent5"/>
                </a:solidFill>
              </a:rPr>
              <a:t>("test1: " + (</a:t>
            </a:r>
            <a:r>
              <a:rPr lang="en-US" sz="1800" dirty="0" err="1">
                <a:solidFill>
                  <a:schemeClr val="accent5"/>
                </a:solidFill>
              </a:rPr>
              <a:t>x_v</a:t>
            </a:r>
            <a:r>
              <a:rPr lang="en-US" sz="1800" dirty="0">
                <a:solidFill>
                  <a:schemeClr val="accent5"/>
                </a:solidFill>
              </a:rPr>
              <a:t> &lt; 1));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accent5"/>
                </a:solidFill>
              </a:rPr>
              <a:t>    return </a:t>
            </a:r>
            <a:r>
              <a:rPr lang="en-US" sz="1800" dirty="0" err="1">
                <a:solidFill>
                  <a:schemeClr val="accent5"/>
                </a:solidFill>
              </a:rPr>
              <a:t>x_v</a:t>
            </a:r>
            <a:r>
              <a:rPr lang="en-US" sz="1800" dirty="0">
                <a:solidFill>
                  <a:schemeClr val="accent5"/>
                </a:solidFill>
              </a:rPr>
              <a:t> &lt; 1;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accent5"/>
                </a:solidFill>
              </a:rPr>
              <a:t>  }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accent5"/>
                </a:solidFill>
              </a:rPr>
              <a:t>  static </a:t>
            </a:r>
            <a:r>
              <a:rPr lang="en-US" sz="1800" dirty="0" err="1">
                <a:solidFill>
                  <a:schemeClr val="accent5"/>
                </a:solidFill>
              </a:rPr>
              <a:t>boolean</a:t>
            </a:r>
            <a:r>
              <a:rPr lang="en-US" sz="1800" dirty="0">
                <a:solidFill>
                  <a:schemeClr val="accent5"/>
                </a:solidFill>
              </a:rPr>
              <a:t> test2(</a:t>
            </a:r>
            <a:r>
              <a:rPr lang="en-US" sz="1800" dirty="0" err="1">
                <a:solidFill>
                  <a:schemeClr val="accent5"/>
                </a:solidFill>
              </a:rPr>
              <a:t>int</a:t>
            </a:r>
            <a:r>
              <a:rPr lang="en-US" sz="1800" dirty="0">
                <a:solidFill>
                  <a:schemeClr val="accent5"/>
                </a:solidFill>
              </a:rPr>
              <a:t> </a:t>
            </a:r>
            <a:r>
              <a:rPr lang="en-US" sz="1800" dirty="0" err="1">
                <a:solidFill>
                  <a:schemeClr val="accent5"/>
                </a:solidFill>
              </a:rPr>
              <a:t>x_v</a:t>
            </a:r>
            <a:r>
              <a:rPr lang="en-US" sz="1800" dirty="0">
                <a:solidFill>
                  <a:schemeClr val="accent5"/>
                </a:solidFill>
              </a:rPr>
              <a:t>) {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accent5"/>
                </a:solidFill>
              </a:rPr>
              <a:t>    </a:t>
            </a:r>
            <a:r>
              <a:rPr lang="en-US" sz="1800" dirty="0" err="1">
                <a:solidFill>
                  <a:schemeClr val="accent5"/>
                </a:solidFill>
              </a:rPr>
              <a:t>System.out.println</a:t>
            </a:r>
            <a:r>
              <a:rPr lang="en-US" sz="1800" dirty="0">
                <a:solidFill>
                  <a:schemeClr val="accent5"/>
                </a:solidFill>
              </a:rPr>
              <a:t>("test2: " + (</a:t>
            </a:r>
            <a:r>
              <a:rPr lang="en-US" sz="1800" dirty="0" err="1">
                <a:solidFill>
                  <a:schemeClr val="accent5"/>
                </a:solidFill>
              </a:rPr>
              <a:t>x_v</a:t>
            </a:r>
            <a:r>
              <a:rPr lang="en-US" sz="1800" dirty="0">
                <a:solidFill>
                  <a:schemeClr val="accent5"/>
                </a:solidFill>
              </a:rPr>
              <a:t> &lt; 2));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accent5"/>
                </a:solidFill>
              </a:rPr>
              <a:t>    return </a:t>
            </a:r>
            <a:r>
              <a:rPr lang="en-US" sz="1800" dirty="0" err="1">
                <a:solidFill>
                  <a:schemeClr val="accent5"/>
                </a:solidFill>
              </a:rPr>
              <a:t>x_v</a:t>
            </a:r>
            <a:r>
              <a:rPr lang="en-US" sz="1800" dirty="0">
                <a:solidFill>
                  <a:schemeClr val="accent5"/>
                </a:solidFill>
              </a:rPr>
              <a:t> &lt; 2;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accent5"/>
                </a:solidFill>
              </a:rPr>
              <a:t>  }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accent5"/>
                </a:solidFill>
              </a:rPr>
              <a:t>  static </a:t>
            </a:r>
            <a:r>
              <a:rPr lang="en-US" sz="1800" dirty="0" err="1">
                <a:solidFill>
                  <a:schemeClr val="accent5"/>
                </a:solidFill>
              </a:rPr>
              <a:t>boolean</a:t>
            </a:r>
            <a:r>
              <a:rPr lang="en-US" sz="1800" dirty="0">
                <a:solidFill>
                  <a:schemeClr val="accent5"/>
                </a:solidFill>
              </a:rPr>
              <a:t> test3(</a:t>
            </a:r>
            <a:r>
              <a:rPr lang="en-US" sz="1800" dirty="0" err="1">
                <a:solidFill>
                  <a:schemeClr val="accent5"/>
                </a:solidFill>
              </a:rPr>
              <a:t>int</a:t>
            </a:r>
            <a:r>
              <a:rPr lang="en-US" sz="1800" dirty="0">
                <a:solidFill>
                  <a:schemeClr val="accent5"/>
                </a:solidFill>
              </a:rPr>
              <a:t> </a:t>
            </a:r>
            <a:r>
              <a:rPr lang="en-US" sz="1800" dirty="0" err="1">
                <a:solidFill>
                  <a:schemeClr val="accent5"/>
                </a:solidFill>
              </a:rPr>
              <a:t>x_v</a:t>
            </a:r>
            <a:r>
              <a:rPr lang="en-US" sz="1800" dirty="0">
                <a:solidFill>
                  <a:schemeClr val="accent5"/>
                </a:solidFill>
              </a:rPr>
              <a:t>) {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accent5"/>
                </a:solidFill>
              </a:rPr>
              <a:t>    </a:t>
            </a:r>
            <a:r>
              <a:rPr lang="en-US" sz="1800" dirty="0" err="1">
                <a:solidFill>
                  <a:schemeClr val="accent5"/>
                </a:solidFill>
              </a:rPr>
              <a:t>System.out.println</a:t>
            </a:r>
            <a:r>
              <a:rPr lang="en-US" sz="1800" dirty="0">
                <a:solidFill>
                  <a:schemeClr val="accent5"/>
                </a:solidFill>
              </a:rPr>
              <a:t>("test3: " + (</a:t>
            </a:r>
            <a:r>
              <a:rPr lang="en-US" sz="1800" dirty="0" err="1">
                <a:solidFill>
                  <a:schemeClr val="accent5"/>
                </a:solidFill>
              </a:rPr>
              <a:t>x_v</a:t>
            </a:r>
            <a:r>
              <a:rPr lang="en-US" sz="1800" dirty="0">
                <a:solidFill>
                  <a:schemeClr val="accent5"/>
                </a:solidFill>
              </a:rPr>
              <a:t> &lt; 3));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accent5"/>
                </a:solidFill>
              </a:rPr>
              <a:t>    return </a:t>
            </a:r>
            <a:r>
              <a:rPr lang="en-US" sz="1800" dirty="0" err="1">
                <a:solidFill>
                  <a:schemeClr val="accent5"/>
                </a:solidFill>
              </a:rPr>
              <a:t>x_v</a:t>
            </a:r>
            <a:r>
              <a:rPr lang="en-US" sz="1800" dirty="0">
                <a:solidFill>
                  <a:schemeClr val="accent5"/>
                </a:solidFill>
              </a:rPr>
              <a:t> &lt; 3;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accent5"/>
                </a:solidFill>
              </a:rPr>
              <a:t>  }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accent5"/>
                </a:solidFill>
              </a:rPr>
              <a:t>  public static void main(String[] </a:t>
            </a:r>
            <a:r>
              <a:rPr lang="en-US" sz="1800" dirty="0" err="1">
                <a:solidFill>
                  <a:schemeClr val="accent5"/>
                </a:solidFill>
              </a:rPr>
              <a:t>args</a:t>
            </a:r>
            <a:r>
              <a:rPr lang="en-US" sz="1800" dirty="0">
                <a:solidFill>
                  <a:schemeClr val="accent5"/>
                </a:solidFill>
              </a:rPr>
              <a:t>) {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accent5"/>
                </a:solidFill>
              </a:rPr>
              <a:t>    </a:t>
            </a:r>
            <a:r>
              <a:rPr lang="en-US" sz="1800" dirty="0" err="1">
                <a:solidFill>
                  <a:schemeClr val="accent5"/>
                </a:solidFill>
              </a:rPr>
              <a:t>boolean</a:t>
            </a:r>
            <a:r>
              <a:rPr lang="en-US" sz="1800" dirty="0">
                <a:solidFill>
                  <a:schemeClr val="accent5"/>
                </a:solidFill>
              </a:rPr>
              <a:t> b = test1(0) &amp;&amp; test2(2) &amp;&amp; test3(2);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accent5"/>
                </a:solidFill>
              </a:rPr>
              <a:t>    </a:t>
            </a:r>
            <a:r>
              <a:rPr lang="en-US" sz="1800" dirty="0" err="1">
                <a:solidFill>
                  <a:schemeClr val="accent5"/>
                </a:solidFill>
              </a:rPr>
              <a:t>System.out.println</a:t>
            </a:r>
            <a:r>
              <a:rPr lang="en-US" sz="1800" dirty="0">
                <a:solidFill>
                  <a:schemeClr val="accent5"/>
                </a:solidFill>
              </a:rPr>
              <a:t>("final: " + b</a:t>
            </a:r>
            <a:r>
              <a:rPr lang="en-US" sz="1800" dirty="0" smtClean="0">
                <a:solidFill>
                  <a:schemeClr val="accent5"/>
                </a:solidFill>
              </a:rPr>
              <a:t>);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accent5"/>
                </a:solidFill>
              </a:rPr>
              <a:t> </a:t>
            </a:r>
            <a:r>
              <a:rPr lang="en-US" sz="1800" dirty="0" smtClean="0">
                <a:solidFill>
                  <a:schemeClr val="accent5"/>
                </a:solidFill>
              </a:rPr>
              <a:t>   //test1: true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accent5"/>
                </a:solidFill>
              </a:rPr>
              <a:t> </a:t>
            </a:r>
            <a:r>
              <a:rPr lang="en-US" sz="1800" dirty="0" smtClean="0">
                <a:solidFill>
                  <a:schemeClr val="accent5"/>
                </a:solidFill>
              </a:rPr>
              <a:t>   //test2: false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accent5"/>
                </a:solidFill>
              </a:rPr>
              <a:t> </a:t>
            </a:r>
            <a:r>
              <a:rPr lang="en-US" sz="1800" dirty="0" smtClean="0">
                <a:solidFill>
                  <a:schemeClr val="accent5"/>
                </a:solidFill>
              </a:rPr>
              <a:t>   //final: false</a:t>
            </a:r>
            <a:endParaRPr lang="en-US" sz="1800" dirty="0">
              <a:solidFill>
                <a:schemeClr val="accent5"/>
              </a:solidFill>
            </a:endParaRPr>
          </a:p>
          <a:p>
            <a:pPr marL="0" indent="0">
              <a:buNone/>
            </a:pPr>
            <a:r>
              <a:rPr lang="en-US" sz="1800" dirty="0" smtClean="0">
                <a:solidFill>
                  <a:schemeClr val="accent5"/>
                </a:solidFill>
              </a:rPr>
              <a:t>  }</a:t>
            </a:r>
            <a:endParaRPr lang="en-US" sz="1800" dirty="0">
              <a:solidFill>
                <a:schemeClr val="accent5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accent5"/>
                </a:solidFill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469" y="3824868"/>
            <a:ext cx="496229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/>
              <a:t>These can be applied to </a:t>
            </a:r>
            <a:r>
              <a:rPr lang="en-US" sz="2400" dirty="0" err="1" smtClean="0">
                <a:solidFill>
                  <a:schemeClr val="accent5"/>
                </a:solidFill>
              </a:rPr>
              <a:t>boolean</a:t>
            </a:r>
            <a:r>
              <a:rPr lang="en-US" sz="2400" dirty="0" smtClean="0">
                <a:solidFill>
                  <a:schemeClr val="accent5"/>
                </a:solidFill>
              </a:rPr>
              <a:t> </a:t>
            </a:r>
            <a:r>
              <a:rPr lang="en-US" sz="2400" dirty="0" smtClean="0"/>
              <a:t>variables only</a:t>
            </a:r>
          </a:p>
          <a:p>
            <a:endParaRPr lang="en-US" dirty="0" smtClean="0"/>
          </a:p>
          <a:p>
            <a:r>
              <a:rPr lang="en-US" dirty="0" err="1">
                <a:solidFill>
                  <a:schemeClr val="accent5"/>
                </a:solidFill>
              </a:rPr>
              <a:t>i</a:t>
            </a:r>
            <a:r>
              <a:rPr lang="en-US" dirty="0" err="1" smtClean="0">
                <a:solidFill>
                  <a:schemeClr val="accent5"/>
                </a:solidFill>
              </a:rPr>
              <a:t>nt</a:t>
            </a:r>
            <a:r>
              <a:rPr lang="en-US" dirty="0" smtClean="0">
                <a:solidFill>
                  <a:schemeClr val="accent5"/>
                </a:solidFill>
              </a:rPr>
              <a:t> v1 = 1; </a:t>
            </a:r>
            <a:r>
              <a:rPr lang="en-US" dirty="0" err="1" smtClean="0">
                <a:solidFill>
                  <a:schemeClr val="accent5"/>
                </a:solidFill>
              </a:rPr>
              <a:t>int</a:t>
            </a:r>
            <a:r>
              <a:rPr lang="en-US" dirty="0" smtClean="0">
                <a:solidFill>
                  <a:schemeClr val="accent5"/>
                </a:solidFill>
              </a:rPr>
              <a:t> v2 = 2;</a:t>
            </a:r>
          </a:p>
          <a:p>
            <a:r>
              <a:rPr lang="en-US" dirty="0" err="1" smtClean="0">
                <a:solidFill>
                  <a:schemeClr val="accent5"/>
                </a:solidFill>
              </a:rPr>
              <a:t>System.out.println</a:t>
            </a:r>
            <a:r>
              <a:rPr lang="en-US" dirty="0" smtClean="0">
                <a:solidFill>
                  <a:schemeClr val="accent5"/>
                </a:solidFill>
              </a:rPr>
              <a:t>((v1==1) &amp;&amp; (v2==1)); // false</a:t>
            </a:r>
          </a:p>
          <a:p>
            <a:r>
              <a:rPr lang="en-US" dirty="0" err="1" smtClean="0">
                <a:solidFill>
                  <a:schemeClr val="accent5"/>
                </a:solidFill>
              </a:rPr>
              <a:t>System.out.println</a:t>
            </a:r>
            <a:r>
              <a:rPr lang="en-US" dirty="0" smtClean="0">
                <a:solidFill>
                  <a:schemeClr val="accent5"/>
                </a:solidFill>
              </a:rPr>
              <a:t>((v1==1) || (v2==1)); // true</a:t>
            </a:r>
          </a:p>
          <a:p>
            <a:r>
              <a:rPr lang="en-US" dirty="0" err="1" smtClean="0">
                <a:solidFill>
                  <a:schemeClr val="accent5"/>
                </a:solidFill>
              </a:rPr>
              <a:t>System.out.println</a:t>
            </a:r>
            <a:r>
              <a:rPr lang="en-US" dirty="0" smtClean="0">
                <a:solidFill>
                  <a:schemeClr val="accent5"/>
                </a:solidFill>
              </a:rPr>
              <a:t>(!(v1==1)); // false</a:t>
            </a:r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ABDB1-18BE-4FDA-B9ED-FBF356C892E4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63714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Ternary Operator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It has three operands, following the form:</a:t>
            </a:r>
          </a:p>
          <a:p>
            <a:pPr lvl="1"/>
            <a:r>
              <a:rPr lang="en-US" dirty="0" err="1"/>
              <a:t>b</a:t>
            </a:r>
            <a:r>
              <a:rPr lang="en-US" dirty="0" err="1" smtClean="0"/>
              <a:t>oolean-exp</a:t>
            </a:r>
            <a:r>
              <a:rPr lang="en-US" dirty="0" smtClean="0"/>
              <a:t> ? value0 : value1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/>
              <a:t>The below two methods are functionally equivalent:</a:t>
            </a:r>
          </a:p>
          <a:p>
            <a:pPr marL="0" indent="0">
              <a:buNone/>
            </a:pPr>
            <a:r>
              <a:rPr lang="en-US" sz="1800" dirty="0" err="1">
                <a:solidFill>
                  <a:schemeClr val="accent5"/>
                </a:solidFill>
              </a:rPr>
              <a:t>i</a:t>
            </a:r>
            <a:r>
              <a:rPr lang="en-US" sz="1800" dirty="0" err="1" smtClean="0">
                <a:solidFill>
                  <a:schemeClr val="accent5"/>
                </a:solidFill>
              </a:rPr>
              <a:t>nt</a:t>
            </a:r>
            <a:r>
              <a:rPr lang="en-US" sz="1800" dirty="0" smtClean="0">
                <a:solidFill>
                  <a:schemeClr val="accent5"/>
                </a:solidFill>
              </a:rPr>
              <a:t> </a:t>
            </a:r>
            <a:r>
              <a:rPr lang="en-US" sz="1800" dirty="0" err="1" smtClean="0">
                <a:solidFill>
                  <a:schemeClr val="accent5"/>
                </a:solidFill>
              </a:rPr>
              <a:t>useTernary</a:t>
            </a:r>
            <a:r>
              <a:rPr lang="en-US" sz="1800" dirty="0" smtClean="0">
                <a:solidFill>
                  <a:schemeClr val="accent5"/>
                </a:solidFill>
              </a:rPr>
              <a:t>(</a:t>
            </a:r>
            <a:r>
              <a:rPr lang="en-US" sz="1800" dirty="0" err="1" smtClean="0">
                <a:solidFill>
                  <a:schemeClr val="accent5"/>
                </a:solidFill>
              </a:rPr>
              <a:t>int</a:t>
            </a:r>
            <a:r>
              <a:rPr lang="en-US" sz="1800" dirty="0" smtClean="0">
                <a:solidFill>
                  <a:schemeClr val="accent5"/>
                </a:solidFill>
              </a:rPr>
              <a:t> </a:t>
            </a:r>
            <a:r>
              <a:rPr lang="en-US" sz="1800" dirty="0" err="1" smtClean="0">
                <a:solidFill>
                  <a:schemeClr val="accent5"/>
                </a:solidFill>
              </a:rPr>
              <a:t>i</a:t>
            </a:r>
            <a:r>
              <a:rPr lang="en-US" sz="1800" dirty="0" smtClean="0">
                <a:solidFill>
                  <a:schemeClr val="accent5"/>
                </a:solidFill>
              </a:rPr>
              <a:t>) {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accent5"/>
                </a:solidFill>
              </a:rPr>
              <a:t> </a:t>
            </a:r>
            <a:r>
              <a:rPr lang="en-US" sz="1800" dirty="0" smtClean="0">
                <a:solidFill>
                  <a:schemeClr val="accent5"/>
                </a:solidFill>
              </a:rPr>
              <a:t> return </a:t>
            </a:r>
            <a:r>
              <a:rPr lang="en-US" sz="1800" dirty="0" err="1" smtClean="0">
                <a:solidFill>
                  <a:schemeClr val="accent5"/>
                </a:solidFill>
              </a:rPr>
              <a:t>i</a:t>
            </a:r>
            <a:r>
              <a:rPr lang="en-US" sz="1800" dirty="0" smtClean="0">
                <a:solidFill>
                  <a:schemeClr val="accent5"/>
                </a:solidFill>
              </a:rPr>
              <a:t> &lt; 10 ? </a:t>
            </a:r>
            <a:r>
              <a:rPr lang="en-US" sz="1800" dirty="0" err="1" smtClean="0">
                <a:solidFill>
                  <a:schemeClr val="accent5"/>
                </a:solidFill>
              </a:rPr>
              <a:t>i</a:t>
            </a:r>
            <a:r>
              <a:rPr lang="en-US" sz="1800" dirty="0" smtClean="0">
                <a:solidFill>
                  <a:schemeClr val="accent5"/>
                </a:solidFill>
              </a:rPr>
              <a:t>*100 : </a:t>
            </a:r>
            <a:r>
              <a:rPr lang="en-US" sz="1800" dirty="0" err="1" smtClean="0">
                <a:solidFill>
                  <a:schemeClr val="accent5"/>
                </a:solidFill>
              </a:rPr>
              <a:t>i</a:t>
            </a:r>
            <a:r>
              <a:rPr lang="en-US" sz="1800" dirty="0" smtClean="0">
                <a:solidFill>
                  <a:schemeClr val="accent5"/>
                </a:solidFill>
              </a:rPr>
              <a:t>*10;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schemeClr val="accent5"/>
                </a:solidFill>
              </a:rPr>
              <a:t>}</a:t>
            </a:r>
          </a:p>
          <a:p>
            <a:pPr marL="0" indent="0">
              <a:buNone/>
            </a:pPr>
            <a:r>
              <a:rPr lang="en-US" sz="1800" dirty="0" err="1">
                <a:solidFill>
                  <a:schemeClr val="accent5"/>
                </a:solidFill>
              </a:rPr>
              <a:t>i</a:t>
            </a:r>
            <a:r>
              <a:rPr lang="en-US" sz="1800" dirty="0" err="1" smtClean="0">
                <a:solidFill>
                  <a:schemeClr val="accent5"/>
                </a:solidFill>
              </a:rPr>
              <a:t>nt</a:t>
            </a:r>
            <a:r>
              <a:rPr lang="en-US" sz="1800" dirty="0" smtClean="0">
                <a:solidFill>
                  <a:schemeClr val="accent5"/>
                </a:solidFill>
              </a:rPr>
              <a:t> </a:t>
            </a:r>
            <a:r>
              <a:rPr lang="en-US" sz="1800" dirty="0" err="1" smtClean="0">
                <a:solidFill>
                  <a:schemeClr val="accent5"/>
                </a:solidFill>
              </a:rPr>
              <a:t>standardIfElse</a:t>
            </a:r>
            <a:r>
              <a:rPr lang="en-US" sz="1800" dirty="0" smtClean="0">
                <a:solidFill>
                  <a:schemeClr val="accent5"/>
                </a:solidFill>
              </a:rPr>
              <a:t>(</a:t>
            </a:r>
            <a:r>
              <a:rPr lang="en-US" sz="1800" dirty="0" err="1" smtClean="0">
                <a:solidFill>
                  <a:schemeClr val="accent5"/>
                </a:solidFill>
              </a:rPr>
              <a:t>int</a:t>
            </a:r>
            <a:r>
              <a:rPr lang="en-US" sz="1800" dirty="0" smtClean="0">
                <a:solidFill>
                  <a:schemeClr val="accent5"/>
                </a:solidFill>
              </a:rPr>
              <a:t> </a:t>
            </a:r>
            <a:r>
              <a:rPr lang="en-US" sz="1800" dirty="0" err="1" smtClean="0">
                <a:solidFill>
                  <a:schemeClr val="accent5"/>
                </a:solidFill>
              </a:rPr>
              <a:t>i</a:t>
            </a:r>
            <a:r>
              <a:rPr lang="en-US" sz="1800" dirty="0" smtClean="0">
                <a:solidFill>
                  <a:schemeClr val="accent5"/>
                </a:solidFill>
              </a:rPr>
              <a:t>) {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accent5"/>
                </a:solidFill>
              </a:rPr>
              <a:t> </a:t>
            </a:r>
            <a:r>
              <a:rPr lang="en-US" sz="1800" dirty="0" smtClean="0">
                <a:solidFill>
                  <a:schemeClr val="accent5"/>
                </a:solidFill>
              </a:rPr>
              <a:t> if (</a:t>
            </a:r>
            <a:r>
              <a:rPr lang="en-US" sz="1800" dirty="0" err="1" smtClean="0">
                <a:solidFill>
                  <a:schemeClr val="accent5"/>
                </a:solidFill>
              </a:rPr>
              <a:t>i</a:t>
            </a:r>
            <a:r>
              <a:rPr lang="en-US" sz="1800" dirty="0" smtClean="0">
                <a:solidFill>
                  <a:schemeClr val="accent5"/>
                </a:solidFill>
              </a:rPr>
              <a:t> &lt; 10)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accent5"/>
                </a:solidFill>
              </a:rPr>
              <a:t> </a:t>
            </a:r>
            <a:r>
              <a:rPr lang="en-US" sz="1800" dirty="0" smtClean="0">
                <a:solidFill>
                  <a:schemeClr val="accent5"/>
                </a:solidFill>
              </a:rPr>
              <a:t>   return </a:t>
            </a:r>
            <a:r>
              <a:rPr lang="en-US" sz="1800" dirty="0" err="1" smtClean="0">
                <a:solidFill>
                  <a:schemeClr val="accent5"/>
                </a:solidFill>
              </a:rPr>
              <a:t>i</a:t>
            </a:r>
            <a:r>
              <a:rPr lang="en-US" sz="1800" dirty="0" smtClean="0">
                <a:solidFill>
                  <a:schemeClr val="accent5"/>
                </a:solidFill>
              </a:rPr>
              <a:t>*100;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accent5"/>
                </a:solidFill>
              </a:rPr>
              <a:t> </a:t>
            </a:r>
            <a:r>
              <a:rPr lang="en-US" sz="1800" dirty="0" smtClean="0">
                <a:solidFill>
                  <a:schemeClr val="accent5"/>
                </a:solidFill>
              </a:rPr>
              <a:t> else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accent5"/>
                </a:solidFill>
              </a:rPr>
              <a:t> </a:t>
            </a:r>
            <a:r>
              <a:rPr lang="en-US" sz="1800" dirty="0" smtClean="0">
                <a:solidFill>
                  <a:schemeClr val="accent5"/>
                </a:solidFill>
              </a:rPr>
              <a:t>   return </a:t>
            </a:r>
            <a:r>
              <a:rPr lang="en-US" sz="1800" dirty="0" err="1" smtClean="0">
                <a:solidFill>
                  <a:schemeClr val="accent5"/>
                </a:solidFill>
              </a:rPr>
              <a:t>i</a:t>
            </a:r>
            <a:r>
              <a:rPr lang="en-US" sz="1800" dirty="0" smtClean="0">
                <a:solidFill>
                  <a:schemeClr val="accent5"/>
                </a:solidFill>
              </a:rPr>
              <a:t>*10;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accent5"/>
                </a:solidFill>
              </a:rPr>
              <a:t>}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ABDB1-18BE-4FDA-B9ED-FBF356C892E4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57159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 Comparison Operator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</a:t>
            </a:r>
            <a:r>
              <a:rPr lang="en-US" dirty="0" err="1" smtClean="0">
                <a:solidFill>
                  <a:schemeClr val="accent5"/>
                </a:solidFill>
              </a:rPr>
              <a:t>instanceof</a:t>
            </a:r>
            <a:r>
              <a:rPr lang="en-US" dirty="0" smtClean="0">
                <a:solidFill>
                  <a:schemeClr val="accent5"/>
                </a:solidFill>
              </a:rPr>
              <a:t> </a:t>
            </a:r>
            <a:r>
              <a:rPr lang="en-US" dirty="0" smtClean="0"/>
              <a:t>operator compares an object to a specified type</a:t>
            </a:r>
          </a:p>
          <a:p>
            <a:r>
              <a:rPr lang="en-US" dirty="0" smtClean="0"/>
              <a:t>Can test if an object is:</a:t>
            </a:r>
          </a:p>
          <a:p>
            <a:pPr lvl="1"/>
            <a:r>
              <a:rPr lang="en-US" dirty="0" smtClean="0"/>
              <a:t>An instance of a class</a:t>
            </a:r>
          </a:p>
          <a:p>
            <a:pPr lvl="1"/>
            <a:r>
              <a:rPr lang="en-US" dirty="0" smtClean="0"/>
              <a:t>An instance of a subclass</a:t>
            </a:r>
          </a:p>
          <a:p>
            <a:pPr lvl="1"/>
            <a:r>
              <a:rPr lang="en-US" dirty="0" smtClean="0"/>
              <a:t>An instance of a class that implements an interface</a:t>
            </a:r>
          </a:p>
          <a:p>
            <a:pPr lvl="2"/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</a:rPr>
              <a:t>c</a:t>
            </a:r>
            <a:r>
              <a:rPr lang="en-US" sz="1600" dirty="0" smtClean="0">
                <a:solidFill>
                  <a:schemeClr val="accent5"/>
                </a:solidFill>
              </a:rPr>
              <a:t>lass Parent { }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</a:rPr>
              <a:t>i</a:t>
            </a:r>
            <a:r>
              <a:rPr lang="en-US" sz="1600" dirty="0" smtClean="0">
                <a:solidFill>
                  <a:schemeClr val="accent5"/>
                </a:solidFill>
              </a:rPr>
              <a:t>nterface </a:t>
            </a:r>
            <a:r>
              <a:rPr lang="en-US" sz="1600" dirty="0" err="1" smtClean="0">
                <a:solidFill>
                  <a:schemeClr val="accent5"/>
                </a:solidFill>
              </a:rPr>
              <a:t>MyInterface</a:t>
            </a:r>
            <a:r>
              <a:rPr lang="en-US" sz="1600" dirty="0" smtClean="0">
                <a:solidFill>
                  <a:schemeClr val="accent5"/>
                </a:solidFill>
              </a:rPr>
              <a:t> { }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</a:rPr>
              <a:t>c</a:t>
            </a:r>
            <a:r>
              <a:rPr lang="en-US" sz="1600" dirty="0" smtClean="0">
                <a:solidFill>
                  <a:schemeClr val="accent5"/>
                </a:solidFill>
              </a:rPr>
              <a:t>lass Child extends Parent implements </a:t>
            </a:r>
            <a:r>
              <a:rPr lang="en-US" sz="1600" dirty="0" err="1" smtClean="0">
                <a:solidFill>
                  <a:schemeClr val="accent5"/>
                </a:solidFill>
              </a:rPr>
              <a:t>MyInterface</a:t>
            </a:r>
            <a:r>
              <a:rPr lang="en-US" sz="1600" dirty="0" smtClean="0">
                <a:solidFill>
                  <a:schemeClr val="accent5"/>
                </a:solidFill>
              </a:rPr>
              <a:t> { }</a:t>
            </a:r>
          </a:p>
          <a:p>
            <a:pPr marL="0" indent="0">
              <a:buNone/>
            </a:pPr>
            <a:r>
              <a:rPr lang="en-US" sz="1600" dirty="0" smtClean="0">
                <a:solidFill>
                  <a:schemeClr val="accent5"/>
                </a:solidFill>
              </a:rPr>
              <a:t>// in main method:</a:t>
            </a:r>
          </a:p>
          <a:p>
            <a:pPr marL="0" indent="0">
              <a:buNone/>
            </a:pPr>
            <a:r>
              <a:rPr lang="en-US" sz="1600" dirty="0" smtClean="0">
                <a:solidFill>
                  <a:schemeClr val="accent5"/>
                </a:solidFill>
              </a:rPr>
              <a:t>Parent obj1 = new Parent();</a:t>
            </a:r>
          </a:p>
          <a:p>
            <a:pPr marL="0" indent="0">
              <a:buNone/>
            </a:pPr>
            <a:r>
              <a:rPr lang="en-US" sz="1600" dirty="0" smtClean="0">
                <a:solidFill>
                  <a:schemeClr val="accent5"/>
                </a:solidFill>
              </a:rPr>
              <a:t>Parent obj2 = new Child();</a:t>
            </a:r>
          </a:p>
          <a:p>
            <a:pPr marL="0" indent="0">
              <a:buNone/>
            </a:pPr>
            <a:r>
              <a:rPr lang="en-US" sz="1600" dirty="0" err="1" smtClean="0">
                <a:solidFill>
                  <a:schemeClr val="accent5"/>
                </a:solidFill>
              </a:rPr>
              <a:t>System.out.println</a:t>
            </a:r>
            <a:r>
              <a:rPr lang="en-US" sz="1600" dirty="0" smtClean="0">
                <a:solidFill>
                  <a:schemeClr val="accent5"/>
                </a:solidFill>
              </a:rPr>
              <a:t>(obj1 </a:t>
            </a:r>
            <a:r>
              <a:rPr lang="en-US" sz="1600" dirty="0" err="1" smtClean="0">
                <a:solidFill>
                  <a:schemeClr val="accent5"/>
                </a:solidFill>
              </a:rPr>
              <a:t>instanceof</a:t>
            </a:r>
            <a:r>
              <a:rPr lang="en-US" sz="1600" dirty="0" smtClean="0">
                <a:solidFill>
                  <a:schemeClr val="accent5"/>
                </a:solidFill>
              </a:rPr>
              <a:t> Parent); // true</a:t>
            </a:r>
          </a:p>
          <a:p>
            <a:pPr marL="0" indent="0">
              <a:buNone/>
            </a:pPr>
            <a:r>
              <a:rPr lang="en-US" sz="1600" dirty="0" err="1">
                <a:solidFill>
                  <a:schemeClr val="accent5"/>
                </a:solidFill>
              </a:rPr>
              <a:t>System.out.println</a:t>
            </a:r>
            <a:r>
              <a:rPr lang="en-US" sz="1600" dirty="0">
                <a:solidFill>
                  <a:schemeClr val="accent5"/>
                </a:solidFill>
              </a:rPr>
              <a:t>(obj1 </a:t>
            </a:r>
            <a:r>
              <a:rPr lang="en-US" sz="1600" dirty="0" err="1">
                <a:solidFill>
                  <a:schemeClr val="accent5"/>
                </a:solidFill>
              </a:rPr>
              <a:t>instanceof</a:t>
            </a:r>
            <a:r>
              <a:rPr lang="en-US" sz="1600" dirty="0">
                <a:solidFill>
                  <a:schemeClr val="accent5"/>
                </a:solidFill>
              </a:rPr>
              <a:t> </a:t>
            </a:r>
            <a:r>
              <a:rPr lang="en-US" sz="1600" dirty="0" smtClean="0">
                <a:solidFill>
                  <a:schemeClr val="accent5"/>
                </a:solidFill>
              </a:rPr>
              <a:t>Child); </a:t>
            </a:r>
            <a:r>
              <a:rPr lang="en-US" sz="1600" dirty="0">
                <a:solidFill>
                  <a:schemeClr val="accent5"/>
                </a:solidFill>
              </a:rPr>
              <a:t>// </a:t>
            </a:r>
            <a:r>
              <a:rPr lang="en-US" sz="1600" dirty="0" smtClean="0">
                <a:solidFill>
                  <a:schemeClr val="accent5"/>
                </a:solidFill>
              </a:rPr>
              <a:t>false</a:t>
            </a:r>
          </a:p>
          <a:p>
            <a:pPr marL="0" indent="0">
              <a:buNone/>
            </a:pPr>
            <a:r>
              <a:rPr lang="en-US" sz="1600" dirty="0" err="1">
                <a:solidFill>
                  <a:schemeClr val="accent5"/>
                </a:solidFill>
              </a:rPr>
              <a:t>System.out.println</a:t>
            </a:r>
            <a:r>
              <a:rPr lang="en-US" sz="1600" dirty="0">
                <a:solidFill>
                  <a:schemeClr val="accent5"/>
                </a:solidFill>
              </a:rPr>
              <a:t>(obj1 </a:t>
            </a:r>
            <a:r>
              <a:rPr lang="en-US" sz="1600" dirty="0" err="1">
                <a:solidFill>
                  <a:schemeClr val="accent5"/>
                </a:solidFill>
              </a:rPr>
              <a:t>instanceof</a:t>
            </a:r>
            <a:r>
              <a:rPr lang="en-US" sz="1600" dirty="0">
                <a:solidFill>
                  <a:schemeClr val="accent5"/>
                </a:solidFill>
              </a:rPr>
              <a:t> </a:t>
            </a:r>
            <a:r>
              <a:rPr lang="en-US" sz="1600" dirty="0" err="1">
                <a:solidFill>
                  <a:schemeClr val="accent5"/>
                </a:solidFill>
              </a:rPr>
              <a:t>MyInterface</a:t>
            </a:r>
            <a:r>
              <a:rPr lang="en-US" sz="1600" dirty="0">
                <a:solidFill>
                  <a:schemeClr val="accent5"/>
                </a:solidFill>
              </a:rPr>
              <a:t>); // </a:t>
            </a:r>
            <a:r>
              <a:rPr lang="en-US" sz="1600" dirty="0" smtClean="0">
                <a:solidFill>
                  <a:schemeClr val="accent5"/>
                </a:solidFill>
              </a:rPr>
              <a:t>false</a:t>
            </a:r>
          </a:p>
          <a:p>
            <a:pPr marL="0" indent="0">
              <a:buNone/>
            </a:pPr>
            <a:r>
              <a:rPr lang="en-US" sz="1600" dirty="0" err="1" smtClean="0">
                <a:solidFill>
                  <a:schemeClr val="accent5"/>
                </a:solidFill>
              </a:rPr>
              <a:t>System.out.println</a:t>
            </a:r>
            <a:r>
              <a:rPr lang="en-US" sz="1600" dirty="0" smtClean="0">
                <a:solidFill>
                  <a:schemeClr val="accent5"/>
                </a:solidFill>
              </a:rPr>
              <a:t>(obj2 </a:t>
            </a:r>
            <a:r>
              <a:rPr lang="en-US" sz="1600" dirty="0" err="1">
                <a:solidFill>
                  <a:schemeClr val="accent5"/>
                </a:solidFill>
              </a:rPr>
              <a:t>instanceof</a:t>
            </a:r>
            <a:r>
              <a:rPr lang="en-US" sz="1600" dirty="0">
                <a:solidFill>
                  <a:schemeClr val="accent5"/>
                </a:solidFill>
              </a:rPr>
              <a:t> Parent); // true</a:t>
            </a:r>
          </a:p>
          <a:p>
            <a:pPr marL="0" indent="0">
              <a:buNone/>
            </a:pPr>
            <a:r>
              <a:rPr lang="en-US" sz="1600" dirty="0" err="1" smtClean="0">
                <a:solidFill>
                  <a:schemeClr val="accent5"/>
                </a:solidFill>
              </a:rPr>
              <a:t>System.out.println</a:t>
            </a:r>
            <a:r>
              <a:rPr lang="en-US" sz="1600" dirty="0" smtClean="0">
                <a:solidFill>
                  <a:schemeClr val="accent5"/>
                </a:solidFill>
              </a:rPr>
              <a:t>(obj2 </a:t>
            </a:r>
            <a:r>
              <a:rPr lang="en-US" sz="1600" dirty="0" err="1">
                <a:solidFill>
                  <a:schemeClr val="accent5"/>
                </a:solidFill>
              </a:rPr>
              <a:t>instanceof</a:t>
            </a:r>
            <a:r>
              <a:rPr lang="en-US" sz="1600" dirty="0">
                <a:solidFill>
                  <a:schemeClr val="accent5"/>
                </a:solidFill>
              </a:rPr>
              <a:t> </a:t>
            </a:r>
            <a:r>
              <a:rPr lang="en-US" sz="1600" dirty="0" smtClean="0">
                <a:solidFill>
                  <a:schemeClr val="accent5"/>
                </a:solidFill>
              </a:rPr>
              <a:t>Child); </a:t>
            </a:r>
            <a:r>
              <a:rPr lang="en-US" sz="1600" dirty="0">
                <a:solidFill>
                  <a:schemeClr val="accent5"/>
                </a:solidFill>
              </a:rPr>
              <a:t>// true</a:t>
            </a:r>
          </a:p>
          <a:p>
            <a:pPr marL="0" indent="0">
              <a:buNone/>
            </a:pPr>
            <a:r>
              <a:rPr lang="en-US" sz="1600" dirty="0" err="1" smtClean="0">
                <a:solidFill>
                  <a:schemeClr val="accent5"/>
                </a:solidFill>
              </a:rPr>
              <a:t>System.out.println</a:t>
            </a:r>
            <a:r>
              <a:rPr lang="en-US" sz="1600" dirty="0" smtClean="0">
                <a:solidFill>
                  <a:schemeClr val="accent5"/>
                </a:solidFill>
              </a:rPr>
              <a:t>(obj2 </a:t>
            </a:r>
            <a:r>
              <a:rPr lang="en-US" sz="1600" dirty="0" err="1">
                <a:solidFill>
                  <a:schemeClr val="accent5"/>
                </a:solidFill>
              </a:rPr>
              <a:t>instanceof</a:t>
            </a:r>
            <a:r>
              <a:rPr lang="en-US" sz="1600" dirty="0">
                <a:solidFill>
                  <a:schemeClr val="accent5"/>
                </a:solidFill>
              </a:rPr>
              <a:t> </a:t>
            </a:r>
            <a:r>
              <a:rPr lang="en-US" sz="1600" dirty="0" err="1" smtClean="0">
                <a:solidFill>
                  <a:schemeClr val="accent5"/>
                </a:solidFill>
              </a:rPr>
              <a:t>MyInterface</a:t>
            </a:r>
            <a:r>
              <a:rPr lang="en-US" sz="1600" dirty="0" smtClean="0">
                <a:solidFill>
                  <a:schemeClr val="accent5"/>
                </a:solidFill>
              </a:rPr>
              <a:t>); </a:t>
            </a:r>
            <a:r>
              <a:rPr lang="en-US" sz="1600" dirty="0">
                <a:solidFill>
                  <a:schemeClr val="accent5"/>
                </a:solidFill>
              </a:rPr>
              <a:t>// true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ABDB1-18BE-4FDA-B9ED-FBF356C892E4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82522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Bitwise Operators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153631043"/>
              </p:ext>
            </p:extLst>
          </p:nvPr>
        </p:nvGraphicFramePr>
        <p:xfrm>
          <a:off x="838200" y="1825625"/>
          <a:ext cx="5181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/>
                <a:gridCol w="25908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Operator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Description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&amp;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Bitwise AND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|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Bitwise</a:t>
                      </a:r>
                      <a:r>
                        <a:rPr lang="en-US" baseline="0" dirty="0" smtClean="0"/>
                        <a:t> OR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^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Bitwise</a:t>
                      </a:r>
                      <a:r>
                        <a:rPr lang="en-US" baseline="0" dirty="0" smtClean="0"/>
                        <a:t> Exclusive-OR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~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Bitwise Complement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2400" dirty="0" err="1" smtClean="0"/>
              <a:t>BitDemo.java</a:t>
            </a:r>
            <a:endParaRPr lang="en-US" sz="2400" dirty="0" smtClean="0"/>
          </a:p>
          <a:p>
            <a:pPr marL="0" indent="0">
              <a:buNone/>
            </a:pPr>
            <a:r>
              <a:rPr lang="en-US" sz="1600" dirty="0" smtClean="0">
                <a:solidFill>
                  <a:schemeClr val="accent5"/>
                </a:solidFill>
              </a:rPr>
              <a:t>class </a:t>
            </a:r>
            <a:r>
              <a:rPr lang="en-US" sz="1600" dirty="0" err="1">
                <a:solidFill>
                  <a:schemeClr val="accent5"/>
                </a:solidFill>
              </a:rPr>
              <a:t>BitDemo</a:t>
            </a:r>
            <a:r>
              <a:rPr lang="en-US" sz="1600" dirty="0">
                <a:solidFill>
                  <a:schemeClr val="accent5"/>
                </a:solidFill>
              </a:rPr>
              <a:t> {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</a:rPr>
              <a:t>  public static void main(String[] </a:t>
            </a:r>
            <a:r>
              <a:rPr lang="en-US" sz="1600" dirty="0" err="1">
                <a:solidFill>
                  <a:schemeClr val="accent5"/>
                </a:solidFill>
              </a:rPr>
              <a:t>args</a:t>
            </a:r>
            <a:r>
              <a:rPr lang="en-US" sz="1600" dirty="0">
                <a:solidFill>
                  <a:schemeClr val="accent5"/>
                </a:solidFill>
              </a:rPr>
              <a:t>) {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</a:rPr>
              <a:t>    </a:t>
            </a:r>
            <a:r>
              <a:rPr lang="en-US" sz="1600" dirty="0" err="1">
                <a:solidFill>
                  <a:schemeClr val="accent5"/>
                </a:solidFill>
              </a:rPr>
              <a:t>int</a:t>
            </a:r>
            <a:r>
              <a:rPr lang="en-US" sz="1600" dirty="0">
                <a:solidFill>
                  <a:schemeClr val="accent5"/>
                </a:solidFill>
              </a:rPr>
              <a:t> bitmask = 0x000f;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</a:rPr>
              <a:t>    </a:t>
            </a:r>
            <a:r>
              <a:rPr lang="en-US" sz="1600" dirty="0" err="1">
                <a:solidFill>
                  <a:schemeClr val="accent5"/>
                </a:solidFill>
              </a:rPr>
              <a:t>int</a:t>
            </a:r>
            <a:r>
              <a:rPr lang="en-US" sz="1600" dirty="0">
                <a:solidFill>
                  <a:schemeClr val="accent5"/>
                </a:solidFill>
              </a:rPr>
              <a:t> </a:t>
            </a:r>
            <a:r>
              <a:rPr lang="en-US" sz="1600" dirty="0" err="1">
                <a:solidFill>
                  <a:schemeClr val="accent5"/>
                </a:solidFill>
              </a:rPr>
              <a:t>val</a:t>
            </a:r>
            <a:r>
              <a:rPr lang="en-US" sz="1600" dirty="0">
                <a:solidFill>
                  <a:schemeClr val="accent5"/>
                </a:solidFill>
              </a:rPr>
              <a:t> = 0x2222;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</a:rPr>
              <a:t>    </a:t>
            </a:r>
            <a:r>
              <a:rPr lang="en-US" sz="1600" dirty="0" err="1">
                <a:solidFill>
                  <a:schemeClr val="accent5"/>
                </a:solidFill>
              </a:rPr>
              <a:t>System.out.println</a:t>
            </a:r>
            <a:r>
              <a:rPr lang="en-US" sz="1600" dirty="0">
                <a:solidFill>
                  <a:schemeClr val="accent5"/>
                </a:solidFill>
              </a:rPr>
              <a:t>(~bitmask); //0xfffffff0 = -16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</a:rPr>
              <a:t>    </a:t>
            </a:r>
            <a:r>
              <a:rPr lang="en-US" sz="1600" dirty="0" err="1">
                <a:solidFill>
                  <a:schemeClr val="accent5"/>
                </a:solidFill>
              </a:rPr>
              <a:t>System.out.println</a:t>
            </a:r>
            <a:r>
              <a:rPr lang="en-US" sz="1600" dirty="0">
                <a:solidFill>
                  <a:schemeClr val="accent5"/>
                </a:solidFill>
              </a:rPr>
              <a:t>(</a:t>
            </a:r>
            <a:r>
              <a:rPr lang="en-US" sz="1600" dirty="0" err="1">
                <a:solidFill>
                  <a:schemeClr val="accent5"/>
                </a:solidFill>
              </a:rPr>
              <a:t>val</a:t>
            </a:r>
            <a:r>
              <a:rPr lang="en-US" sz="1600" dirty="0">
                <a:solidFill>
                  <a:schemeClr val="accent5"/>
                </a:solidFill>
              </a:rPr>
              <a:t> &amp; bitmask); //0x0002 = 2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</a:rPr>
              <a:t>    </a:t>
            </a:r>
            <a:r>
              <a:rPr lang="en-US" sz="1600" dirty="0" err="1">
                <a:solidFill>
                  <a:schemeClr val="accent5"/>
                </a:solidFill>
              </a:rPr>
              <a:t>System.out.println</a:t>
            </a:r>
            <a:r>
              <a:rPr lang="en-US" sz="1600" dirty="0">
                <a:solidFill>
                  <a:schemeClr val="accent5"/>
                </a:solidFill>
              </a:rPr>
              <a:t>(</a:t>
            </a:r>
            <a:r>
              <a:rPr lang="en-US" sz="1600" dirty="0" err="1">
                <a:solidFill>
                  <a:schemeClr val="accent5"/>
                </a:solidFill>
              </a:rPr>
              <a:t>val</a:t>
            </a:r>
            <a:r>
              <a:rPr lang="en-US" sz="1600" dirty="0">
                <a:solidFill>
                  <a:schemeClr val="accent5"/>
                </a:solidFill>
              </a:rPr>
              <a:t> | bitmask); //0x222f = 8751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</a:rPr>
              <a:t>    </a:t>
            </a:r>
            <a:r>
              <a:rPr lang="en-US" sz="1600" dirty="0" err="1">
                <a:solidFill>
                  <a:schemeClr val="accent5"/>
                </a:solidFill>
              </a:rPr>
              <a:t>System.out.println</a:t>
            </a:r>
            <a:r>
              <a:rPr lang="en-US" sz="1600" dirty="0">
                <a:solidFill>
                  <a:schemeClr val="accent5"/>
                </a:solidFill>
              </a:rPr>
              <a:t>(</a:t>
            </a:r>
            <a:r>
              <a:rPr lang="en-US" sz="1600" dirty="0" err="1">
                <a:solidFill>
                  <a:schemeClr val="accent5"/>
                </a:solidFill>
              </a:rPr>
              <a:t>val</a:t>
            </a:r>
            <a:r>
              <a:rPr lang="en-US" sz="1600" dirty="0">
                <a:solidFill>
                  <a:schemeClr val="accent5"/>
                </a:solidFill>
              </a:rPr>
              <a:t> ^ bitmask); //0x222d = 8749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</a:rPr>
              <a:t>  }</a:t>
            </a:r>
          </a:p>
          <a:p>
            <a:pPr marL="0" indent="0">
              <a:buNone/>
            </a:pPr>
            <a:r>
              <a:rPr lang="en-US" sz="1600" dirty="0" smtClean="0">
                <a:solidFill>
                  <a:schemeClr val="accent5"/>
                </a:solidFill>
              </a:rPr>
              <a:t>}</a:t>
            </a:r>
            <a:endParaRPr lang="en-US" sz="1600" dirty="0">
              <a:solidFill>
                <a:schemeClr val="accent5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ABDB1-18BE-4FDA-B9ED-FBF356C892E4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11389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Bit Shift Operators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218318622"/>
              </p:ext>
            </p:extLst>
          </p:nvPr>
        </p:nvGraphicFramePr>
        <p:xfrm>
          <a:off x="838200" y="1825625"/>
          <a:ext cx="51816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6930"/>
                <a:gridCol w="395467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Operator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Description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&lt;&lt;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Signed left shift (inserts zeros)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&gt;&gt;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Signed right shift (inserts zeros/ones for positives/negatives)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&gt;&gt;&gt;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Unsigned right shift (inserts zeros)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56701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4472C4"/>
                </a:solidFill>
              </a:rPr>
              <a:t> </a:t>
            </a:r>
            <a:r>
              <a:rPr lang="en-US" sz="1800" dirty="0" smtClean="0">
                <a:solidFill>
                  <a:srgbClr val="4472C4"/>
                </a:solidFill>
              </a:rPr>
              <a:t>   </a:t>
            </a:r>
            <a:r>
              <a:rPr lang="en-US" sz="1800" dirty="0" err="1">
                <a:solidFill>
                  <a:srgbClr val="4472C4"/>
                </a:solidFill>
              </a:rPr>
              <a:t>int</a:t>
            </a:r>
            <a:r>
              <a:rPr lang="en-US" sz="1800" dirty="0">
                <a:solidFill>
                  <a:srgbClr val="4472C4"/>
                </a:solidFill>
              </a:rPr>
              <a:t> bitmask = 0x000f;</a:t>
            </a:r>
            <a:endParaRPr lang="en-US" sz="1800" dirty="0" smtClean="0">
              <a:solidFill>
                <a:srgbClr val="4472C4"/>
              </a:solidFill>
            </a:endParaRPr>
          </a:p>
          <a:p>
            <a:pPr marL="0" indent="0">
              <a:buNone/>
            </a:pPr>
            <a:r>
              <a:rPr lang="en-US" sz="1800" dirty="0" smtClean="0">
                <a:solidFill>
                  <a:srgbClr val="4472C4"/>
                </a:solidFill>
              </a:rPr>
              <a:t>    bitmask </a:t>
            </a:r>
            <a:r>
              <a:rPr lang="en-US" sz="1800" dirty="0">
                <a:solidFill>
                  <a:srgbClr val="4472C4"/>
                </a:solidFill>
              </a:rPr>
              <a:t>= ~bitmask; //</a:t>
            </a:r>
            <a:r>
              <a:rPr lang="en-US" sz="1800" dirty="0" smtClean="0">
                <a:solidFill>
                  <a:srgbClr val="4472C4"/>
                </a:solidFill>
              </a:rPr>
              <a:t>0xfffffff0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srgbClr val="4472C4"/>
                </a:solidFill>
              </a:rPr>
              <a:t>    </a:t>
            </a:r>
            <a:r>
              <a:rPr lang="en-US" sz="1800" dirty="0" err="1" smtClean="0">
                <a:solidFill>
                  <a:srgbClr val="4472C4"/>
                </a:solidFill>
              </a:rPr>
              <a:t>System.out.println</a:t>
            </a:r>
            <a:r>
              <a:rPr lang="en-US" sz="1800" dirty="0">
                <a:solidFill>
                  <a:srgbClr val="4472C4"/>
                </a:solidFill>
              </a:rPr>
              <a:t>(</a:t>
            </a:r>
            <a:r>
              <a:rPr lang="en-US" sz="1800" dirty="0" err="1">
                <a:solidFill>
                  <a:srgbClr val="4472C4"/>
                </a:solidFill>
              </a:rPr>
              <a:t>Integer.toBinaryString</a:t>
            </a:r>
            <a:r>
              <a:rPr lang="en-US" sz="1800" dirty="0">
                <a:solidFill>
                  <a:srgbClr val="4472C4"/>
                </a:solidFill>
              </a:rPr>
              <a:t>(bitmask))</a:t>
            </a:r>
            <a:r>
              <a:rPr lang="en-US" sz="1800" dirty="0" smtClean="0">
                <a:solidFill>
                  <a:srgbClr val="4472C4"/>
                </a:solidFill>
              </a:rPr>
              <a:t>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4472C4"/>
                </a:solidFill>
              </a:rPr>
              <a:t> </a:t>
            </a:r>
            <a:r>
              <a:rPr lang="en-US" sz="1800" dirty="0" smtClean="0">
                <a:solidFill>
                  <a:srgbClr val="4472C4"/>
                </a:solidFill>
              </a:rPr>
              <a:t>   //</a:t>
            </a:r>
            <a:r>
              <a:rPr lang="en-US" sz="1800" dirty="0">
                <a:solidFill>
                  <a:srgbClr val="4472C4"/>
                </a:solidFill>
              </a:rPr>
              <a:t>11111111111111111111111111110000</a:t>
            </a:r>
            <a:endParaRPr lang="en-US" sz="1800" dirty="0" smtClean="0">
              <a:solidFill>
                <a:srgbClr val="4472C4"/>
              </a:solidFill>
            </a:endParaRPr>
          </a:p>
          <a:p>
            <a:pPr marL="0" indent="0">
              <a:buNone/>
            </a:pPr>
            <a:r>
              <a:rPr lang="en-US" sz="1800" dirty="0" smtClean="0">
                <a:solidFill>
                  <a:srgbClr val="4472C4"/>
                </a:solidFill>
              </a:rPr>
              <a:t>    </a:t>
            </a:r>
            <a:r>
              <a:rPr lang="en-US" sz="1800" dirty="0" err="1" smtClean="0">
                <a:solidFill>
                  <a:srgbClr val="4472C4"/>
                </a:solidFill>
              </a:rPr>
              <a:t>System.out.println</a:t>
            </a:r>
            <a:r>
              <a:rPr lang="en-US" sz="1800" dirty="0" smtClean="0">
                <a:solidFill>
                  <a:srgbClr val="4472C4"/>
                </a:solidFill>
              </a:rPr>
              <a:t>(bitmask &lt;&lt; 4); 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srgbClr val="4472C4"/>
                </a:solidFill>
              </a:rPr>
              <a:t>    //the above prints out 0xffffff00 </a:t>
            </a:r>
            <a:r>
              <a:rPr lang="en-US" sz="1800" dirty="0">
                <a:solidFill>
                  <a:srgbClr val="4472C4"/>
                </a:solidFill>
              </a:rPr>
              <a:t>= -256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4472C4"/>
                </a:solidFill>
              </a:rPr>
              <a:t>    </a:t>
            </a:r>
            <a:r>
              <a:rPr lang="en-US" sz="1800" dirty="0" err="1">
                <a:solidFill>
                  <a:srgbClr val="4472C4"/>
                </a:solidFill>
              </a:rPr>
              <a:t>System.out.println</a:t>
            </a:r>
            <a:r>
              <a:rPr lang="en-US" sz="1800" dirty="0">
                <a:solidFill>
                  <a:srgbClr val="4472C4"/>
                </a:solidFill>
              </a:rPr>
              <a:t>(bitmask &gt;&gt; 4); </a:t>
            </a:r>
            <a:endParaRPr lang="en-US" sz="1800" dirty="0" smtClean="0">
              <a:solidFill>
                <a:srgbClr val="4472C4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4472C4"/>
                </a:solidFill>
              </a:rPr>
              <a:t> </a:t>
            </a:r>
            <a:r>
              <a:rPr lang="en-US" sz="1800" dirty="0" smtClean="0">
                <a:solidFill>
                  <a:srgbClr val="4472C4"/>
                </a:solidFill>
              </a:rPr>
              <a:t>   //the above prints out 0xffffffff </a:t>
            </a:r>
            <a:r>
              <a:rPr lang="en-US" sz="1800" dirty="0">
                <a:solidFill>
                  <a:srgbClr val="4472C4"/>
                </a:solidFill>
              </a:rPr>
              <a:t>= -1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4472C4"/>
                </a:solidFill>
              </a:rPr>
              <a:t>    </a:t>
            </a:r>
            <a:r>
              <a:rPr lang="en-US" sz="1800" dirty="0" err="1">
                <a:solidFill>
                  <a:srgbClr val="4472C4"/>
                </a:solidFill>
              </a:rPr>
              <a:t>System.out.println</a:t>
            </a:r>
            <a:r>
              <a:rPr lang="en-US" sz="1800" dirty="0">
                <a:solidFill>
                  <a:srgbClr val="4472C4"/>
                </a:solidFill>
              </a:rPr>
              <a:t>(bitmask &gt;&gt;&gt; 4); </a:t>
            </a:r>
            <a:endParaRPr lang="en-US" sz="1800" dirty="0" smtClean="0">
              <a:solidFill>
                <a:srgbClr val="4472C4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4472C4"/>
                </a:solidFill>
              </a:rPr>
              <a:t> </a:t>
            </a:r>
            <a:r>
              <a:rPr lang="en-US" sz="1800" dirty="0" smtClean="0">
                <a:solidFill>
                  <a:srgbClr val="4472C4"/>
                </a:solidFill>
              </a:rPr>
              <a:t>   //the above prints out 0x0fffffff </a:t>
            </a:r>
            <a:r>
              <a:rPr lang="en-US" sz="1800" dirty="0">
                <a:solidFill>
                  <a:srgbClr val="4472C4"/>
                </a:solidFill>
              </a:rPr>
              <a:t>= 268435455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92696" y="4119217"/>
            <a:ext cx="441739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000" dirty="0" smtClean="0"/>
              <a:t>Use </a:t>
            </a:r>
            <a:r>
              <a:rPr lang="en-US" sz="2000" dirty="0" err="1" smtClean="0">
                <a:solidFill>
                  <a:srgbClr val="4472C4"/>
                </a:solidFill>
              </a:rPr>
              <a:t>Integer.toBinaryString</a:t>
            </a:r>
            <a:r>
              <a:rPr lang="en-US" sz="2000" dirty="0" smtClean="0">
                <a:solidFill>
                  <a:srgbClr val="4472C4"/>
                </a:solidFill>
              </a:rPr>
              <a:t>()</a:t>
            </a:r>
            <a:r>
              <a:rPr lang="en-US" sz="2000" dirty="0" smtClean="0"/>
              <a:t> or </a:t>
            </a:r>
            <a:r>
              <a:rPr lang="en-US" sz="2000" dirty="0" err="1" smtClean="0">
                <a:solidFill>
                  <a:srgbClr val="4472C4"/>
                </a:solidFill>
              </a:rPr>
              <a:t>Long.toBinaryString</a:t>
            </a:r>
            <a:r>
              <a:rPr lang="en-US" sz="2000" dirty="0" smtClean="0">
                <a:solidFill>
                  <a:srgbClr val="4472C4"/>
                </a:solidFill>
              </a:rPr>
              <a:t>()</a:t>
            </a:r>
            <a:r>
              <a:rPr lang="en-US" sz="2000" dirty="0" smtClean="0"/>
              <a:t> to convert to a binary number</a:t>
            </a:r>
            <a:endParaRPr lang="en-US" sz="2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ABDB1-18BE-4FDA-B9ED-FBF356C892E4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0618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5069" y="309217"/>
            <a:ext cx="10515600" cy="1017036"/>
          </a:xfrm>
        </p:spPr>
        <p:txBody>
          <a:bodyPr/>
          <a:lstStyle/>
          <a:p>
            <a:r>
              <a:rPr lang="en-US" dirty="0" smtClean="0"/>
              <a:t>Operator Precedence</a:t>
            </a:r>
            <a:endParaRPr lang="en-US" dirty="0"/>
          </a:p>
        </p:txBody>
      </p:sp>
      <p:pic>
        <p:nvPicPr>
          <p:cNvPr id="6" name="Content Placeholder 5" descr="figure-operatorPrecedence.png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3078" r="-13078"/>
          <a:stretch>
            <a:fillRect/>
          </a:stretch>
        </p:blipFill>
        <p:spPr>
          <a:xfrm>
            <a:off x="331304" y="1258956"/>
            <a:ext cx="5710583" cy="5345044"/>
          </a:xfrm>
        </p:spPr>
      </p:pic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Precedence from high to low in the table</a:t>
            </a:r>
          </a:p>
          <a:p>
            <a:r>
              <a:rPr lang="en-US" sz="2400" dirty="0" smtClean="0"/>
              <a:t>Operators that have a higher precedence get evaluated first</a:t>
            </a:r>
          </a:p>
          <a:p>
            <a:r>
              <a:rPr lang="en-US" sz="2400" dirty="0" smtClean="0"/>
              <a:t>Operators with equal precedence : most are evaluated from left to right, except for the assignments which are evaluated from right to left.</a:t>
            </a:r>
          </a:p>
          <a:p>
            <a:r>
              <a:rPr lang="en-US" sz="2400" dirty="0" smtClean="0"/>
              <a:t>If the precedence is confusing, just </a:t>
            </a:r>
            <a:r>
              <a:rPr lang="en-US" sz="2400" dirty="0" smtClean="0">
                <a:solidFill>
                  <a:srgbClr val="FF0000"/>
                </a:solidFill>
              </a:rPr>
              <a:t>use parentheses</a:t>
            </a:r>
            <a:r>
              <a:rPr lang="en-US" sz="2400" dirty="0" smtClean="0"/>
              <a:t>!</a:t>
            </a:r>
            <a:endParaRPr lang="en-US" sz="24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ABDB1-18BE-4FDA-B9ED-FBF356C892E4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3601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Statements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Statements</a:t>
            </a:r>
          </a:p>
          <a:p>
            <a:r>
              <a:rPr lang="en-US" dirty="0" smtClean="0"/>
              <a:t>Blocks</a:t>
            </a:r>
          </a:p>
          <a:p>
            <a:r>
              <a:rPr lang="en-US" dirty="0" smtClean="0"/>
              <a:t>Control Flow Statements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ABDB1-18BE-4FDA-B9ED-FBF356C892E4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175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Statements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A statement forms a complete unit of execution</a:t>
            </a:r>
          </a:p>
          <a:p>
            <a:r>
              <a:rPr lang="en-US" dirty="0" smtClean="0"/>
              <a:t>Expression statements: an expression + a semicolon (;)</a:t>
            </a:r>
          </a:p>
          <a:p>
            <a:pPr lvl="1"/>
            <a:r>
              <a:rPr lang="en-US" dirty="0" smtClean="0"/>
              <a:t>Assignments</a:t>
            </a:r>
          </a:p>
          <a:p>
            <a:pPr lvl="1"/>
            <a:r>
              <a:rPr lang="en-US" dirty="0" smtClean="0"/>
              <a:t>Any use of ++ or –</a:t>
            </a:r>
          </a:p>
          <a:p>
            <a:pPr lvl="1"/>
            <a:r>
              <a:rPr lang="en-US" dirty="0" smtClean="0"/>
              <a:t>Method invocations</a:t>
            </a:r>
          </a:p>
          <a:p>
            <a:pPr lvl="1"/>
            <a:r>
              <a:rPr lang="en-US" dirty="0" smtClean="0"/>
              <a:t>Object creations</a:t>
            </a:r>
          </a:p>
          <a:p>
            <a:r>
              <a:rPr lang="en-US" dirty="0" smtClean="0"/>
              <a:t>Declaration statements</a:t>
            </a:r>
          </a:p>
          <a:p>
            <a:r>
              <a:rPr lang="en-US" dirty="0" smtClean="0"/>
              <a:t>Control flow statements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/>
              <a:t>Expression statements:</a:t>
            </a:r>
          </a:p>
          <a:p>
            <a:pPr lvl="1"/>
            <a:r>
              <a:rPr lang="en-US" dirty="0" err="1" smtClean="0">
                <a:solidFill>
                  <a:schemeClr val="accent5"/>
                </a:solidFill>
              </a:rPr>
              <a:t>myValue</a:t>
            </a:r>
            <a:r>
              <a:rPr lang="en-US" dirty="0" smtClean="0">
                <a:solidFill>
                  <a:schemeClr val="accent5"/>
                </a:solidFill>
              </a:rPr>
              <a:t> = 123.4;</a:t>
            </a:r>
          </a:p>
          <a:p>
            <a:pPr lvl="1"/>
            <a:r>
              <a:rPr lang="en-US" dirty="0" err="1" smtClean="0">
                <a:solidFill>
                  <a:schemeClr val="accent5"/>
                </a:solidFill>
              </a:rPr>
              <a:t>myValue</a:t>
            </a:r>
            <a:r>
              <a:rPr lang="en-US" dirty="0" smtClean="0">
                <a:solidFill>
                  <a:schemeClr val="accent5"/>
                </a:solidFill>
              </a:rPr>
              <a:t>++; --</a:t>
            </a:r>
            <a:r>
              <a:rPr lang="en-US" dirty="0" err="1" smtClean="0">
                <a:solidFill>
                  <a:schemeClr val="accent5"/>
                </a:solidFill>
              </a:rPr>
              <a:t>myValue</a:t>
            </a:r>
            <a:r>
              <a:rPr lang="en-US" dirty="0" smtClean="0">
                <a:solidFill>
                  <a:schemeClr val="accent5"/>
                </a:solidFill>
              </a:rPr>
              <a:t>;</a:t>
            </a:r>
          </a:p>
          <a:p>
            <a:pPr lvl="1"/>
            <a:r>
              <a:rPr lang="en-US" dirty="0" err="1" smtClean="0">
                <a:solidFill>
                  <a:schemeClr val="accent5"/>
                </a:solidFill>
              </a:rPr>
              <a:t>System.out.println</a:t>
            </a:r>
            <a:r>
              <a:rPr lang="en-US" dirty="0" smtClean="0">
                <a:solidFill>
                  <a:schemeClr val="accent5"/>
                </a:solidFill>
              </a:rPr>
              <a:t>(“Hello!”);</a:t>
            </a:r>
          </a:p>
          <a:p>
            <a:pPr lvl="1"/>
            <a:r>
              <a:rPr lang="en-US" dirty="0" smtClean="0">
                <a:solidFill>
                  <a:schemeClr val="accent5"/>
                </a:solidFill>
              </a:rPr>
              <a:t>Bicycle </a:t>
            </a:r>
            <a:r>
              <a:rPr lang="en-US" dirty="0" err="1" smtClean="0">
                <a:solidFill>
                  <a:schemeClr val="accent5"/>
                </a:solidFill>
              </a:rPr>
              <a:t>myBike</a:t>
            </a:r>
            <a:r>
              <a:rPr lang="en-US" dirty="0" smtClean="0">
                <a:solidFill>
                  <a:schemeClr val="accent5"/>
                </a:solidFill>
              </a:rPr>
              <a:t> = new Bicycle();</a:t>
            </a:r>
          </a:p>
          <a:p>
            <a:r>
              <a:rPr lang="en-US" dirty="0" smtClean="0"/>
              <a:t>Declaration statements:</a:t>
            </a:r>
          </a:p>
          <a:p>
            <a:pPr lvl="1"/>
            <a:r>
              <a:rPr lang="en-US" dirty="0">
                <a:solidFill>
                  <a:srgbClr val="4472C4"/>
                </a:solidFill>
              </a:rPr>
              <a:t>d</a:t>
            </a:r>
            <a:r>
              <a:rPr lang="en-US" dirty="0" smtClean="0">
                <a:solidFill>
                  <a:srgbClr val="4472C4"/>
                </a:solidFill>
              </a:rPr>
              <a:t>ouble </a:t>
            </a:r>
            <a:r>
              <a:rPr lang="en-US" dirty="0" err="1" smtClean="0">
                <a:solidFill>
                  <a:srgbClr val="4472C4"/>
                </a:solidFill>
              </a:rPr>
              <a:t>myValue</a:t>
            </a:r>
            <a:r>
              <a:rPr lang="en-US" dirty="0" smtClean="0">
                <a:solidFill>
                  <a:srgbClr val="4472C4"/>
                </a:solidFill>
              </a:rPr>
              <a:t> = 123.4;</a:t>
            </a:r>
            <a:endParaRPr lang="en-US" dirty="0">
              <a:solidFill>
                <a:srgbClr val="4472C4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ABDB1-18BE-4FDA-B9ED-FBF356C892E4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4752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Blocks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 group of statements between balanced braces: {……}</a:t>
            </a:r>
          </a:p>
          <a:p>
            <a:r>
              <a:rPr lang="en-US" dirty="0" smtClean="0"/>
              <a:t>Can be used anywhere a single statement is allowed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4472C4"/>
                </a:solidFill>
              </a:rPr>
              <a:t>class </a:t>
            </a:r>
            <a:r>
              <a:rPr lang="en-US" sz="1800" dirty="0" err="1">
                <a:solidFill>
                  <a:srgbClr val="4472C4"/>
                </a:solidFill>
              </a:rPr>
              <a:t>BlockDemo</a:t>
            </a:r>
            <a:r>
              <a:rPr lang="en-US" sz="1800" dirty="0">
                <a:solidFill>
                  <a:srgbClr val="4472C4"/>
                </a:solidFill>
              </a:rPr>
              <a:t> 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4472C4"/>
                </a:solidFill>
              </a:rPr>
              <a:t>     public static void main(String[] </a:t>
            </a:r>
            <a:r>
              <a:rPr lang="en-US" sz="1800" dirty="0" err="1">
                <a:solidFill>
                  <a:srgbClr val="4472C4"/>
                </a:solidFill>
              </a:rPr>
              <a:t>args</a:t>
            </a:r>
            <a:r>
              <a:rPr lang="en-US" sz="1800" dirty="0">
                <a:solidFill>
                  <a:srgbClr val="4472C4"/>
                </a:solidFill>
              </a:rPr>
              <a:t>) 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4472C4"/>
                </a:solidFill>
              </a:rPr>
              <a:t>          </a:t>
            </a:r>
            <a:r>
              <a:rPr lang="en-US" sz="1800" dirty="0" err="1">
                <a:solidFill>
                  <a:srgbClr val="4472C4"/>
                </a:solidFill>
              </a:rPr>
              <a:t>boolean</a:t>
            </a:r>
            <a:r>
              <a:rPr lang="en-US" sz="1800" dirty="0">
                <a:solidFill>
                  <a:srgbClr val="4472C4"/>
                </a:solidFill>
              </a:rPr>
              <a:t> condition = true;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4472C4"/>
                </a:solidFill>
              </a:rPr>
              <a:t>          if (condition) { // begin block 1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4472C4"/>
                </a:solidFill>
              </a:rPr>
              <a:t>               </a:t>
            </a:r>
            <a:r>
              <a:rPr lang="en-US" sz="1800" dirty="0" err="1">
                <a:solidFill>
                  <a:srgbClr val="4472C4"/>
                </a:solidFill>
              </a:rPr>
              <a:t>System.out.println</a:t>
            </a:r>
            <a:r>
              <a:rPr lang="en-US" sz="1800" dirty="0">
                <a:solidFill>
                  <a:srgbClr val="4472C4"/>
                </a:solidFill>
              </a:rPr>
              <a:t>("Condition is true.");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4472C4"/>
                </a:solidFill>
              </a:rPr>
              <a:t>          } // end block 1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4472C4"/>
                </a:solidFill>
              </a:rPr>
              <a:t>          else { // begin block 2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4472C4"/>
                </a:solidFill>
              </a:rPr>
              <a:t>               </a:t>
            </a:r>
            <a:r>
              <a:rPr lang="en-US" sz="1800" dirty="0" err="1">
                <a:solidFill>
                  <a:srgbClr val="4472C4"/>
                </a:solidFill>
              </a:rPr>
              <a:t>System.out.println</a:t>
            </a:r>
            <a:r>
              <a:rPr lang="en-US" sz="1800" dirty="0">
                <a:solidFill>
                  <a:srgbClr val="4472C4"/>
                </a:solidFill>
              </a:rPr>
              <a:t>("Condition is false.");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4472C4"/>
                </a:solidFill>
              </a:rPr>
              <a:t>          } // end block 2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4472C4"/>
                </a:solidFill>
              </a:rPr>
              <a:t>     }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4472C4"/>
                </a:solidFill>
              </a:rPr>
              <a:t>}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ABDB1-18BE-4FDA-B9ED-FBF356C892E4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9812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Control Flow Statements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4472C4"/>
                </a:solidFill>
              </a:rPr>
              <a:t>if</a:t>
            </a:r>
            <a:r>
              <a:rPr lang="en-US" dirty="0" smtClean="0"/>
              <a:t> </a:t>
            </a:r>
            <a:r>
              <a:rPr lang="en-US" dirty="0"/>
              <a:t>statements</a:t>
            </a:r>
            <a:endParaRPr lang="en-US" dirty="0" smtClean="0"/>
          </a:p>
          <a:p>
            <a:r>
              <a:rPr lang="en-US" dirty="0" smtClean="0">
                <a:solidFill>
                  <a:srgbClr val="4472C4"/>
                </a:solidFill>
              </a:rPr>
              <a:t>switch</a:t>
            </a:r>
            <a:r>
              <a:rPr lang="en-US" dirty="0" smtClean="0"/>
              <a:t> </a:t>
            </a:r>
            <a:r>
              <a:rPr lang="en-US" dirty="0"/>
              <a:t>statements</a:t>
            </a:r>
            <a:endParaRPr lang="en-US" dirty="0" smtClean="0"/>
          </a:p>
          <a:p>
            <a:r>
              <a:rPr lang="en-US" dirty="0">
                <a:solidFill>
                  <a:srgbClr val="4472C4"/>
                </a:solidFill>
              </a:rPr>
              <a:t>w</a:t>
            </a:r>
            <a:r>
              <a:rPr lang="en-US" dirty="0" smtClean="0">
                <a:solidFill>
                  <a:srgbClr val="4472C4"/>
                </a:solidFill>
              </a:rPr>
              <a:t>hile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4472C4"/>
                </a:solidFill>
              </a:rPr>
              <a:t>do-while </a:t>
            </a:r>
            <a:r>
              <a:rPr lang="en-US" dirty="0"/>
              <a:t>statements</a:t>
            </a:r>
            <a:endParaRPr lang="en-US" dirty="0" smtClean="0"/>
          </a:p>
          <a:p>
            <a:r>
              <a:rPr lang="en-US" dirty="0">
                <a:solidFill>
                  <a:srgbClr val="4472C4"/>
                </a:solidFill>
              </a:rPr>
              <a:t>f</a:t>
            </a:r>
            <a:r>
              <a:rPr lang="en-US" dirty="0" smtClean="0">
                <a:solidFill>
                  <a:srgbClr val="4472C4"/>
                </a:solidFill>
              </a:rPr>
              <a:t>or</a:t>
            </a:r>
            <a:r>
              <a:rPr lang="en-US" dirty="0" smtClean="0"/>
              <a:t> </a:t>
            </a:r>
            <a:r>
              <a:rPr lang="en-US" dirty="0"/>
              <a:t>statements</a:t>
            </a:r>
            <a:endParaRPr lang="en-US" dirty="0" smtClean="0"/>
          </a:p>
          <a:p>
            <a:r>
              <a:rPr lang="en-US" dirty="0" smtClean="0"/>
              <a:t>Branching statements: </a:t>
            </a:r>
            <a:r>
              <a:rPr lang="en-US" dirty="0" smtClean="0">
                <a:solidFill>
                  <a:srgbClr val="4472C4"/>
                </a:solidFill>
              </a:rPr>
              <a:t>break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4472C4"/>
                </a:solidFill>
              </a:rPr>
              <a:t>continue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4472C4"/>
                </a:solidFill>
              </a:rPr>
              <a:t>return</a:t>
            </a:r>
            <a:endParaRPr lang="en-US" dirty="0">
              <a:solidFill>
                <a:srgbClr val="4472C4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ABDB1-18BE-4FDA-B9ED-FBF356C892E4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45696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If Statements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If-then statements: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4472C4"/>
                </a:solidFill>
              </a:rPr>
              <a:t>void </a:t>
            </a:r>
            <a:r>
              <a:rPr lang="en-US" sz="1800" dirty="0" err="1">
                <a:solidFill>
                  <a:srgbClr val="4472C4"/>
                </a:solidFill>
              </a:rPr>
              <a:t>applyBrakes</a:t>
            </a:r>
            <a:r>
              <a:rPr lang="en-US" sz="1800" dirty="0">
                <a:solidFill>
                  <a:srgbClr val="4472C4"/>
                </a:solidFill>
              </a:rPr>
              <a:t>() 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4472C4"/>
                </a:solidFill>
              </a:rPr>
              <a:t>    // the "if" clause: bicycle must be moving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4472C4"/>
                </a:solidFill>
              </a:rPr>
              <a:t>    if (</a:t>
            </a:r>
            <a:r>
              <a:rPr lang="en-US" sz="1800" dirty="0" err="1">
                <a:solidFill>
                  <a:srgbClr val="4472C4"/>
                </a:solidFill>
              </a:rPr>
              <a:t>isMoving</a:t>
            </a:r>
            <a:r>
              <a:rPr lang="en-US" sz="1800" dirty="0">
                <a:solidFill>
                  <a:srgbClr val="4472C4"/>
                </a:solidFill>
              </a:rPr>
              <a:t>){ 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4472C4"/>
                </a:solidFill>
              </a:rPr>
              <a:t>        // the "then" clause: decrease current speed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4472C4"/>
                </a:solidFill>
              </a:rPr>
              <a:t>        </a:t>
            </a:r>
            <a:r>
              <a:rPr lang="en-US" sz="1800" dirty="0" err="1">
                <a:solidFill>
                  <a:srgbClr val="4472C4"/>
                </a:solidFill>
              </a:rPr>
              <a:t>currentSpeed</a:t>
            </a:r>
            <a:r>
              <a:rPr lang="en-US" sz="1800" dirty="0">
                <a:solidFill>
                  <a:srgbClr val="4472C4"/>
                </a:solidFill>
              </a:rPr>
              <a:t>--;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4472C4"/>
                </a:solidFill>
              </a:rPr>
              <a:t>    }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4472C4"/>
                </a:solidFill>
              </a:rPr>
              <a:t>}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50113" y="1085712"/>
            <a:ext cx="5181600" cy="5341592"/>
          </a:xfrm>
        </p:spPr>
        <p:txBody>
          <a:bodyPr>
            <a:normAutofit/>
          </a:bodyPr>
          <a:lstStyle/>
          <a:p>
            <a:r>
              <a:rPr lang="en-US" dirty="0" smtClean="0"/>
              <a:t>If-then-else statements:</a:t>
            </a:r>
          </a:p>
          <a:p>
            <a:pPr marL="0" indent="0">
              <a:buNone/>
            </a:pPr>
            <a:r>
              <a:rPr lang="fr-FR" sz="1600" dirty="0" smtClean="0">
                <a:solidFill>
                  <a:srgbClr val="4472C4"/>
                </a:solidFill>
              </a:rPr>
              <a:t>        </a:t>
            </a:r>
            <a:r>
              <a:rPr lang="fr-FR" sz="1600" dirty="0" err="1" smtClean="0">
                <a:solidFill>
                  <a:srgbClr val="4472C4"/>
                </a:solidFill>
              </a:rPr>
              <a:t>int</a:t>
            </a:r>
            <a:r>
              <a:rPr lang="fr-FR" sz="1600" dirty="0" smtClean="0">
                <a:solidFill>
                  <a:srgbClr val="4472C4"/>
                </a:solidFill>
              </a:rPr>
              <a:t> </a:t>
            </a:r>
            <a:r>
              <a:rPr lang="fr-FR" sz="1600" dirty="0" err="1">
                <a:solidFill>
                  <a:srgbClr val="4472C4"/>
                </a:solidFill>
              </a:rPr>
              <a:t>testscore</a:t>
            </a:r>
            <a:r>
              <a:rPr lang="fr-FR" sz="1600" dirty="0">
                <a:solidFill>
                  <a:srgbClr val="4472C4"/>
                </a:solidFill>
              </a:rPr>
              <a:t> = 76;</a:t>
            </a:r>
          </a:p>
          <a:p>
            <a:pPr marL="0" indent="0">
              <a:buNone/>
            </a:pPr>
            <a:r>
              <a:rPr lang="sv-SE" sz="1600" dirty="0">
                <a:solidFill>
                  <a:srgbClr val="4472C4"/>
                </a:solidFill>
              </a:rPr>
              <a:t>        char </a:t>
            </a:r>
            <a:r>
              <a:rPr lang="sv-SE" sz="1600" dirty="0" err="1">
                <a:solidFill>
                  <a:srgbClr val="4472C4"/>
                </a:solidFill>
              </a:rPr>
              <a:t>grade</a:t>
            </a:r>
            <a:r>
              <a:rPr lang="sv-SE" sz="1600" dirty="0" smtClean="0">
                <a:solidFill>
                  <a:srgbClr val="4472C4"/>
                </a:solidFill>
              </a:rPr>
              <a:t>;</a:t>
            </a:r>
            <a:endParaRPr lang="sv-SE" sz="1600" dirty="0">
              <a:solidFill>
                <a:srgbClr val="4472C4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4472C4"/>
                </a:solidFill>
              </a:rPr>
              <a:t>        if (</a:t>
            </a:r>
            <a:r>
              <a:rPr lang="en-US" sz="1600" dirty="0" err="1">
                <a:solidFill>
                  <a:srgbClr val="4472C4"/>
                </a:solidFill>
              </a:rPr>
              <a:t>testscore</a:t>
            </a:r>
            <a:r>
              <a:rPr lang="en-US" sz="1600" dirty="0">
                <a:solidFill>
                  <a:srgbClr val="4472C4"/>
                </a:solidFill>
              </a:rPr>
              <a:t> &gt;= 90) {</a:t>
            </a:r>
          </a:p>
          <a:p>
            <a:pPr marL="0" indent="0">
              <a:buNone/>
            </a:pPr>
            <a:r>
              <a:rPr lang="it-IT" sz="1600" dirty="0">
                <a:solidFill>
                  <a:srgbClr val="4472C4"/>
                </a:solidFill>
              </a:rPr>
              <a:t>            grade = 'A';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4472C4"/>
                </a:solidFill>
              </a:rPr>
              <a:t>        } else if (</a:t>
            </a:r>
            <a:r>
              <a:rPr lang="en-US" sz="1600" dirty="0" err="1">
                <a:solidFill>
                  <a:srgbClr val="4472C4"/>
                </a:solidFill>
              </a:rPr>
              <a:t>testscore</a:t>
            </a:r>
            <a:r>
              <a:rPr lang="en-US" sz="1600" dirty="0">
                <a:solidFill>
                  <a:srgbClr val="4472C4"/>
                </a:solidFill>
              </a:rPr>
              <a:t> &gt;= 80) {</a:t>
            </a:r>
          </a:p>
          <a:p>
            <a:pPr marL="0" indent="0">
              <a:buNone/>
            </a:pPr>
            <a:r>
              <a:rPr lang="sv-SE" sz="1600" dirty="0">
                <a:solidFill>
                  <a:srgbClr val="4472C4"/>
                </a:solidFill>
              </a:rPr>
              <a:t>            </a:t>
            </a:r>
            <a:r>
              <a:rPr lang="sv-SE" sz="1600" dirty="0" err="1">
                <a:solidFill>
                  <a:srgbClr val="4472C4"/>
                </a:solidFill>
              </a:rPr>
              <a:t>grade</a:t>
            </a:r>
            <a:r>
              <a:rPr lang="sv-SE" sz="1600" dirty="0">
                <a:solidFill>
                  <a:srgbClr val="4472C4"/>
                </a:solidFill>
              </a:rPr>
              <a:t> = 'B';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4472C4"/>
                </a:solidFill>
              </a:rPr>
              <a:t>        } else if (</a:t>
            </a:r>
            <a:r>
              <a:rPr lang="en-US" sz="1600" dirty="0" err="1">
                <a:solidFill>
                  <a:srgbClr val="4472C4"/>
                </a:solidFill>
              </a:rPr>
              <a:t>testscore</a:t>
            </a:r>
            <a:r>
              <a:rPr lang="en-US" sz="1600" dirty="0">
                <a:solidFill>
                  <a:srgbClr val="4472C4"/>
                </a:solidFill>
              </a:rPr>
              <a:t> &gt;= 70) {</a:t>
            </a:r>
          </a:p>
          <a:p>
            <a:pPr marL="0" indent="0">
              <a:buNone/>
            </a:pPr>
            <a:r>
              <a:rPr lang="fr-FR" sz="1600" dirty="0">
                <a:solidFill>
                  <a:srgbClr val="4472C4"/>
                </a:solidFill>
              </a:rPr>
              <a:t>            grade = 'C';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4472C4"/>
                </a:solidFill>
              </a:rPr>
              <a:t>        } else if (</a:t>
            </a:r>
            <a:r>
              <a:rPr lang="en-US" sz="1600" dirty="0" err="1">
                <a:solidFill>
                  <a:srgbClr val="4472C4"/>
                </a:solidFill>
              </a:rPr>
              <a:t>testscore</a:t>
            </a:r>
            <a:r>
              <a:rPr lang="en-US" sz="1600" dirty="0">
                <a:solidFill>
                  <a:srgbClr val="4472C4"/>
                </a:solidFill>
              </a:rPr>
              <a:t> &gt;= 60) {</a:t>
            </a:r>
          </a:p>
          <a:p>
            <a:pPr marL="0" indent="0">
              <a:buNone/>
            </a:pPr>
            <a:r>
              <a:rPr lang="sv-SE" sz="1600" dirty="0">
                <a:solidFill>
                  <a:srgbClr val="4472C4"/>
                </a:solidFill>
              </a:rPr>
              <a:t>            </a:t>
            </a:r>
            <a:r>
              <a:rPr lang="sv-SE" sz="1600" dirty="0" err="1">
                <a:solidFill>
                  <a:srgbClr val="4472C4"/>
                </a:solidFill>
              </a:rPr>
              <a:t>grade</a:t>
            </a:r>
            <a:r>
              <a:rPr lang="sv-SE" sz="1600" dirty="0">
                <a:solidFill>
                  <a:srgbClr val="4472C4"/>
                </a:solidFill>
              </a:rPr>
              <a:t> = 'D';</a:t>
            </a:r>
          </a:p>
          <a:p>
            <a:pPr marL="0" indent="0">
              <a:buNone/>
            </a:pPr>
            <a:r>
              <a:rPr lang="da-DK" sz="1600" dirty="0">
                <a:solidFill>
                  <a:srgbClr val="4472C4"/>
                </a:solidFill>
              </a:rPr>
              <a:t>        } </a:t>
            </a:r>
            <a:r>
              <a:rPr lang="da-DK" sz="1600" dirty="0" err="1">
                <a:solidFill>
                  <a:srgbClr val="4472C4"/>
                </a:solidFill>
              </a:rPr>
              <a:t>else</a:t>
            </a:r>
            <a:r>
              <a:rPr lang="da-DK" sz="1600" dirty="0">
                <a:solidFill>
                  <a:srgbClr val="4472C4"/>
                </a:solidFill>
              </a:rPr>
              <a:t> {</a:t>
            </a:r>
          </a:p>
          <a:p>
            <a:pPr marL="0" indent="0">
              <a:buNone/>
            </a:pPr>
            <a:r>
              <a:rPr lang="sv-SE" sz="1600" dirty="0">
                <a:solidFill>
                  <a:srgbClr val="4472C4"/>
                </a:solidFill>
              </a:rPr>
              <a:t>            </a:t>
            </a:r>
            <a:r>
              <a:rPr lang="sv-SE" sz="1600" dirty="0" err="1">
                <a:solidFill>
                  <a:srgbClr val="4472C4"/>
                </a:solidFill>
              </a:rPr>
              <a:t>grade</a:t>
            </a:r>
            <a:r>
              <a:rPr lang="sv-SE" sz="1600" dirty="0">
                <a:solidFill>
                  <a:srgbClr val="4472C4"/>
                </a:solidFill>
              </a:rPr>
              <a:t> = 'F';</a:t>
            </a:r>
          </a:p>
          <a:p>
            <a:pPr marL="0" indent="0">
              <a:buNone/>
            </a:pPr>
            <a:r>
              <a:rPr lang="sv-SE" sz="1600" dirty="0">
                <a:solidFill>
                  <a:srgbClr val="4472C4"/>
                </a:solidFill>
              </a:rPr>
              <a:t>        }</a:t>
            </a:r>
          </a:p>
          <a:p>
            <a:pPr marL="0" indent="0">
              <a:buNone/>
            </a:pPr>
            <a:r>
              <a:rPr lang="sv-SE" sz="1600" dirty="0">
                <a:solidFill>
                  <a:srgbClr val="4472C4"/>
                </a:solidFill>
              </a:rPr>
              <a:t>        </a:t>
            </a:r>
            <a:r>
              <a:rPr lang="sv-SE" sz="1600" dirty="0" err="1">
                <a:solidFill>
                  <a:srgbClr val="4472C4"/>
                </a:solidFill>
              </a:rPr>
              <a:t>System.out.println</a:t>
            </a:r>
            <a:r>
              <a:rPr lang="sv-SE" sz="1600" dirty="0">
                <a:solidFill>
                  <a:srgbClr val="4472C4"/>
                </a:solidFill>
              </a:rPr>
              <a:t>("</a:t>
            </a:r>
            <a:r>
              <a:rPr lang="sv-SE" sz="1600" dirty="0" err="1">
                <a:solidFill>
                  <a:srgbClr val="4472C4"/>
                </a:solidFill>
              </a:rPr>
              <a:t>Grade</a:t>
            </a:r>
            <a:r>
              <a:rPr lang="sv-SE" sz="1600" dirty="0">
                <a:solidFill>
                  <a:srgbClr val="4472C4"/>
                </a:solidFill>
              </a:rPr>
              <a:t> = " + </a:t>
            </a:r>
            <a:r>
              <a:rPr lang="sv-SE" sz="1600" dirty="0" err="1">
                <a:solidFill>
                  <a:srgbClr val="4472C4"/>
                </a:solidFill>
              </a:rPr>
              <a:t>grade</a:t>
            </a:r>
            <a:r>
              <a:rPr lang="sv-SE" sz="1600" dirty="0">
                <a:solidFill>
                  <a:srgbClr val="4472C4"/>
                </a:solidFill>
              </a:rPr>
              <a:t>)</a:t>
            </a:r>
            <a:r>
              <a:rPr lang="sv-SE" sz="1600" dirty="0" smtClean="0">
                <a:solidFill>
                  <a:srgbClr val="4472C4"/>
                </a:solidFill>
              </a:rPr>
              <a:t>;</a:t>
            </a:r>
            <a:endParaRPr lang="sv-SE" sz="1600" dirty="0">
              <a:solidFill>
                <a:srgbClr val="4472C4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ABDB1-18BE-4FDA-B9ED-FBF356C892E4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62833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Switch Statements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Types that can be put into switch():</a:t>
            </a:r>
          </a:p>
          <a:p>
            <a:pPr lvl="1"/>
            <a:r>
              <a:rPr lang="en-US" dirty="0">
                <a:solidFill>
                  <a:srgbClr val="4472C4"/>
                </a:solidFill>
              </a:rPr>
              <a:t>b</a:t>
            </a:r>
            <a:r>
              <a:rPr lang="en-US" dirty="0" smtClean="0">
                <a:solidFill>
                  <a:srgbClr val="4472C4"/>
                </a:solidFill>
              </a:rPr>
              <a:t>yte</a:t>
            </a:r>
          </a:p>
          <a:p>
            <a:pPr lvl="1"/>
            <a:r>
              <a:rPr lang="en-US" dirty="0">
                <a:solidFill>
                  <a:srgbClr val="4472C4"/>
                </a:solidFill>
              </a:rPr>
              <a:t>s</a:t>
            </a:r>
            <a:r>
              <a:rPr lang="en-US" dirty="0" smtClean="0">
                <a:solidFill>
                  <a:srgbClr val="4472C4"/>
                </a:solidFill>
              </a:rPr>
              <a:t>hort</a:t>
            </a:r>
          </a:p>
          <a:p>
            <a:pPr lvl="1"/>
            <a:r>
              <a:rPr lang="en-US" dirty="0" err="1">
                <a:solidFill>
                  <a:srgbClr val="4472C4"/>
                </a:solidFill>
              </a:rPr>
              <a:t>i</a:t>
            </a:r>
            <a:r>
              <a:rPr lang="en-US" dirty="0" err="1" smtClean="0">
                <a:solidFill>
                  <a:srgbClr val="4472C4"/>
                </a:solidFill>
              </a:rPr>
              <a:t>nt</a:t>
            </a:r>
            <a:endParaRPr lang="en-US" dirty="0" smtClean="0">
              <a:solidFill>
                <a:srgbClr val="4472C4"/>
              </a:solidFill>
            </a:endParaRPr>
          </a:p>
          <a:p>
            <a:pPr lvl="1"/>
            <a:r>
              <a:rPr lang="en-US" dirty="0" smtClean="0">
                <a:solidFill>
                  <a:srgbClr val="4472C4"/>
                </a:solidFill>
              </a:rPr>
              <a:t>String</a:t>
            </a:r>
          </a:p>
          <a:p>
            <a:pPr lvl="1"/>
            <a:r>
              <a:rPr lang="en-US" dirty="0" smtClean="0"/>
              <a:t>Enumerated types</a:t>
            </a:r>
          </a:p>
          <a:p>
            <a:pPr lvl="1"/>
            <a:r>
              <a:rPr lang="en-US" dirty="0" smtClean="0"/>
              <a:t>Special wrapper classes, e.g. </a:t>
            </a:r>
            <a:r>
              <a:rPr lang="en-US" dirty="0" smtClean="0">
                <a:solidFill>
                  <a:srgbClr val="4472C4"/>
                </a:solidFill>
              </a:rPr>
              <a:t>Integer</a:t>
            </a:r>
          </a:p>
          <a:p>
            <a:r>
              <a:rPr lang="en-US" dirty="0" smtClean="0"/>
              <a:t>Statements after the matching case fall through until encountering a </a:t>
            </a:r>
            <a:r>
              <a:rPr lang="en-US" dirty="0" smtClean="0">
                <a:solidFill>
                  <a:srgbClr val="4472C4"/>
                </a:solidFill>
              </a:rPr>
              <a:t>break</a:t>
            </a:r>
            <a:endParaRPr lang="en-US" dirty="0">
              <a:solidFill>
                <a:srgbClr val="4472C4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ABDB1-18BE-4FDA-B9ED-FBF356C892E4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04780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Switch Example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838200" y="1490870"/>
            <a:ext cx="5181600" cy="4837043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2900" dirty="0">
                <a:solidFill>
                  <a:srgbClr val="4472C4"/>
                </a:solidFill>
              </a:rPr>
              <a:t>class </a:t>
            </a:r>
            <a:r>
              <a:rPr lang="en-US" sz="2900" dirty="0" err="1">
                <a:solidFill>
                  <a:srgbClr val="4472C4"/>
                </a:solidFill>
              </a:rPr>
              <a:t>SwitchNumDaysInMonth</a:t>
            </a:r>
            <a:r>
              <a:rPr lang="en-US" sz="2900" dirty="0">
                <a:solidFill>
                  <a:srgbClr val="4472C4"/>
                </a:solidFill>
              </a:rPr>
              <a:t> {</a:t>
            </a:r>
          </a:p>
          <a:p>
            <a:pPr marL="0" indent="0">
              <a:buNone/>
            </a:pPr>
            <a:r>
              <a:rPr lang="en-US" sz="2900" dirty="0">
                <a:solidFill>
                  <a:srgbClr val="4472C4"/>
                </a:solidFill>
              </a:rPr>
              <a:t>  public static void main(String[] </a:t>
            </a:r>
            <a:r>
              <a:rPr lang="en-US" sz="2900" dirty="0" err="1">
                <a:solidFill>
                  <a:srgbClr val="4472C4"/>
                </a:solidFill>
              </a:rPr>
              <a:t>args</a:t>
            </a:r>
            <a:r>
              <a:rPr lang="en-US" sz="2900" dirty="0">
                <a:solidFill>
                  <a:srgbClr val="4472C4"/>
                </a:solidFill>
              </a:rPr>
              <a:t>) {</a:t>
            </a:r>
          </a:p>
          <a:p>
            <a:pPr marL="0" indent="0">
              <a:buNone/>
            </a:pPr>
            <a:r>
              <a:rPr lang="en-US" sz="2900" dirty="0">
                <a:solidFill>
                  <a:srgbClr val="4472C4"/>
                </a:solidFill>
              </a:rPr>
              <a:t>    </a:t>
            </a:r>
            <a:r>
              <a:rPr lang="en-US" sz="2900" dirty="0" err="1">
                <a:solidFill>
                  <a:srgbClr val="4472C4"/>
                </a:solidFill>
              </a:rPr>
              <a:t>int</a:t>
            </a:r>
            <a:r>
              <a:rPr lang="en-US" sz="2900" dirty="0">
                <a:solidFill>
                  <a:srgbClr val="4472C4"/>
                </a:solidFill>
              </a:rPr>
              <a:t> month = 2;</a:t>
            </a:r>
          </a:p>
          <a:p>
            <a:pPr marL="0" indent="0">
              <a:buNone/>
            </a:pPr>
            <a:r>
              <a:rPr lang="en-US" sz="2900" dirty="0">
                <a:solidFill>
                  <a:srgbClr val="4472C4"/>
                </a:solidFill>
              </a:rPr>
              <a:t>    </a:t>
            </a:r>
            <a:r>
              <a:rPr lang="en-US" sz="2900" dirty="0" err="1">
                <a:solidFill>
                  <a:srgbClr val="4472C4"/>
                </a:solidFill>
              </a:rPr>
              <a:t>int</a:t>
            </a:r>
            <a:r>
              <a:rPr lang="en-US" sz="2900" dirty="0">
                <a:solidFill>
                  <a:srgbClr val="4472C4"/>
                </a:solidFill>
              </a:rPr>
              <a:t> year = 2000;</a:t>
            </a:r>
          </a:p>
          <a:p>
            <a:pPr marL="0" indent="0">
              <a:buNone/>
            </a:pPr>
            <a:r>
              <a:rPr lang="en-US" sz="2900" dirty="0">
                <a:solidFill>
                  <a:srgbClr val="4472C4"/>
                </a:solidFill>
              </a:rPr>
              <a:t>    </a:t>
            </a:r>
            <a:r>
              <a:rPr lang="en-US" sz="2900" dirty="0" err="1">
                <a:solidFill>
                  <a:srgbClr val="4472C4"/>
                </a:solidFill>
              </a:rPr>
              <a:t>int</a:t>
            </a:r>
            <a:r>
              <a:rPr lang="en-US" sz="2900" dirty="0">
                <a:solidFill>
                  <a:srgbClr val="4472C4"/>
                </a:solidFill>
              </a:rPr>
              <a:t> </a:t>
            </a:r>
            <a:r>
              <a:rPr lang="en-US" sz="2900" dirty="0" err="1">
                <a:solidFill>
                  <a:srgbClr val="4472C4"/>
                </a:solidFill>
              </a:rPr>
              <a:t>numDays</a:t>
            </a:r>
            <a:r>
              <a:rPr lang="en-US" sz="2900" dirty="0">
                <a:solidFill>
                  <a:srgbClr val="4472C4"/>
                </a:solidFill>
              </a:rPr>
              <a:t> = 0;</a:t>
            </a:r>
          </a:p>
          <a:p>
            <a:pPr marL="0" indent="0">
              <a:buNone/>
            </a:pPr>
            <a:endParaRPr lang="en-US" sz="2900" dirty="0">
              <a:solidFill>
                <a:srgbClr val="4472C4"/>
              </a:solidFill>
            </a:endParaRPr>
          </a:p>
          <a:p>
            <a:pPr marL="0" indent="0">
              <a:buNone/>
            </a:pPr>
            <a:r>
              <a:rPr lang="en-US" sz="2900" dirty="0">
                <a:solidFill>
                  <a:srgbClr val="4472C4"/>
                </a:solidFill>
              </a:rPr>
              <a:t>    switch (month) {</a:t>
            </a:r>
          </a:p>
          <a:p>
            <a:pPr marL="0" indent="0">
              <a:buNone/>
            </a:pPr>
            <a:r>
              <a:rPr lang="en-US" sz="2900" dirty="0">
                <a:solidFill>
                  <a:srgbClr val="4472C4"/>
                </a:solidFill>
              </a:rPr>
              <a:t>      case 1: case 3: case 5:</a:t>
            </a:r>
          </a:p>
          <a:p>
            <a:pPr marL="0" indent="0">
              <a:buNone/>
            </a:pPr>
            <a:r>
              <a:rPr lang="en-US" sz="2900" dirty="0">
                <a:solidFill>
                  <a:srgbClr val="4472C4"/>
                </a:solidFill>
              </a:rPr>
              <a:t>      case 7: case 8: case 10: </a:t>
            </a:r>
          </a:p>
          <a:p>
            <a:pPr marL="0" indent="0">
              <a:buNone/>
            </a:pPr>
            <a:r>
              <a:rPr lang="en-US" sz="2900" dirty="0">
                <a:solidFill>
                  <a:srgbClr val="4472C4"/>
                </a:solidFill>
              </a:rPr>
              <a:t>      case 12: </a:t>
            </a:r>
          </a:p>
          <a:p>
            <a:pPr marL="0" indent="0">
              <a:buNone/>
            </a:pPr>
            <a:r>
              <a:rPr lang="en-US" sz="2900" dirty="0">
                <a:solidFill>
                  <a:srgbClr val="4472C4"/>
                </a:solidFill>
              </a:rPr>
              <a:t>        </a:t>
            </a:r>
            <a:r>
              <a:rPr lang="en-US" sz="2900" dirty="0" err="1">
                <a:solidFill>
                  <a:srgbClr val="4472C4"/>
                </a:solidFill>
              </a:rPr>
              <a:t>numDays</a:t>
            </a:r>
            <a:r>
              <a:rPr lang="en-US" sz="2900" dirty="0">
                <a:solidFill>
                  <a:srgbClr val="4472C4"/>
                </a:solidFill>
              </a:rPr>
              <a:t> = 31; </a:t>
            </a:r>
          </a:p>
          <a:p>
            <a:pPr marL="0" indent="0">
              <a:buNone/>
            </a:pPr>
            <a:r>
              <a:rPr lang="en-US" sz="2900" dirty="0">
                <a:solidFill>
                  <a:srgbClr val="4472C4"/>
                </a:solidFill>
              </a:rPr>
              <a:t>        break;</a:t>
            </a:r>
          </a:p>
          <a:p>
            <a:pPr marL="0" indent="0">
              <a:buNone/>
            </a:pPr>
            <a:r>
              <a:rPr lang="en-US" sz="2900" dirty="0">
                <a:solidFill>
                  <a:srgbClr val="4472C4"/>
                </a:solidFill>
              </a:rPr>
              <a:t>      case 4: case 6:</a:t>
            </a:r>
          </a:p>
          <a:p>
            <a:pPr marL="0" indent="0">
              <a:buNone/>
            </a:pPr>
            <a:r>
              <a:rPr lang="en-US" sz="2900" dirty="0">
                <a:solidFill>
                  <a:srgbClr val="4472C4"/>
                </a:solidFill>
              </a:rPr>
              <a:t>      case 9: case 11: </a:t>
            </a:r>
          </a:p>
          <a:p>
            <a:pPr marL="0" indent="0">
              <a:buNone/>
            </a:pPr>
            <a:r>
              <a:rPr lang="en-US" sz="2900" dirty="0">
                <a:solidFill>
                  <a:srgbClr val="4472C4"/>
                </a:solidFill>
              </a:rPr>
              <a:t>        </a:t>
            </a:r>
            <a:r>
              <a:rPr lang="en-US" sz="2900" dirty="0" err="1">
                <a:solidFill>
                  <a:srgbClr val="4472C4"/>
                </a:solidFill>
              </a:rPr>
              <a:t>numDays</a:t>
            </a:r>
            <a:r>
              <a:rPr lang="en-US" sz="2900" dirty="0">
                <a:solidFill>
                  <a:srgbClr val="4472C4"/>
                </a:solidFill>
              </a:rPr>
              <a:t> = 30; </a:t>
            </a:r>
          </a:p>
          <a:p>
            <a:pPr marL="0" indent="0">
              <a:buNone/>
            </a:pPr>
            <a:r>
              <a:rPr lang="en-US" sz="2900" dirty="0">
                <a:solidFill>
                  <a:srgbClr val="4472C4"/>
                </a:solidFill>
              </a:rPr>
              <a:t>        break;</a:t>
            </a:r>
          </a:p>
          <a:p>
            <a:pPr marL="0" indent="0">
              <a:buNone/>
            </a:pPr>
            <a:endParaRPr lang="en-US" sz="1600" dirty="0">
              <a:solidFill>
                <a:srgbClr val="4472C4"/>
              </a:solidFill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6172200" y="1358348"/>
            <a:ext cx="5181600" cy="481861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472C4"/>
                </a:solidFill>
              </a:rPr>
              <a:t> </a:t>
            </a:r>
            <a:r>
              <a:rPr lang="en-US" sz="1600" dirty="0" smtClean="0">
                <a:solidFill>
                  <a:srgbClr val="4472C4"/>
                </a:solidFill>
              </a:rPr>
              <a:t>     case </a:t>
            </a:r>
            <a:r>
              <a:rPr lang="en-US" sz="1600" dirty="0">
                <a:solidFill>
                  <a:srgbClr val="4472C4"/>
                </a:solidFill>
              </a:rPr>
              <a:t>2: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4472C4"/>
                </a:solidFill>
              </a:rPr>
              <a:t>        if (((year % 4 == 0) &amp;&amp; !(year % 100 == 0)) 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4472C4"/>
                </a:solidFill>
              </a:rPr>
              <a:t>          || (year % 400 == 0)) 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4472C4"/>
                </a:solidFill>
              </a:rPr>
              <a:t>          </a:t>
            </a:r>
            <a:r>
              <a:rPr lang="en-US" sz="1600" dirty="0" err="1">
                <a:solidFill>
                  <a:srgbClr val="4472C4"/>
                </a:solidFill>
              </a:rPr>
              <a:t>numDays</a:t>
            </a:r>
            <a:r>
              <a:rPr lang="en-US" sz="1600" dirty="0">
                <a:solidFill>
                  <a:srgbClr val="4472C4"/>
                </a:solidFill>
              </a:rPr>
              <a:t> = 29; </a:t>
            </a:r>
            <a:r>
              <a:rPr lang="en-US" sz="1600" dirty="0" smtClean="0">
                <a:solidFill>
                  <a:srgbClr val="4472C4"/>
                </a:solidFill>
              </a:rPr>
              <a:t> // for leap years</a:t>
            </a:r>
            <a:endParaRPr lang="en-US" sz="1600" dirty="0">
              <a:solidFill>
                <a:srgbClr val="4472C4"/>
              </a:solidFill>
            </a:endParaRPr>
          </a:p>
          <a:p>
            <a:pPr marL="0" indent="0">
              <a:buNone/>
            </a:pPr>
            <a:r>
              <a:rPr lang="hu-HU" sz="1600" dirty="0">
                <a:solidFill>
                  <a:srgbClr val="4472C4"/>
                </a:solidFill>
              </a:rPr>
              <a:t>        else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4472C4"/>
                </a:solidFill>
              </a:rPr>
              <a:t>          </a:t>
            </a:r>
            <a:r>
              <a:rPr lang="en-US" sz="1600" dirty="0" err="1">
                <a:solidFill>
                  <a:srgbClr val="4472C4"/>
                </a:solidFill>
              </a:rPr>
              <a:t>numDays</a:t>
            </a:r>
            <a:r>
              <a:rPr lang="en-US" sz="1600" dirty="0">
                <a:solidFill>
                  <a:srgbClr val="4472C4"/>
                </a:solidFill>
              </a:rPr>
              <a:t> = 28; 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4472C4"/>
                </a:solidFill>
              </a:rPr>
              <a:t>        break;</a:t>
            </a:r>
          </a:p>
          <a:p>
            <a:pPr marL="0" indent="0">
              <a:buNone/>
            </a:pPr>
            <a:r>
              <a:rPr lang="fr-FR" sz="1600" dirty="0">
                <a:solidFill>
                  <a:srgbClr val="4472C4"/>
                </a:solidFill>
              </a:rPr>
              <a:t>    </a:t>
            </a:r>
            <a:r>
              <a:rPr lang="fr-FR" sz="1600" dirty="0" smtClean="0">
                <a:solidFill>
                  <a:srgbClr val="4472C4"/>
                </a:solidFill>
              </a:rPr>
              <a:t>  default</a:t>
            </a:r>
            <a:r>
              <a:rPr lang="fr-FR" sz="1600" dirty="0">
                <a:solidFill>
                  <a:srgbClr val="4472C4"/>
                </a:solidFill>
              </a:rPr>
              <a:t>:</a:t>
            </a:r>
          </a:p>
          <a:p>
            <a:pPr marL="0" indent="0">
              <a:buNone/>
            </a:pPr>
            <a:r>
              <a:rPr lang="fr-FR" sz="1600" dirty="0">
                <a:solidFill>
                  <a:srgbClr val="4472C4"/>
                </a:solidFill>
              </a:rPr>
              <a:t>        </a:t>
            </a:r>
            <a:r>
              <a:rPr lang="fr-FR" sz="1600" dirty="0" err="1">
                <a:solidFill>
                  <a:srgbClr val="4472C4"/>
                </a:solidFill>
              </a:rPr>
              <a:t>System.out.println</a:t>
            </a:r>
            <a:r>
              <a:rPr lang="fr-FR" sz="1600" dirty="0">
                <a:solidFill>
                  <a:srgbClr val="4472C4"/>
                </a:solidFill>
              </a:rPr>
              <a:t>("</a:t>
            </a:r>
            <a:r>
              <a:rPr lang="fr-FR" sz="1600" dirty="0" err="1">
                <a:solidFill>
                  <a:srgbClr val="4472C4"/>
                </a:solidFill>
              </a:rPr>
              <a:t>Invalid</a:t>
            </a:r>
            <a:r>
              <a:rPr lang="fr-FR" sz="1600" dirty="0">
                <a:solidFill>
                  <a:srgbClr val="4472C4"/>
                </a:solidFill>
              </a:rPr>
              <a:t> </a:t>
            </a:r>
            <a:r>
              <a:rPr lang="fr-FR" sz="1600" dirty="0" err="1">
                <a:solidFill>
                  <a:srgbClr val="4472C4"/>
                </a:solidFill>
              </a:rPr>
              <a:t>month</a:t>
            </a:r>
            <a:r>
              <a:rPr lang="fr-FR" sz="1600" dirty="0">
                <a:solidFill>
                  <a:srgbClr val="4472C4"/>
                </a:solidFill>
              </a:rPr>
              <a:t>.");</a:t>
            </a:r>
          </a:p>
          <a:p>
            <a:pPr marL="0" indent="0">
              <a:buNone/>
            </a:pPr>
            <a:r>
              <a:rPr lang="fr-FR" sz="1600" dirty="0">
                <a:solidFill>
                  <a:srgbClr val="4472C4"/>
                </a:solidFill>
              </a:rPr>
              <a:t>        break;</a:t>
            </a:r>
          </a:p>
          <a:p>
            <a:pPr marL="0" indent="0">
              <a:buNone/>
            </a:pPr>
            <a:r>
              <a:rPr lang="fr-FR" sz="1600" dirty="0">
                <a:solidFill>
                  <a:srgbClr val="4472C4"/>
                </a:solidFill>
              </a:rPr>
              <a:t>    }   </a:t>
            </a:r>
          </a:p>
          <a:p>
            <a:pPr marL="0" indent="0">
              <a:buNone/>
            </a:pPr>
            <a:r>
              <a:rPr lang="fr-FR" sz="1600" dirty="0">
                <a:solidFill>
                  <a:srgbClr val="4472C4"/>
                </a:solidFill>
              </a:rPr>
              <a:t>    </a:t>
            </a:r>
            <a:r>
              <a:rPr lang="fr-FR" sz="1600" dirty="0" err="1">
                <a:solidFill>
                  <a:srgbClr val="4472C4"/>
                </a:solidFill>
              </a:rPr>
              <a:t>System.out.println</a:t>
            </a:r>
            <a:r>
              <a:rPr lang="fr-FR" sz="1600" dirty="0">
                <a:solidFill>
                  <a:srgbClr val="4472C4"/>
                </a:solidFill>
              </a:rPr>
              <a:t>("</a:t>
            </a:r>
            <a:r>
              <a:rPr lang="fr-FR" sz="1600" dirty="0" err="1">
                <a:solidFill>
                  <a:srgbClr val="4472C4"/>
                </a:solidFill>
              </a:rPr>
              <a:t>Number</a:t>
            </a:r>
            <a:r>
              <a:rPr lang="fr-FR" sz="1600" dirty="0">
                <a:solidFill>
                  <a:srgbClr val="4472C4"/>
                </a:solidFill>
              </a:rPr>
              <a:t> of </a:t>
            </a:r>
            <a:r>
              <a:rPr lang="fr-FR" sz="1600" dirty="0" err="1">
                <a:solidFill>
                  <a:srgbClr val="4472C4"/>
                </a:solidFill>
              </a:rPr>
              <a:t>Days</a:t>
            </a:r>
            <a:r>
              <a:rPr lang="fr-FR" sz="1600" dirty="0">
                <a:solidFill>
                  <a:srgbClr val="4472C4"/>
                </a:solidFill>
              </a:rPr>
              <a:t> = " + </a:t>
            </a:r>
            <a:r>
              <a:rPr lang="fr-FR" sz="1600" dirty="0" err="1">
                <a:solidFill>
                  <a:srgbClr val="4472C4"/>
                </a:solidFill>
              </a:rPr>
              <a:t>numDays</a:t>
            </a:r>
            <a:r>
              <a:rPr lang="fr-FR" sz="1600" dirty="0">
                <a:solidFill>
                  <a:srgbClr val="4472C4"/>
                </a:solidFill>
              </a:rPr>
              <a:t>);</a:t>
            </a:r>
          </a:p>
          <a:p>
            <a:pPr marL="0" indent="0">
              <a:buNone/>
            </a:pPr>
            <a:r>
              <a:rPr lang="fr-FR" sz="1600" dirty="0">
                <a:solidFill>
                  <a:srgbClr val="4472C4"/>
                </a:solidFill>
              </a:rPr>
              <a:t>  }</a:t>
            </a:r>
          </a:p>
          <a:p>
            <a:pPr marL="0" indent="0">
              <a:buNone/>
            </a:pPr>
            <a:r>
              <a:rPr lang="fr-FR" sz="1600" dirty="0" smtClean="0">
                <a:solidFill>
                  <a:srgbClr val="4472C4"/>
                </a:solidFill>
              </a:rPr>
              <a:t>} // </a:t>
            </a:r>
            <a:r>
              <a:rPr lang="fr-FR" sz="1600" dirty="0" err="1" smtClean="0">
                <a:solidFill>
                  <a:srgbClr val="4472C4"/>
                </a:solidFill>
              </a:rPr>
              <a:t>this</a:t>
            </a:r>
            <a:r>
              <a:rPr lang="fr-FR" sz="1600" dirty="0" smtClean="0">
                <a:solidFill>
                  <a:srgbClr val="4472C4"/>
                </a:solidFill>
              </a:rPr>
              <a:t> program </a:t>
            </a:r>
            <a:r>
              <a:rPr lang="fr-FR" sz="1600" dirty="0" err="1" smtClean="0">
                <a:solidFill>
                  <a:srgbClr val="4472C4"/>
                </a:solidFill>
              </a:rPr>
              <a:t>prints</a:t>
            </a:r>
            <a:r>
              <a:rPr lang="fr-FR" sz="1600" dirty="0" smtClean="0">
                <a:solidFill>
                  <a:srgbClr val="4472C4"/>
                </a:solidFill>
              </a:rPr>
              <a:t> out 29</a:t>
            </a:r>
            <a:endParaRPr lang="en-US" sz="1600" dirty="0">
              <a:solidFill>
                <a:srgbClr val="4472C4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ABDB1-18BE-4FDA-B9ED-FBF356C892E4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87150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While and Do-while Statements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If the statement in </a:t>
            </a:r>
            <a:r>
              <a:rPr lang="en-US" sz="2400" dirty="0" smtClean="0">
                <a:solidFill>
                  <a:srgbClr val="4472C4"/>
                </a:solidFill>
              </a:rPr>
              <a:t>while()</a:t>
            </a:r>
            <a:r>
              <a:rPr lang="en-US" sz="2400" dirty="0" smtClean="0"/>
              <a:t> evaluates to </a:t>
            </a:r>
            <a:r>
              <a:rPr lang="en-US" sz="2400" dirty="0" smtClean="0">
                <a:solidFill>
                  <a:srgbClr val="4472C4"/>
                </a:solidFill>
              </a:rPr>
              <a:t>true</a:t>
            </a:r>
            <a:r>
              <a:rPr lang="en-US" sz="2400" dirty="0" smtClean="0"/>
              <a:t>, executes the while block.</a:t>
            </a:r>
          </a:p>
          <a:p>
            <a:r>
              <a:rPr lang="en-US" sz="2400" dirty="0" smtClean="0"/>
              <a:t>Continues testing the statement and executing the block until the statement evaluates to </a:t>
            </a:r>
            <a:r>
              <a:rPr lang="en-US" sz="2400" dirty="0" smtClean="0">
                <a:solidFill>
                  <a:srgbClr val="4472C4"/>
                </a:solidFill>
              </a:rPr>
              <a:t>false</a:t>
            </a:r>
            <a:r>
              <a:rPr lang="en-US" sz="2400" dirty="0" smtClean="0"/>
              <a:t>.</a:t>
            </a:r>
          </a:p>
          <a:p>
            <a:pPr marL="0" indent="0">
              <a:buNone/>
            </a:pPr>
            <a:r>
              <a:rPr lang="en-US" sz="1800" dirty="0"/>
              <a:t> </a:t>
            </a:r>
            <a:r>
              <a:rPr lang="en-US" sz="1800" dirty="0" smtClean="0"/>
              <a:t>       </a:t>
            </a:r>
            <a:r>
              <a:rPr lang="en-US" sz="1800" dirty="0" err="1" smtClean="0">
                <a:solidFill>
                  <a:srgbClr val="4472C4"/>
                </a:solidFill>
              </a:rPr>
              <a:t>int</a:t>
            </a:r>
            <a:r>
              <a:rPr lang="en-US" sz="1800" dirty="0" smtClean="0">
                <a:solidFill>
                  <a:srgbClr val="4472C4"/>
                </a:solidFill>
              </a:rPr>
              <a:t> </a:t>
            </a:r>
            <a:r>
              <a:rPr lang="en-US" sz="1800" dirty="0">
                <a:solidFill>
                  <a:srgbClr val="4472C4"/>
                </a:solidFill>
              </a:rPr>
              <a:t>count = 1;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4472C4"/>
                </a:solidFill>
              </a:rPr>
              <a:t>        while (count &lt; 11) 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4472C4"/>
                </a:solidFill>
              </a:rPr>
              <a:t>            </a:t>
            </a:r>
            <a:r>
              <a:rPr lang="en-US" sz="1800" dirty="0" err="1">
                <a:solidFill>
                  <a:srgbClr val="4472C4"/>
                </a:solidFill>
              </a:rPr>
              <a:t>System.out.println</a:t>
            </a:r>
            <a:r>
              <a:rPr lang="en-US" sz="1800" dirty="0">
                <a:solidFill>
                  <a:srgbClr val="4472C4"/>
                </a:solidFill>
              </a:rPr>
              <a:t>("Count is: " + count);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4472C4"/>
                </a:solidFill>
              </a:rPr>
              <a:t>            count++;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4472C4"/>
                </a:solidFill>
              </a:rPr>
              <a:t>        }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Do-while: the do block is always executed at least once, then the statement is evaluated.</a:t>
            </a:r>
          </a:p>
          <a:p>
            <a:endParaRPr lang="en-US" sz="2400" dirty="0" smtClean="0"/>
          </a:p>
          <a:p>
            <a:pPr marL="0" indent="0">
              <a:buNone/>
            </a:pPr>
            <a:r>
              <a:rPr lang="en-US" sz="1800" dirty="0" smtClean="0">
                <a:solidFill>
                  <a:srgbClr val="4472C4"/>
                </a:solidFill>
              </a:rPr>
              <a:t>        </a:t>
            </a:r>
            <a:r>
              <a:rPr lang="en-US" sz="1800" dirty="0" err="1" smtClean="0">
                <a:solidFill>
                  <a:srgbClr val="4472C4"/>
                </a:solidFill>
              </a:rPr>
              <a:t>int</a:t>
            </a:r>
            <a:r>
              <a:rPr lang="en-US" sz="1800" dirty="0" smtClean="0">
                <a:solidFill>
                  <a:srgbClr val="4472C4"/>
                </a:solidFill>
              </a:rPr>
              <a:t> </a:t>
            </a:r>
            <a:r>
              <a:rPr lang="en-US" sz="1800" dirty="0">
                <a:solidFill>
                  <a:srgbClr val="4472C4"/>
                </a:solidFill>
              </a:rPr>
              <a:t>count = 1;</a:t>
            </a:r>
          </a:p>
          <a:p>
            <a:pPr marL="0" indent="0">
              <a:buNone/>
            </a:pPr>
            <a:r>
              <a:rPr lang="pt-BR" sz="1800" dirty="0">
                <a:solidFill>
                  <a:srgbClr val="4472C4"/>
                </a:solidFill>
              </a:rPr>
              <a:t>        do {</a:t>
            </a:r>
          </a:p>
          <a:p>
            <a:pPr marL="0" indent="0">
              <a:buNone/>
            </a:pPr>
            <a:r>
              <a:rPr lang="pt-BR" sz="1800" dirty="0">
                <a:solidFill>
                  <a:srgbClr val="4472C4"/>
                </a:solidFill>
              </a:rPr>
              <a:t>            </a:t>
            </a:r>
            <a:r>
              <a:rPr lang="pt-BR" sz="1800" dirty="0" err="1">
                <a:solidFill>
                  <a:srgbClr val="4472C4"/>
                </a:solidFill>
              </a:rPr>
              <a:t>System.out.println</a:t>
            </a:r>
            <a:r>
              <a:rPr lang="pt-BR" sz="1800" dirty="0">
                <a:solidFill>
                  <a:srgbClr val="4472C4"/>
                </a:solidFill>
              </a:rPr>
              <a:t>("</a:t>
            </a:r>
            <a:r>
              <a:rPr lang="pt-BR" sz="1800" dirty="0" err="1">
                <a:solidFill>
                  <a:srgbClr val="4472C4"/>
                </a:solidFill>
              </a:rPr>
              <a:t>Count</a:t>
            </a:r>
            <a:r>
              <a:rPr lang="pt-BR" sz="1800" dirty="0">
                <a:solidFill>
                  <a:srgbClr val="4472C4"/>
                </a:solidFill>
              </a:rPr>
              <a:t> </a:t>
            </a:r>
            <a:r>
              <a:rPr lang="pt-BR" sz="1800" dirty="0" err="1">
                <a:solidFill>
                  <a:srgbClr val="4472C4"/>
                </a:solidFill>
              </a:rPr>
              <a:t>is</a:t>
            </a:r>
            <a:r>
              <a:rPr lang="pt-BR" sz="1800" dirty="0">
                <a:solidFill>
                  <a:srgbClr val="4472C4"/>
                </a:solidFill>
              </a:rPr>
              <a:t>: " + </a:t>
            </a:r>
            <a:r>
              <a:rPr lang="pt-BR" sz="1800" dirty="0" err="1">
                <a:solidFill>
                  <a:srgbClr val="4472C4"/>
                </a:solidFill>
              </a:rPr>
              <a:t>count</a:t>
            </a:r>
            <a:r>
              <a:rPr lang="pt-BR" sz="1800" dirty="0">
                <a:solidFill>
                  <a:srgbClr val="4472C4"/>
                </a:solidFill>
              </a:rPr>
              <a:t>);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4472C4"/>
                </a:solidFill>
              </a:rPr>
              <a:t>            count++;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4472C4"/>
                </a:solidFill>
              </a:rPr>
              <a:t>        } while (count &lt; 11);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ABDB1-18BE-4FDA-B9ED-FBF356C892E4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95106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 Statements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General form:</a:t>
            </a:r>
          </a:p>
          <a:p>
            <a:pPr marL="457200" lvl="1" indent="0">
              <a:buNone/>
            </a:pPr>
            <a:r>
              <a:rPr lang="en-US" sz="2000" dirty="0">
                <a:solidFill>
                  <a:srgbClr val="4472C4"/>
                </a:solidFill>
              </a:rPr>
              <a:t>f</a:t>
            </a:r>
            <a:r>
              <a:rPr lang="en-US" sz="2000" dirty="0" smtClean="0">
                <a:solidFill>
                  <a:srgbClr val="4472C4"/>
                </a:solidFill>
              </a:rPr>
              <a:t>or (initialization; termination; increment) {</a:t>
            </a:r>
          </a:p>
          <a:p>
            <a:pPr marL="457200" lvl="1" indent="0">
              <a:buNone/>
            </a:pPr>
            <a:r>
              <a:rPr lang="en-US" sz="2000" dirty="0">
                <a:solidFill>
                  <a:srgbClr val="4472C4"/>
                </a:solidFill>
              </a:rPr>
              <a:t> </a:t>
            </a:r>
            <a:r>
              <a:rPr lang="en-US" sz="2000" dirty="0" smtClean="0">
                <a:solidFill>
                  <a:srgbClr val="4472C4"/>
                </a:solidFill>
              </a:rPr>
              <a:t> statement(s)</a:t>
            </a:r>
          </a:p>
          <a:p>
            <a:pPr marL="457200" lvl="1" indent="0">
              <a:buNone/>
            </a:pPr>
            <a:r>
              <a:rPr lang="en-US" sz="2000" dirty="0" smtClean="0">
                <a:solidFill>
                  <a:srgbClr val="4472C4"/>
                </a:solidFill>
              </a:rPr>
              <a:t>}</a:t>
            </a:r>
          </a:p>
          <a:p>
            <a:r>
              <a:rPr lang="en-US" dirty="0" smtClean="0"/>
              <a:t>An example:</a:t>
            </a:r>
          </a:p>
          <a:p>
            <a:pPr marL="457200" lvl="1" indent="0">
              <a:buNone/>
            </a:pPr>
            <a:r>
              <a:rPr lang="en-US" sz="2000" dirty="0">
                <a:solidFill>
                  <a:srgbClr val="4472C4"/>
                </a:solidFill>
              </a:rPr>
              <a:t>f</a:t>
            </a:r>
            <a:r>
              <a:rPr lang="en-US" sz="2000" dirty="0" smtClean="0">
                <a:solidFill>
                  <a:srgbClr val="4472C4"/>
                </a:solidFill>
              </a:rPr>
              <a:t>or (</a:t>
            </a:r>
            <a:r>
              <a:rPr lang="en-US" sz="2000" dirty="0" err="1" smtClean="0">
                <a:solidFill>
                  <a:srgbClr val="4472C4"/>
                </a:solidFill>
              </a:rPr>
              <a:t>int</a:t>
            </a:r>
            <a:r>
              <a:rPr lang="en-US" sz="2000" dirty="0" smtClean="0">
                <a:solidFill>
                  <a:srgbClr val="4472C4"/>
                </a:solidFill>
              </a:rPr>
              <a:t> </a:t>
            </a:r>
            <a:r>
              <a:rPr lang="en-US" sz="2000" dirty="0" err="1" smtClean="0">
                <a:solidFill>
                  <a:srgbClr val="4472C4"/>
                </a:solidFill>
              </a:rPr>
              <a:t>i</a:t>
            </a:r>
            <a:r>
              <a:rPr lang="en-US" sz="2000" dirty="0" smtClean="0">
                <a:solidFill>
                  <a:srgbClr val="4472C4"/>
                </a:solidFill>
              </a:rPr>
              <a:t> = 1; </a:t>
            </a:r>
            <a:r>
              <a:rPr lang="en-US" sz="2000" dirty="0" err="1" smtClean="0">
                <a:solidFill>
                  <a:srgbClr val="4472C4"/>
                </a:solidFill>
              </a:rPr>
              <a:t>i</a:t>
            </a:r>
            <a:r>
              <a:rPr lang="en-US" sz="2000" dirty="0" smtClean="0">
                <a:solidFill>
                  <a:srgbClr val="4472C4"/>
                </a:solidFill>
              </a:rPr>
              <a:t> &lt; 11; </a:t>
            </a:r>
            <a:r>
              <a:rPr lang="en-US" sz="2000" dirty="0" err="1" smtClean="0">
                <a:solidFill>
                  <a:srgbClr val="4472C4"/>
                </a:solidFill>
              </a:rPr>
              <a:t>i</a:t>
            </a:r>
            <a:r>
              <a:rPr lang="en-US" sz="2000" dirty="0" smtClean="0">
                <a:solidFill>
                  <a:srgbClr val="4472C4"/>
                </a:solidFill>
              </a:rPr>
              <a:t>++) {</a:t>
            </a:r>
          </a:p>
          <a:p>
            <a:pPr marL="457200" lvl="1" indent="0">
              <a:buNone/>
            </a:pPr>
            <a:r>
              <a:rPr lang="en-US" sz="2000" dirty="0">
                <a:solidFill>
                  <a:srgbClr val="4472C4"/>
                </a:solidFill>
              </a:rPr>
              <a:t> </a:t>
            </a:r>
            <a:r>
              <a:rPr lang="en-US" sz="2000" dirty="0" smtClean="0">
                <a:solidFill>
                  <a:srgbClr val="4472C4"/>
                </a:solidFill>
              </a:rPr>
              <a:t> </a:t>
            </a:r>
            <a:r>
              <a:rPr lang="en-US" sz="2000" dirty="0" err="1" smtClean="0">
                <a:solidFill>
                  <a:srgbClr val="4472C4"/>
                </a:solidFill>
              </a:rPr>
              <a:t>System.out.println</a:t>
            </a:r>
            <a:r>
              <a:rPr lang="en-US" sz="2000" dirty="0" smtClean="0">
                <a:solidFill>
                  <a:srgbClr val="4472C4"/>
                </a:solidFill>
              </a:rPr>
              <a:t>(</a:t>
            </a:r>
            <a:r>
              <a:rPr lang="en-US" sz="2000" dirty="0" err="1" smtClean="0">
                <a:solidFill>
                  <a:srgbClr val="4472C4"/>
                </a:solidFill>
              </a:rPr>
              <a:t>i</a:t>
            </a:r>
            <a:r>
              <a:rPr lang="en-US" sz="2000" dirty="0" smtClean="0">
                <a:solidFill>
                  <a:srgbClr val="4472C4"/>
                </a:solidFill>
              </a:rPr>
              <a:t>);</a:t>
            </a:r>
          </a:p>
          <a:p>
            <a:pPr marL="457200" lvl="1" indent="0">
              <a:buNone/>
            </a:pPr>
            <a:r>
              <a:rPr lang="en-US" sz="2000" dirty="0" smtClean="0">
                <a:solidFill>
                  <a:srgbClr val="4472C4"/>
                </a:solidFill>
              </a:rPr>
              <a:t>} // 1, 2, 3, 4, 5, 6, 7, 8, 9, 10</a:t>
            </a:r>
            <a:endParaRPr lang="en-US" sz="2000" dirty="0">
              <a:solidFill>
                <a:srgbClr val="4472C4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Foreach</a:t>
            </a:r>
            <a:r>
              <a:rPr lang="en-US" dirty="0" smtClean="0"/>
              <a:t>: </a:t>
            </a:r>
            <a:r>
              <a:rPr lang="en-US" i="1" dirty="0" smtClean="0"/>
              <a:t>enhanced for </a:t>
            </a:r>
            <a:r>
              <a:rPr lang="en-US" dirty="0" smtClean="0"/>
              <a:t>statement for iterations through Collections and arrays.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rgbClr val="4472C4"/>
                </a:solidFill>
              </a:rPr>
              <a:t>         </a:t>
            </a:r>
            <a:r>
              <a:rPr lang="en-US" sz="2000" dirty="0" err="1" smtClean="0">
                <a:solidFill>
                  <a:srgbClr val="4472C4"/>
                </a:solidFill>
              </a:rPr>
              <a:t>int</a:t>
            </a:r>
            <a:r>
              <a:rPr lang="en-US" sz="2000" dirty="0">
                <a:solidFill>
                  <a:srgbClr val="4472C4"/>
                </a:solidFill>
              </a:rPr>
              <a:t>[] numbers = 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4472C4"/>
                </a:solidFill>
              </a:rPr>
              <a:t>             {1,2,3,4,5,6,7,8,9,10};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4472C4"/>
                </a:solidFill>
              </a:rPr>
              <a:t>         for (</a:t>
            </a:r>
            <a:r>
              <a:rPr lang="en-US" sz="2000" dirty="0" err="1">
                <a:solidFill>
                  <a:srgbClr val="4472C4"/>
                </a:solidFill>
              </a:rPr>
              <a:t>int</a:t>
            </a:r>
            <a:r>
              <a:rPr lang="en-US" sz="2000" dirty="0">
                <a:solidFill>
                  <a:srgbClr val="4472C4"/>
                </a:solidFill>
              </a:rPr>
              <a:t> item : numbers) {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4472C4"/>
                </a:solidFill>
              </a:rPr>
              <a:t>             </a:t>
            </a:r>
            <a:r>
              <a:rPr lang="en-US" sz="2000" dirty="0" err="1">
                <a:solidFill>
                  <a:srgbClr val="4472C4"/>
                </a:solidFill>
              </a:rPr>
              <a:t>System.out.println</a:t>
            </a:r>
            <a:r>
              <a:rPr lang="en-US" sz="2000" dirty="0">
                <a:solidFill>
                  <a:srgbClr val="4472C4"/>
                </a:solidFill>
              </a:rPr>
              <a:t>("Count is: " + item);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4472C4"/>
                </a:solidFill>
              </a:rPr>
              <a:t>         }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ABDB1-18BE-4FDA-B9ED-FBF356C892E4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02900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Unlabeled Break Statements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Unlabeled </a:t>
            </a:r>
            <a:r>
              <a:rPr lang="en-US" dirty="0" smtClean="0">
                <a:solidFill>
                  <a:srgbClr val="4472C4"/>
                </a:solidFill>
              </a:rPr>
              <a:t>break</a:t>
            </a:r>
            <a:r>
              <a:rPr lang="en-US" dirty="0" smtClean="0"/>
              <a:t>: terminates the innermost </a:t>
            </a:r>
            <a:r>
              <a:rPr lang="en-US" dirty="0" smtClean="0">
                <a:solidFill>
                  <a:srgbClr val="4472C4"/>
                </a:solidFill>
              </a:rPr>
              <a:t>switch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4472C4"/>
                </a:solidFill>
              </a:rPr>
              <a:t>for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4472C4"/>
                </a:solidFill>
              </a:rPr>
              <a:t>while</a:t>
            </a:r>
            <a:r>
              <a:rPr lang="en-US" dirty="0" smtClean="0"/>
              <a:t>, or </a:t>
            </a:r>
            <a:r>
              <a:rPr lang="en-US" dirty="0" smtClean="0">
                <a:solidFill>
                  <a:srgbClr val="4472C4"/>
                </a:solidFill>
              </a:rPr>
              <a:t>do-while </a:t>
            </a:r>
            <a:r>
              <a:rPr lang="en-US" dirty="0" smtClean="0"/>
              <a:t>statement. </a:t>
            </a:r>
          </a:p>
          <a:p>
            <a:endParaRPr lang="en-US" dirty="0" smtClean="0"/>
          </a:p>
          <a:p>
            <a:pPr lvl="1"/>
            <a:r>
              <a:rPr lang="en-US" dirty="0" err="1" smtClean="0"/>
              <a:t>BreakUnlabeled.java</a:t>
            </a:r>
            <a:endParaRPr lang="en-US" dirty="0" smtClean="0"/>
          </a:p>
          <a:p>
            <a:pPr marL="0" indent="0">
              <a:buNone/>
            </a:pPr>
            <a:r>
              <a:rPr lang="en-US" sz="1800" dirty="0">
                <a:solidFill>
                  <a:srgbClr val="4472C4"/>
                </a:solidFill>
              </a:rPr>
              <a:t>class </a:t>
            </a:r>
            <a:r>
              <a:rPr lang="en-US" sz="1800" dirty="0" err="1">
                <a:solidFill>
                  <a:srgbClr val="4472C4"/>
                </a:solidFill>
              </a:rPr>
              <a:t>BreakUnlabeled</a:t>
            </a:r>
            <a:r>
              <a:rPr lang="en-US" sz="1800" dirty="0">
                <a:solidFill>
                  <a:srgbClr val="4472C4"/>
                </a:solidFill>
              </a:rPr>
              <a:t> 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4472C4"/>
                </a:solidFill>
              </a:rPr>
              <a:t>  public static void main(String[] </a:t>
            </a:r>
            <a:r>
              <a:rPr lang="en-US" sz="1800" dirty="0" err="1">
                <a:solidFill>
                  <a:srgbClr val="4472C4"/>
                </a:solidFill>
              </a:rPr>
              <a:t>args</a:t>
            </a:r>
            <a:r>
              <a:rPr lang="en-US" sz="1800" dirty="0">
                <a:solidFill>
                  <a:srgbClr val="4472C4"/>
                </a:solidFill>
              </a:rPr>
              <a:t>) 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4472C4"/>
                </a:solidFill>
              </a:rPr>
              <a:t>    </a:t>
            </a:r>
            <a:r>
              <a:rPr lang="en-US" sz="1800" dirty="0" err="1">
                <a:solidFill>
                  <a:srgbClr val="4472C4"/>
                </a:solidFill>
              </a:rPr>
              <a:t>int</a:t>
            </a:r>
            <a:r>
              <a:rPr lang="en-US" sz="1800" dirty="0">
                <a:solidFill>
                  <a:srgbClr val="4472C4"/>
                </a:solidFill>
              </a:rPr>
              <a:t>[] </a:t>
            </a:r>
            <a:r>
              <a:rPr lang="en-US" sz="1800" dirty="0" err="1">
                <a:solidFill>
                  <a:srgbClr val="4472C4"/>
                </a:solidFill>
              </a:rPr>
              <a:t>arrayOfInts</a:t>
            </a:r>
            <a:r>
              <a:rPr lang="en-US" sz="1800" dirty="0">
                <a:solidFill>
                  <a:srgbClr val="4472C4"/>
                </a:solidFill>
              </a:rPr>
              <a:t> = 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4472C4"/>
                </a:solidFill>
              </a:rPr>
              <a:t>        { 32, 87, 3, 589,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4472C4"/>
                </a:solidFill>
              </a:rPr>
              <a:t>          12, 1076, 2000,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4472C4"/>
                </a:solidFill>
              </a:rPr>
              <a:t>          8, 622, 127 };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4472C4"/>
                </a:solidFill>
              </a:rPr>
              <a:t>    </a:t>
            </a:r>
            <a:r>
              <a:rPr lang="en-US" sz="1800" dirty="0" err="1">
                <a:solidFill>
                  <a:srgbClr val="4472C4"/>
                </a:solidFill>
              </a:rPr>
              <a:t>int</a:t>
            </a:r>
            <a:r>
              <a:rPr lang="en-US" sz="1800" dirty="0">
                <a:solidFill>
                  <a:srgbClr val="4472C4"/>
                </a:solidFill>
              </a:rPr>
              <a:t> </a:t>
            </a:r>
            <a:r>
              <a:rPr lang="en-US" sz="1800" dirty="0" err="1">
                <a:solidFill>
                  <a:srgbClr val="4472C4"/>
                </a:solidFill>
              </a:rPr>
              <a:t>searchfor</a:t>
            </a:r>
            <a:r>
              <a:rPr lang="en-US" sz="1800" dirty="0">
                <a:solidFill>
                  <a:srgbClr val="4472C4"/>
                </a:solidFill>
              </a:rPr>
              <a:t> = 12; </a:t>
            </a: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468783"/>
            <a:ext cx="5181600" cy="470818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4472C4"/>
                </a:solidFill>
              </a:rPr>
              <a:t> </a:t>
            </a:r>
            <a:r>
              <a:rPr lang="en-US" sz="1800" dirty="0" smtClean="0">
                <a:solidFill>
                  <a:srgbClr val="4472C4"/>
                </a:solidFill>
              </a:rPr>
              <a:t>   </a:t>
            </a:r>
            <a:r>
              <a:rPr lang="en-US" sz="1800" dirty="0" err="1" smtClean="0">
                <a:solidFill>
                  <a:srgbClr val="4472C4"/>
                </a:solidFill>
              </a:rPr>
              <a:t>boolean</a:t>
            </a:r>
            <a:r>
              <a:rPr lang="en-US" sz="1800" dirty="0" smtClean="0">
                <a:solidFill>
                  <a:srgbClr val="4472C4"/>
                </a:solidFill>
              </a:rPr>
              <a:t> </a:t>
            </a:r>
            <a:r>
              <a:rPr lang="en-US" sz="1800" dirty="0" err="1">
                <a:solidFill>
                  <a:srgbClr val="4472C4"/>
                </a:solidFill>
              </a:rPr>
              <a:t>foundIt</a:t>
            </a:r>
            <a:r>
              <a:rPr lang="en-US" sz="1800" dirty="0">
                <a:solidFill>
                  <a:srgbClr val="4472C4"/>
                </a:solidFill>
              </a:rPr>
              <a:t> = false;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4472C4"/>
                </a:solidFill>
              </a:rPr>
              <a:t>    for (</a:t>
            </a:r>
            <a:r>
              <a:rPr lang="en-US" sz="1800" dirty="0" err="1">
                <a:solidFill>
                  <a:srgbClr val="4472C4"/>
                </a:solidFill>
              </a:rPr>
              <a:t>int</a:t>
            </a:r>
            <a:r>
              <a:rPr lang="en-US" sz="1800" dirty="0">
                <a:solidFill>
                  <a:srgbClr val="4472C4"/>
                </a:solidFill>
              </a:rPr>
              <a:t> </a:t>
            </a:r>
            <a:r>
              <a:rPr lang="en-US" sz="1800" dirty="0" err="1">
                <a:solidFill>
                  <a:srgbClr val="4472C4"/>
                </a:solidFill>
              </a:rPr>
              <a:t>val</a:t>
            </a:r>
            <a:r>
              <a:rPr lang="en-US" sz="1800" dirty="0">
                <a:solidFill>
                  <a:srgbClr val="4472C4"/>
                </a:solidFill>
              </a:rPr>
              <a:t> : </a:t>
            </a:r>
            <a:r>
              <a:rPr lang="en-US" sz="1800" dirty="0" err="1">
                <a:solidFill>
                  <a:srgbClr val="4472C4"/>
                </a:solidFill>
              </a:rPr>
              <a:t>arrayOfInts</a:t>
            </a:r>
            <a:r>
              <a:rPr lang="en-US" sz="1800" dirty="0">
                <a:solidFill>
                  <a:srgbClr val="4472C4"/>
                </a:solidFill>
              </a:rPr>
              <a:t>) 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4472C4"/>
                </a:solidFill>
              </a:rPr>
              <a:t>      if (</a:t>
            </a:r>
            <a:r>
              <a:rPr lang="en-US" sz="1800" dirty="0" err="1">
                <a:solidFill>
                  <a:srgbClr val="4472C4"/>
                </a:solidFill>
              </a:rPr>
              <a:t>val</a:t>
            </a:r>
            <a:r>
              <a:rPr lang="en-US" sz="1800" dirty="0">
                <a:solidFill>
                  <a:srgbClr val="4472C4"/>
                </a:solidFill>
              </a:rPr>
              <a:t> == </a:t>
            </a:r>
            <a:r>
              <a:rPr lang="en-US" sz="1800" dirty="0" err="1">
                <a:solidFill>
                  <a:srgbClr val="4472C4"/>
                </a:solidFill>
              </a:rPr>
              <a:t>searchfor</a:t>
            </a:r>
            <a:r>
              <a:rPr lang="en-US" sz="1800" dirty="0">
                <a:solidFill>
                  <a:srgbClr val="4472C4"/>
                </a:solidFill>
              </a:rPr>
              <a:t>) 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4472C4"/>
                </a:solidFill>
              </a:rPr>
              <a:t>          </a:t>
            </a:r>
            <a:r>
              <a:rPr lang="en-US" sz="1800" dirty="0" err="1">
                <a:solidFill>
                  <a:srgbClr val="4472C4"/>
                </a:solidFill>
              </a:rPr>
              <a:t>foundIt</a:t>
            </a:r>
            <a:r>
              <a:rPr lang="en-US" sz="1800" dirty="0">
                <a:solidFill>
                  <a:srgbClr val="4472C4"/>
                </a:solidFill>
              </a:rPr>
              <a:t> = true;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4472C4"/>
                </a:solidFill>
              </a:rPr>
              <a:t>          </a:t>
            </a:r>
            <a:r>
              <a:rPr lang="en-US" sz="1800" dirty="0">
                <a:solidFill>
                  <a:srgbClr val="FF0000"/>
                </a:solidFill>
              </a:rPr>
              <a:t>break;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4472C4"/>
                </a:solidFill>
              </a:rPr>
              <a:t>      } 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4472C4"/>
                </a:solidFill>
              </a:rPr>
              <a:t>    } </a:t>
            </a:r>
          </a:p>
          <a:p>
            <a:pPr marL="0" indent="0">
              <a:buNone/>
            </a:pPr>
            <a:endParaRPr lang="en-US" sz="1800" dirty="0">
              <a:solidFill>
                <a:srgbClr val="4472C4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4472C4"/>
                </a:solidFill>
              </a:rPr>
              <a:t>    if (</a:t>
            </a:r>
            <a:r>
              <a:rPr lang="en-US" sz="1800" dirty="0" err="1">
                <a:solidFill>
                  <a:srgbClr val="4472C4"/>
                </a:solidFill>
              </a:rPr>
              <a:t>foundIt</a:t>
            </a:r>
            <a:r>
              <a:rPr lang="en-US" sz="1800" dirty="0">
                <a:solidFill>
                  <a:srgbClr val="4472C4"/>
                </a:solidFill>
              </a:rPr>
              <a:t>) 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4472C4"/>
                </a:solidFill>
              </a:rPr>
              <a:t>      </a:t>
            </a:r>
            <a:r>
              <a:rPr lang="en-US" sz="1800" dirty="0" err="1">
                <a:solidFill>
                  <a:srgbClr val="4472C4"/>
                </a:solidFill>
              </a:rPr>
              <a:t>System.out.println</a:t>
            </a:r>
            <a:r>
              <a:rPr lang="en-US" sz="1800" dirty="0">
                <a:solidFill>
                  <a:srgbClr val="4472C4"/>
                </a:solidFill>
              </a:rPr>
              <a:t>("Found " + </a:t>
            </a:r>
            <a:r>
              <a:rPr lang="en-US" sz="1800" dirty="0" err="1">
                <a:solidFill>
                  <a:srgbClr val="4472C4"/>
                </a:solidFill>
              </a:rPr>
              <a:t>searchfor</a:t>
            </a:r>
            <a:r>
              <a:rPr lang="en-US" sz="1800" dirty="0">
                <a:solidFill>
                  <a:srgbClr val="4472C4"/>
                </a:solidFill>
              </a:rPr>
              <a:t>);</a:t>
            </a:r>
          </a:p>
          <a:p>
            <a:pPr marL="0" indent="0">
              <a:buNone/>
            </a:pPr>
            <a:r>
              <a:rPr lang="da-DK" sz="1800" dirty="0">
                <a:solidFill>
                  <a:srgbClr val="4472C4"/>
                </a:solidFill>
              </a:rPr>
              <a:t>    } </a:t>
            </a:r>
            <a:r>
              <a:rPr lang="da-DK" sz="1800" dirty="0" err="1">
                <a:solidFill>
                  <a:srgbClr val="4472C4"/>
                </a:solidFill>
              </a:rPr>
              <a:t>else</a:t>
            </a:r>
            <a:r>
              <a:rPr lang="da-DK" sz="1800" dirty="0">
                <a:solidFill>
                  <a:srgbClr val="4472C4"/>
                </a:solidFill>
              </a:rPr>
              <a:t> {</a:t>
            </a:r>
          </a:p>
          <a:p>
            <a:pPr marL="0" indent="0">
              <a:buNone/>
            </a:pPr>
            <a:r>
              <a:rPr lang="da-DK" sz="1800" dirty="0">
                <a:solidFill>
                  <a:srgbClr val="4472C4"/>
                </a:solidFill>
              </a:rPr>
              <a:t>      </a:t>
            </a:r>
            <a:r>
              <a:rPr lang="da-DK" sz="1800" dirty="0" err="1">
                <a:solidFill>
                  <a:srgbClr val="4472C4"/>
                </a:solidFill>
              </a:rPr>
              <a:t>System.out.println</a:t>
            </a:r>
            <a:r>
              <a:rPr lang="da-DK" sz="1800" dirty="0">
                <a:solidFill>
                  <a:srgbClr val="4472C4"/>
                </a:solidFill>
              </a:rPr>
              <a:t>(</a:t>
            </a:r>
            <a:r>
              <a:rPr lang="da-DK" sz="1800" dirty="0" err="1">
                <a:solidFill>
                  <a:srgbClr val="4472C4"/>
                </a:solidFill>
              </a:rPr>
              <a:t>searchfor</a:t>
            </a:r>
            <a:r>
              <a:rPr lang="da-DK" sz="1800" dirty="0">
                <a:solidFill>
                  <a:srgbClr val="4472C4"/>
                </a:solidFill>
              </a:rPr>
              <a:t> + " not in the array");</a:t>
            </a:r>
          </a:p>
          <a:p>
            <a:pPr marL="0" indent="0">
              <a:buNone/>
            </a:pPr>
            <a:r>
              <a:rPr lang="da-DK" sz="1800" dirty="0">
                <a:solidFill>
                  <a:srgbClr val="4472C4"/>
                </a:solidFill>
              </a:rPr>
              <a:t>    } </a:t>
            </a:r>
          </a:p>
          <a:p>
            <a:pPr marL="0" indent="0">
              <a:buNone/>
            </a:pPr>
            <a:r>
              <a:rPr lang="da-DK" sz="1800" dirty="0">
                <a:solidFill>
                  <a:srgbClr val="4472C4"/>
                </a:solidFill>
              </a:rPr>
              <a:t>  }</a:t>
            </a:r>
          </a:p>
          <a:p>
            <a:pPr marL="0" indent="0">
              <a:buNone/>
            </a:pPr>
            <a:r>
              <a:rPr lang="da-DK" sz="1800" dirty="0" smtClean="0">
                <a:solidFill>
                  <a:srgbClr val="4472C4"/>
                </a:solidFill>
              </a:rPr>
              <a:t>} //the program prints out: </a:t>
            </a:r>
            <a:r>
              <a:rPr lang="da-DK" sz="1800" dirty="0" err="1" smtClean="0">
                <a:solidFill>
                  <a:srgbClr val="4472C4"/>
                </a:solidFill>
              </a:rPr>
              <a:t>Found</a:t>
            </a:r>
            <a:r>
              <a:rPr lang="da-DK" sz="1800" dirty="0" smtClean="0">
                <a:solidFill>
                  <a:srgbClr val="4472C4"/>
                </a:solidFill>
              </a:rPr>
              <a:t> 12</a:t>
            </a:r>
            <a:endParaRPr lang="en-US" sz="1800" dirty="0">
              <a:solidFill>
                <a:srgbClr val="4472C4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ABDB1-18BE-4FDA-B9ED-FBF356C892E4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39401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Labeled Break Statements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sz="4400" dirty="0" smtClean="0"/>
              <a:t>Labeled </a:t>
            </a:r>
            <a:r>
              <a:rPr lang="en-US" sz="4400" dirty="0" smtClean="0">
                <a:solidFill>
                  <a:srgbClr val="4472C4"/>
                </a:solidFill>
              </a:rPr>
              <a:t>break</a:t>
            </a:r>
            <a:r>
              <a:rPr lang="en-US" sz="4400" dirty="0" smtClean="0"/>
              <a:t>: terminates the outer loop with the label</a:t>
            </a:r>
          </a:p>
          <a:p>
            <a:pPr lvl="1"/>
            <a:r>
              <a:rPr lang="en-US" sz="3600" dirty="0" err="1" smtClean="0"/>
              <a:t>BreakLabeled.java</a:t>
            </a:r>
            <a:endParaRPr lang="en-US" sz="3600" dirty="0" smtClean="0"/>
          </a:p>
          <a:p>
            <a:pPr marL="0" indent="0">
              <a:buNone/>
            </a:pPr>
            <a:r>
              <a:rPr lang="en-US" sz="2900" dirty="0">
                <a:solidFill>
                  <a:srgbClr val="4472C4"/>
                </a:solidFill>
              </a:rPr>
              <a:t>class </a:t>
            </a:r>
            <a:r>
              <a:rPr lang="en-US" sz="2900" dirty="0" err="1">
                <a:solidFill>
                  <a:srgbClr val="4472C4"/>
                </a:solidFill>
              </a:rPr>
              <a:t>BreakLabeled</a:t>
            </a:r>
            <a:r>
              <a:rPr lang="en-US" sz="2900" dirty="0">
                <a:solidFill>
                  <a:srgbClr val="4472C4"/>
                </a:solidFill>
              </a:rPr>
              <a:t> {</a:t>
            </a:r>
          </a:p>
          <a:p>
            <a:pPr marL="0" indent="0">
              <a:buNone/>
            </a:pPr>
            <a:r>
              <a:rPr lang="en-US" sz="2900" dirty="0">
                <a:solidFill>
                  <a:srgbClr val="4472C4"/>
                </a:solidFill>
              </a:rPr>
              <a:t>  public static void main(String[] </a:t>
            </a:r>
            <a:r>
              <a:rPr lang="en-US" sz="2900" dirty="0" err="1">
                <a:solidFill>
                  <a:srgbClr val="4472C4"/>
                </a:solidFill>
              </a:rPr>
              <a:t>args</a:t>
            </a:r>
            <a:r>
              <a:rPr lang="en-US" sz="2900" dirty="0">
                <a:solidFill>
                  <a:srgbClr val="4472C4"/>
                </a:solidFill>
              </a:rPr>
              <a:t>) {</a:t>
            </a:r>
          </a:p>
          <a:p>
            <a:pPr marL="0" indent="0">
              <a:buNone/>
            </a:pPr>
            <a:r>
              <a:rPr lang="en-US" sz="2900" dirty="0">
                <a:solidFill>
                  <a:srgbClr val="4472C4"/>
                </a:solidFill>
              </a:rPr>
              <a:t>    </a:t>
            </a:r>
            <a:r>
              <a:rPr lang="en-US" sz="2900" dirty="0" err="1">
                <a:solidFill>
                  <a:srgbClr val="4472C4"/>
                </a:solidFill>
              </a:rPr>
              <a:t>int</a:t>
            </a:r>
            <a:r>
              <a:rPr lang="en-US" sz="2900" dirty="0">
                <a:solidFill>
                  <a:srgbClr val="4472C4"/>
                </a:solidFill>
              </a:rPr>
              <a:t>[][] </a:t>
            </a:r>
            <a:r>
              <a:rPr lang="en-US" sz="2900" dirty="0" err="1">
                <a:solidFill>
                  <a:srgbClr val="4472C4"/>
                </a:solidFill>
              </a:rPr>
              <a:t>arrayOfInts</a:t>
            </a:r>
            <a:r>
              <a:rPr lang="en-US" sz="2900" dirty="0">
                <a:solidFill>
                  <a:srgbClr val="4472C4"/>
                </a:solidFill>
              </a:rPr>
              <a:t> = { </a:t>
            </a:r>
          </a:p>
          <a:p>
            <a:pPr marL="0" indent="0">
              <a:buNone/>
            </a:pPr>
            <a:r>
              <a:rPr lang="en-US" sz="2900" dirty="0">
                <a:solidFill>
                  <a:srgbClr val="4472C4"/>
                </a:solidFill>
              </a:rPr>
              <a:t>        { 32, 87, 3, 589 },</a:t>
            </a:r>
          </a:p>
          <a:p>
            <a:pPr marL="0" indent="0">
              <a:buNone/>
            </a:pPr>
            <a:r>
              <a:rPr lang="en-US" sz="2900" dirty="0">
                <a:solidFill>
                  <a:srgbClr val="4472C4"/>
                </a:solidFill>
              </a:rPr>
              <a:t>        { 12, 1076, 2000, 8 },</a:t>
            </a:r>
          </a:p>
          <a:p>
            <a:pPr marL="0" indent="0">
              <a:buNone/>
            </a:pPr>
            <a:r>
              <a:rPr lang="en-US" sz="2900" dirty="0">
                <a:solidFill>
                  <a:srgbClr val="4472C4"/>
                </a:solidFill>
              </a:rPr>
              <a:t>        { 622, 127, 77, 955 }</a:t>
            </a:r>
          </a:p>
          <a:p>
            <a:pPr marL="0" indent="0">
              <a:buNone/>
            </a:pPr>
            <a:r>
              <a:rPr lang="en-US" sz="2900" dirty="0">
                <a:solidFill>
                  <a:srgbClr val="4472C4"/>
                </a:solidFill>
              </a:rPr>
              <a:t>    };  </a:t>
            </a:r>
          </a:p>
          <a:p>
            <a:pPr marL="0" indent="0">
              <a:buNone/>
            </a:pPr>
            <a:r>
              <a:rPr lang="en-US" sz="2900" dirty="0">
                <a:solidFill>
                  <a:srgbClr val="4472C4"/>
                </a:solidFill>
              </a:rPr>
              <a:t>    </a:t>
            </a:r>
            <a:r>
              <a:rPr lang="en-US" sz="2900" dirty="0" err="1">
                <a:solidFill>
                  <a:srgbClr val="4472C4"/>
                </a:solidFill>
              </a:rPr>
              <a:t>int</a:t>
            </a:r>
            <a:r>
              <a:rPr lang="en-US" sz="2900" dirty="0">
                <a:solidFill>
                  <a:srgbClr val="4472C4"/>
                </a:solidFill>
              </a:rPr>
              <a:t> </a:t>
            </a:r>
            <a:r>
              <a:rPr lang="en-US" sz="2900" dirty="0" err="1">
                <a:solidFill>
                  <a:srgbClr val="4472C4"/>
                </a:solidFill>
              </a:rPr>
              <a:t>searchfor</a:t>
            </a:r>
            <a:r>
              <a:rPr lang="en-US" sz="2900" dirty="0">
                <a:solidFill>
                  <a:srgbClr val="4472C4"/>
                </a:solidFill>
              </a:rPr>
              <a:t> = 12; </a:t>
            </a:r>
          </a:p>
          <a:p>
            <a:pPr marL="0" indent="0">
              <a:buNone/>
            </a:pPr>
            <a:endParaRPr lang="en-US" sz="2900" dirty="0">
              <a:solidFill>
                <a:srgbClr val="4472C4"/>
              </a:solidFill>
            </a:endParaRPr>
          </a:p>
          <a:p>
            <a:pPr marL="0" indent="0">
              <a:buNone/>
            </a:pPr>
            <a:r>
              <a:rPr lang="fr-FR" sz="2900" dirty="0">
                <a:solidFill>
                  <a:srgbClr val="4472C4"/>
                </a:solidFill>
              </a:rPr>
              <a:t>    </a:t>
            </a:r>
            <a:r>
              <a:rPr lang="fr-FR" sz="2900" dirty="0" err="1">
                <a:solidFill>
                  <a:srgbClr val="4472C4"/>
                </a:solidFill>
              </a:rPr>
              <a:t>int</a:t>
            </a:r>
            <a:r>
              <a:rPr lang="fr-FR" sz="2900" dirty="0">
                <a:solidFill>
                  <a:srgbClr val="4472C4"/>
                </a:solidFill>
              </a:rPr>
              <a:t> i, j = 0;</a:t>
            </a:r>
          </a:p>
          <a:p>
            <a:pPr marL="0" indent="0">
              <a:buNone/>
            </a:pPr>
            <a:r>
              <a:rPr lang="fr-FR" sz="2900" dirty="0">
                <a:solidFill>
                  <a:srgbClr val="4472C4"/>
                </a:solidFill>
              </a:rPr>
              <a:t>    </a:t>
            </a:r>
            <a:r>
              <a:rPr lang="fr-FR" sz="2900" dirty="0" err="1">
                <a:solidFill>
                  <a:srgbClr val="4472C4"/>
                </a:solidFill>
              </a:rPr>
              <a:t>boolean</a:t>
            </a:r>
            <a:r>
              <a:rPr lang="fr-FR" sz="2900" dirty="0">
                <a:solidFill>
                  <a:srgbClr val="4472C4"/>
                </a:solidFill>
              </a:rPr>
              <a:t> </a:t>
            </a:r>
            <a:r>
              <a:rPr lang="fr-FR" sz="2900" dirty="0" err="1">
                <a:solidFill>
                  <a:srgbClr val="4472C4"/>
                </a:solidFill>
              </a:rPr>
              <a:t>foundIt</a:t>
            </a:r>
            <a:r>
              <a:rPr lang="fr-FR" sz="2900" dirty="0">
                <a:solidFill>
                  <a:srgbClr val="4472C4"/>
                </a:solidFill>
              </a:rPr>
              <a:t> = false;</a:t>
            </a:r>
          </a:p>
          <a:p>
            <a:pPr marL="0" indent="0">
              <a:buNone/>
            </a:pPr>
            <a:endParaRPr lang="en-US" sz="1800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281042"/>
            <a:ext cx="5181600" cy="524565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F0000"/>
                </a:solidFill>
              </a:rPr>
              <a:t> search: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4472C4"/>
                </a:solidFill>
              </a:rPr>
              <a:t>    for (</a:t>
            </a:r>
            <a:r>
              <a:rPr lang="en-US" sz="1600" dirty="0" err="1">
                <a:solidFill>
                  <a:srgbClr val="4472C4"/>
                </a:solidFill>
              </a:rPr>
              <a:t>i</a:t>
            </a:r>
            <a:r>
              <a:rPr lang="en-US" sz="1600" dirty="0">
                <a:solidFill>
                  <a:srgbClr val="4472C4"/>
                </a:solidFill>
              </a:rPr>
              <a:t> = 0; </a:t>
            </a:r>
            <a:r>
              <a:rPr lang="en-US" sz="1600" dirty="0" err="1">
                <a:solidFill>
                  <a:srgbClr val="4472C4"/>
                </a:solidFill>
              </a:rPr>
              <a:t>i</a:t>
            </a:r>
            <a:r>
              <a:rPr lang="en-US" sz="1600" dirty="0">
                <a:solidFill>
                  <a:srgbClr val="4472C4"/>
                </a:solidFill>
              </a:rPr>
              <a:t> &lt; </a:t>
            </a:r>
            <a:r>
              <a:rPr lang="en-US" sz="1600" dirty="0" err="1">
                <a:solidFill>
                  <a:srgbClr val="4472C4"/>
                </a:solidFill>
              </a:rPr>
              <a:t>arrayOfInts.length</a:t>
            </a:r>
            <a:r>
              <a:rPr lang="en-US" sz="1600" dirty="0">
                <a:solidFill>
                  <a:srgbClr val="4472C4"/>
                </a:solidFill>
              </a:rPr>
              <a:t>; </a:t>
            </a:r>
            <a:r>
              <a:rPr lang="en-US" sz="1600" dirty="0" err="1">
                <a:solidFill>
                  <a:srgbClr val="4472C4"/>
                </a:solidFill>
              </a:rPr>
              <a:t>i</a:t>
            </a:r>
            <a:r>
              <a:rPr lang="en-US" sz="1600" dirty="0">
                <a:solidFill>
                  <a:srgbClr val="4472C4"/>
                </a:solidFill>
              </a:rPr>
              <a:t>++) {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4472C4"/>
                </a:solidFill>
              </a:rPr>
              <a:t>      for (j = 0; j &lt; </a:t>
            </a:r>
            <a:r>
              <a:rPr lang="en-US" sz="1600" dirty="0" err="1">
                <a:solidFill>
                  <a:srgbClr val="4472C4"/>
                </a:solidFill>
              </a:rPr>
              <a:t>arrayOfInts</a:t>
            </a:r>
            <a:r>
              <a:rPr lang="en-US" sz="1600" dirty="0">
                <a:solidFill>
                  <a:srgbClr val="4472C4"/>
                </a:solidFill>
              </a:rPr>
              <a:t>[</a:t>
            </a:r>
            <a:r>
              <a:rPr lang="en-US" sz="1600" dirty="0" err="1">
                <a:solidFill>
                  <a:srgbClr val="4472C4"/>
                </a:solidFill>
              </a:rPr>
              <a:t>i</a:t>
            </a:r>
            <a:r>
              <a:rPr lang="en-US" sz="1600" dirty="0">
                <a:solidFill>
                  <a:srgbClr val="4472C4"/>
                </a:solidFill>
              </a:rPr>
              <a:t>].length; j++) {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4472C4"/>
                </a:solidFill>
              </a:rPr>
              <a:t>        if (</a:t>
            </a:r>
            <a:r>
              <a:rPr lang="en-US" sz="1600" dirty="0" err="1">
                <a:solidFill>
                  <a:srgbClr val="4472C4"/>
                </a:solidFill>
              </a:rPr>
              <a:t>arrayOfInts</a:t>
            </a:r>
            <a:r>
              <a:rPr lang="en-US" sz="1600" dirty="0">
                <a:solidFill>
                  <a:srgbClr val="4472C4"/>
                </a:solidFill>
              </a:rPr>
              <a:t>[</a:t>
            </a:r>
            <a:r>
              <a:rPr lang="en-US" sz="1600" dirty="0" err="1">
                <a:solidFill>
                  <a:srgbClr val="4472C4"/>
                </a:solidFill>
              </a:rPr>
              <a:t>i</a:t>
            </a:r>
            <a:r>
              <a:rPr lang="en-US" sz="1600" dirty="0">
                <a:solidFill>
                  <a:srgbClr val="4472C4"/>
                </a:solidFill>
              </a:rPr>
              <a:t>][j] == </a:t>
            </a:r>
            <a:r>
              <a:rPr lang="en-US" sz="1600" dirty="0" err="1">
                <a:solidFill>
                  <a:srgbClr val="4472C4"/>
                </a:solidFill>
              </a:rPr>
              <a:t>searchfor</a:t>
            </a:r>
            <a:r>
              <a:rPr lang="en-US" sz="1600" dirty="0">
                <a:solidFill>
                  <a:srgbClr val="4472C4"/>
                </a:solidFill>
              </a:rPr>
              <a:t>) {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4472C4"/>
                </a:solidFill>
              </a:rPr>
              <a:t>          </a:t>
            </a:r>
            <a:r>
              <a:rPr lang="en-US" sz="1600" dirty="0" err="1">
                <a:solidFill>
                  <a:srgbClr val="4472C4"/>
                </a:solidFill>
              </a:rPr>
              <a:t>foundIt</a:t>
            </a:r>
            <a:r>
              <a:rPr lang="en-US" sz="1600" dirty="0">
                <a:solidFill>
                  <a:srgbClr val="4472C4"/>
                </a:solidFill>
              </a:rPr>
              <a:t> = true;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4472C4"/>
                </a:solidFill>
              </a:rPr>
              <a:t>         </a:t>
            </a:r>
            <a:r>
              <a:rPr lang="en-US" sz="1600" dirty="0">
                <a:solidFill>
                  <a:srgbClr val="FF0000"/>
                </a:solidFill>
              </a:rPr>
              <a:t> break search;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4472C4"/>
                </a:solidFill>
              </a:rPr>
              <a:t>        } </a:t>
            </a:r>
            <a:r>
              <a:rPr lang="en-US" sz="1600" dirty="0" smtClean="0">
                <a:solidFill>
                  <a:srgbClr val="4472C4"/>
                </a:solidFill>
              </a:rPr>
              <a:t>} } </a:t>
            </a:r>
            <a:endParaRPr lang="en-US" sz="1600" dirty="0">
              <a:solidFill>
                <a:srgbClr val="4472C4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4472C4"/>
                </a:solidFill>
              </a:rPr>
              <a:t>    if (</a:t>
            </a:r>
            <a:r>
              <a:rPr lang="en-US" sz="1600" dirty="0" err="1">
                <a:solidFill>
                  <a:srgbClr val="4472C4"/>
                </a:solidFill>
              </a:rPr>
              <a:t>foundIt</a:t>
            </a:r>
            <a:r>
              <a:rPr lang="en-US" sz="1600" dirty="0">
                <a:solidFill>
                  <a:srgbClr val="4472C4"/>
                </a:solidFill>
              </a:rPr>
              <a:t>) {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4472C4"/>
                </a:solidFill>
              </a:rPr>
              <a:t>      </a:t>
            </a:r>
            <a:r>
              <a:rPr lang="en-US" sz="1600" dirty="0" err="1">
                <a:solidFill>
                  <a:srgbClr val="4472C4"/>
                </a:solidFill>
              </a:rPr>
              <a:t>System.out.println</a:t>
            </a:r>
            <a:r>
              <a:rPr lang="en-US" sz="1600" dirty="0">
                <a:solidFill>
                  <a:srgbClr val="4472C4"/>
                </a:solidFill>
              </a:rPr>
              <a:t>("Found " + </a:t>
            </a:r>
            <a:r>
              <a:rPr lang="en-US" sz="1600" dirty="0" err="1">
                <a:solidFill>
                  <a:srgbClr val="4472C4"/>
                </a:solidFill>
              </a:rPr>
              <a:t>searchfor</a:t>
            </a:r>
            <a:r>
              <a:rPr lang="en-US" sz="1600" dirty="0">
                <a:solidFill>
                  <a:srgbClr val="4472C4"/>
                </a:solidFill>
              </a:rPr>
              <a:t> + </a:t>
            </a:r>
            <a:endParaRPr lang="en-US" sz="1600" dirty="0" smtClean="0">
              <a:solidFill>
                <a:srgbClr val="4472C4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4472C4"/>
                </a:solidFill>
              </a:rPr>
              <a:t> </a:t>
            </a:r>
            <a:r>
              <a:rPr lang="en-US" sz="1600" dirty="0" smtClean="0">
                <a:solidFill>
                  <a:srgbClr val="4472C4"/>
                </a:solidFill>
              </a:rPr>
              <a:t>         " </a:t>
            </a:r>
            <a:r>
              <a:rPr lang="en-US" sz="1600" dirty="0">
                <a:solidFill>
                  <a:srgbClr val="4472C4"/>
                </a:solidFill>
              </a:rPr>
              <a:t>at " + </a:t>
            </a:r>
            <a:r>
              <a:rPr lang="en-US" sz="1600" dirty="0" err="1">
                <a:solidFill>
                  <a:srgbClr val="4472C4"/>
                </a:solidFill>
              </a:rPr>
              <a:t>i</a:t>
            </a:r>
            <a:r>
              <a:rPr lang="en-US" sz="1600" dirty="0">
                <a:solidFill>
                  <a:srgbClr val="4472C4"/>
                </a:solidFill>
              </a:rPr>
              <a:t> + ", " + j); </a:t>
            </a:r>
          </a:p>
          <a:p>
            <a:pPr marL="0" indent="0">
              <a:buNone/>
            </a:pPr>
            <a:r>
              <a:rPr lang="da-DK" sz="1600" dirty="0">
                <a:solidFill>
                  <a:srgbClr val="4472C4"/>
                </a:solidFill>
              </a:rPr>
              <a:t>    } </a:t>
            </a:r>
            <a:r>
              <a:rPr lang="da-DK" sz="1600" dirty="0" err="1">
                <a:solidFill>
                  <a:srgbClr val="4472C4"/>
                </a:solidFill>
              </a:rPr>
              <a:t>else</a:t>
            </a:r>
            <a:r>
              <a:rPr lang="da-DK" sz="1600" dirty="0">
                <a:solidFill>
                  <a:srgbClr val="4472C4"/>
                </a:solidFill>
              </a:rPr>
              <a:t> {</a:t>
            </a:r>
          </a:p>
          <a:p>
            <a:pPr marL="0" indent="0">
              <a:buNone/>
            </a:pPr>
            <a:r>
              <a:rPr lang="da-DK" sz="1600" dirty="0">
                <a:solidFill>
                  <a:srgbClr val="4472C4"/>
                </a:solidFill>
              </a:rPr>
              <a:t>      </a:t>
            </a:r>
            <a:r>
              <a:rPr lang="da-DK" sz="1600" dirty="0" err="1">
                <a:solidFill>
                  <a:srgbClr val="4472C4"/>
                </a:solidFill>
              </a:rPr>
              <a:t>System.out.println</a:t>
            </a:r>
            <a:r>
              <a:rPr lang="da-DK" sz="1600" dirty="0">
                <a:solidFill>
                  <a:srgbClr val="4472C4"/>
                </a:solidFill>
              </a:rPr>
              <a:t>(</a:t>
            </a:r>
            <a:r>
              <a:rPr lang="da-DK" sz="1600" dirty="0" err="1">
                <a:solidFill>
                  <a:srgbClr val="4472C4"/>
                </a:solidFill>
              </a:rPr>
              <a:t>searchfor</a:t>
            </a:r>
            <a:r>
              <a:rPr lang="da-DK" sz="1600" dirty="0">
                <a:solidFill>
                  <a:srgbClr val="4472C4"/>
                </a:solidFill>
              </a:rPr>
              <a:t> + " not in the array");</a:t>
            </a:r>
          </a:p>
          <a:p>
            <a:pPr marL="0" indent="0">
              <a:buNone/>
            </a:pPr>
            <a:r>
              <a:rPr lang="da-DK" sz="1600" dirty="0">
                <a:solidFill>
                  <a:srgbClr val="4472C4"/>
                </a:solidFill>
              </a:rPr>
              <a:t>    }   </a:t>
            </a:r>
          </a:p>
          <a:p>
            <a:pPr marL="0" indent="0">
              <a:buNone/>
            </a:pPr>
            <a:r>
              <a:rPr lang="da-DK" sz="1600" dirty="0">
                <a:solidFill>
                  <a:srgbClr val="4472C4"/>
                </a:solidFill>
              </a:rPr>
              <a:t>  }</a:t>
            </a:r>
          </a:p>
          <a:p>
            <a:pPr marL="0" indent="0">
              <a:buNone/>
            </a:pPr>
            <a:r>
              <a:rPr lang="da-DK" sz="1600" dirty="0" smtClean="0">
                <a:solidFill>
                  <a:srgbClr val="4472C4"/>
                </a:solidFill>
              </a:rPr>
              <a:t>} //the program prints out: </a:t>
            </a:r>
            <a:r>
              <a:rPr lang="da-DK" sz="1600" dirty="0" err="1" smtClean="0">
                <a:solidFill>
                  <a:srgbClr val="4472C4"/>
                </a:solidFill>
              </a:rPr>
              <a:t>Found</a:t>
            </a:r>
            <a:r>
              <a:rPr lang="da-DK" sz="1600" dirty="0" smtClean="0">
                <a:solidFill>
                  <a:srgbClr val="4472C4"/>
                </a:solidFill>
              </a:rPr>
              <a:t> 12 at 1, 0</a:t>
            </a:r>
            <a:endParaRPr lang="en-US" sz="1600" dirty="0">
              <a:solidFill>
                <a:srgbClr val="4472C4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ABDB1-18BE-4FDA-B9ED-FBF356C892E4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97559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Continue Statements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Skips the current iteration of a </a:t>
            </a:r>
            <a:r>
              <a:rPr lang="en-US" dirty="0" smtClean="0">
                <a:solidFill>
                  <a:schemeClr val="accent5"/>
                </a:solidFill>
              </a:rPr>
              <a:t>for</a:t>
            </a:r>
            <a:r>
              <a:rPr lang="en-US" dirty="0" smtClean="0"/>
              <a:t>, </a:t>
            </a:r>
            <a:r>
              <a:rPr lang="en-US" dirty="0" smtClean="0">
                <a:solidFill>
                  <a:schemeClr val="accent5"/>
                </a:solidFill>
              </a:rPr>
              <a:t>while</a:t>
            </a:r>
            <a:r>
              <a:rPr lang="en-US" dirty="0" smtClean="0"/>
              <a:t>, or </a:t>
            </a:r>
            <a:r>
              <a:rPr lang="en-US" dirty="0" smtClean="0">
                <a:solidFill>
                  <a:srgbClr val="4472C4"/>
                </a:solidFill>
              </a:rPr>
              <a:t>do-while </a:t>
            </a:r>
            <a:r>
              <a:rPr lang="en-US" dirty="0" smtClean="0"/>
              <a:t>loop.</a:t>
            </a:r>
          </a:p>
          <a:p>
            <a:pPr lvl="1"/>
            <a:r>
              <a:rPr lang="en-US" dirty="0" smtClean="0"/>
              <a:t>For a </a:t>
            </a:r>
            <a:r>
              <a:rPr lang="en-US" dirty="0" smtClean="0">
                <a:solidFill>
                  <a:srgbClr val="4472C4"/>
                </a:solidFill>
              </a:rPr>
              <a:t>for</a:t>
            </a:r>
            <a:r>
              <a:rPr lang="en-US" dirty="0" smtClean="0"/>
              <a:t> loop: the increment part of the loop is still executed!</a:t>
            </a:r>
          </a:p>
          <a:p>
            <a:pPr lvl="1"/>
            <a:r>
              <a:rPr lang="en-US" dirty="0" smtClean="0"/>
              <a:t>Continue also has: unlabeled vs. labeled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281042"/>
            <a:ext cx="5181600" cy="5157305"/>
          </a:xfrm>
        </p:spPr>
        <p:txBody>
          <a:bodyPr>
            <a:normAutofit fontScale="92500" lnSpcReduction="20000"/>
          </a:bodyPr>
          <a:lstStyle/>
          <a:p>
            <a:r>
              <a:rPr lang="en-US" sz="2600" dirty="0" err="1" smtClean="0"/>
              <a:t>ContinueUnlabeled.java</a:t>
            </a:r>
            <a:endParaRPr lang="en-US" sz="2600" dirty="0" smtClean="0"/>
          </a:p>
          <a:p>
            <a:pPr marL="0" indent="0">
              <a:buNone/>
            </a:pPr>
            <a:r>
              <a:rPr lang="en-US" sz="1700" dirty="0">
                <a:solidFill>
                  <a:srgbClr val="4472C4"/>
                </a:solidFill>
              </a:rPr>
              <a:t>class </a:t>
            </a:r>
            <a:r>
              <a:rPr lang="en-US" sz="1700" dirty="0" err="1">
                <a:solidFill>
                  <a:srgbClr val="4472C4"/>
                </a:solidFill>
              </a:rPr>
              <a:t>ContinueUnlabeled</a:t>
            </a:r>
            <a:r>
              <a:rPr lang="en-US" sz="1700" dirty="0">
                <a:solidFill>
                  <a:srgbClr val="4472C4"/>
                </a:solidFill>
              </a:rPr>
              <a:t> {</a:t>
            </a:r>
          </a:p>
          <a:p>
            <a:pPr marL="0" indent="0">
              <a:buNone/>
            </a:pPr>
            <a:r>
              <a:rPr lang="en-US" sz="1700" dirty="0">
                <a:solidFill>
                  <a:srgbClr val="4472C4"/>
                </a:solidFill>
              </a:rPr>
              <a:t>  public static void main(String[] </a:t>
            </a:r>
            <a:r>
              <a:rPr lang="en-US" sz="1700" dirty="0" err="1">
                <a:solidFill>
                  <a:srgbClr val="4472C4"/>
                </a:solidFill>
              </a:rPr>
              <a:t>args</a:t>
            </a:r>
            <a:r>
              <a:rPr lang="en-US" sz="1700" dirty="0">
                <a:solidFill>
                  <a:srgbClr val="4472C4"/>
                </a:solidFill>
              </a:rPr>
              <a:t>) {</a:t>
            </a:r>
          </a:p>
          <a:p>
            <a:pPr marL="0" indent="0">
              <a:buNone/>
            </a:pPr>
            <a:r>
              <a:rPr lang="en-US" sz="1700" dirty="0">
                <a:solidFill>
                  <a:srgbClr val="4472C4"/>
                </a:solidFill>
              </a:rPr>
              <a:t>    String </a:t>
            </a:r>
            <a:r>
              <a:rPr lang="en-US" sz="1700" dirty="0" err="1">
                <a:solidFill>
                  <a:srgbClr val="4472C4"/>
                </a:solidFill>
              </a:rPr>
              <a:t>searchMe</a:t>
            </a:r>
            <a:r>
              <a:rPr lang="en-US" sz="1700" dirty="0">
                <a:solidFill>
                  <a:srgbClr val="4472C4"/>
                </a:solidFill>
              </a:rPr>
              <a:t> = "peter piper picked a " </a:t>
            </a:r>
          </a:p>
          <a:p>
            <a:pPr marL="0" indent="0">
              <a:buNone/>
            </a:pPr>
            <a:r>
              <a:rPr lang="en-US" sz="1700" dirty="0">
                <a:solidFill>
                  <a:srgbClr val="4472C4"/>
                </a:solidFill>
              </a:rPr>
              <a:t>      + "peck of pickled peppers";</a:t>
            </a:r>
          </a:p>
          <a:p>
            <a:pPr marL="0" indent="0">
              <a:buNone/>
            </a:pPr>
            <a:r>
              <a:rPr lang="ro-RO" sz="1700" dirty="0">
                <a:solidFill>
                  <a:srgbClr val="4472C4"/>
                </a:solidFill>
              </a:rPr>
              <a:t>    int numPs = 0;</a:t>
            </a:r>
          </a:p>
          <a:p>
            <a:pPr marL="0" indent="0">
              <a:buNone/>
            </a:pPr>
            <a:endParaRPr lang="ro-RO" sz="1700" dirty="0">
              <a:solidFill>
                <a:srgbClr val="4472C4"/>
              </a:solidFill>
            </a:endParaRPr>
          </a:p>
          <a:p>
            <a:pPr marL="0" indent="0">
              <a:buNone/>
            </a:pPr>
            <a:r>
              <a:rPr lang="en-US" sz="1700" dirty="0">
                <a:solidFill>
                  <a:srgbClr val="4472C4"/>
                </a:solidFill>
              </a:rPr>
              <a:t>    for (</a:t>
            </a:r>
            <a:r>
              <a:rPr lang="en-US" sz="1700" dirty="0" err="1">
                <a:solidFill>
                  <a:srgbClr val="4472C4"/>
                </a:solidFill>
              </a:rPr>
              <a:t>int</a:t>
            </a:r>
            <a:r>
              <a:rPr lang="en-US" sz="1700" dirty="0">
                <a:solidFill>
                  <a:srgbClr val="4472C4"/>
                </a:solidFill>
              </a:rPr>
              <a:t> </a:t>
            </a:r>
            <a:r>
              <a:rPr lang="en-US" sz="1700" dirty="0" err="1">
                <a:solidFill>
                  <a:srgbClr val="4472C4"/>
                </a:solidFill>
              </a:rPr>
              <a:t>i</a:t>
            </a:r>
            <a:r>
              <a:rPr lang="en-US" sz="1700" dirty="0">
                <a:solidFill>
                  <a:srgbClr val="4472C4"/>
                </a:solidFill>
              </a:rPr>
              <a:t> = 0; </a:t>
            </a:r>
            <a:r>
              <a:rPr lang="en-US" sz="1700" dirty="0" err="1">
                <a:solidFill>
                  <a:srgbClr val="4472C4"/>
                </a:solidFill>
              </a:rPr>
              <a:t>i</a:t>
            </a:r>
            <a:r>
              <a:rPr lang="en-US" sz="1700" dirty="0">
                <a:solidFill>
                  <a:srgbClr val="4472C4"/>
                </a:solidFill>
              </a:rPr>
              <a:t> &lt; </a:t>
            </a:r>
            <a:r>
              <a:rPr lang="en-US" sz="1700" dirty="0" err="1">
                <a:solidFill>
                  <a:srgbClr val="4472C4"/>
                </a:solidFill>
              </a:rPr>
              <a:t>searchMe.length</a:t>
            </a:r>
            <a:r>
              <a:rPr lang="en-US" sz="1700" dirty="0">
                <a:solidFill>
                  <a:srgbClr val="4472C4"/>
                </a:solidFill>
              </a:rPr>
              <a:t>(); </a:t>
            </a:r>
            <a:r>
              <a:rPr lang="en-US" sz="1700" dirty="0" err="1">
                <a:solidFill>
                  <a:srgbClr val="4472C4"/>
                </a:solidFill>
              </a:rPr>
              <a:t>i</a:t>
            </a:r>
            <a:r>
              <a:rPr lang="en-US" sz="1700" dirty="0">
                <a:solidFill>
                  <a:srgbClr val="4472C4"/>
                </a:solidFill>
              </a:rPr>
              <a:t>++) {</a:t>
            </a:r>
          </a:p>
          <a:p>
            <a:pPr marL="0" indent="0">
              <a:buNone/>
            </a:pPr>
            <a:r>
              <a:rPr lang="en-US" sz="1700" dirty="0">
                <a:solidFill>
                  <a:srgbClr val="4472C4"/>
                </a:solidFill>
              </a:rPr>
              <a:t>      if (</a:t>
            </a:r>
            <a:r>
              <a:rPr lang="en-US" sz="1700" dirty="0" err="1">
                <a:solidFill>
                  <a:srgbClr val="4472C4"/>
                </a:solidFill>
              </a:rPr>
              <a:t>searchMe.charAt</a:t>
            </a:r>
            <a:r>
              <a:rPr lang="en-US" sz="1700" dirty="0">
                <a:solidFill>
                  <a:srgbClr val="4472C4"/>
                </a:solidFill>
              </a:rPr>
              <a:t>(</a:t>
            </a:r>
            <a:r>
              <a:rPr lang="en-US" sz="1700" dirty="0" err="1">
                <a:solidFill>
                  <a:srgbClr val="4472C4"/>
                </a:solidFill>
              </a:rPr>
              <a:t>i</a:t>
            </a:r>
            <a:r>
              <a:rPr lang="en-US" sz="1700" dirty="0">
                <a:solidFill>
                  <a:srgbClr val="4472C4"/>
                </a:solidFill>
              </a:rPr>
              <a:t>) != 'p')</a:t>
            </a:r>
          </a:p>
          <a:p>
            <a:pPr marL="0" indent="0">
              <a:buNone/>
            </a:pPr>
            <a:r>
              <a:rPr lang="en-US" sz="1700" dirty="0">
                <a:solidFill>
                  <a:srgbClr val="4472C4"/>
                </a:solidFill>
              </a:rPr>
              <a:t>        </a:t>
            </a:r>
            <a:r>
              <a:rPr lang="en-US" sz="1700" dirty="0">
                <a:solidFill>
                  <a:srgbClr val="FF0000"/>
                </a:solidFill>
              </a:rPr>
              <a:t>continue;</a:t>
            </a:r>
          </a:p>
          <a:p>
            <a:pPr marL="0" indent="0">
              <a:buNone/>
            </a:pPr>
            <a:r>
              <a:rPr lang="ro-RO" sz="1700" dirty="0">
                <a:solidFill>
                  <a:srgbClr val="4472C4"/>
                </a:solidFill>
              </a:rPr>
              <a:t>      numPs++;</a:t>
            </a:r>
          </a:p>
          <a:p>
            <a:pPr marL="0" indent="0">
              <a:buNone/>
            </a:pPr>
            <a:r>
              <a:rPr lang="ro-RO" sz="1700" dirty="0">
                <a:solidFill>
                  <a:srgbClr val="4472C4"/>
                </a:solidFill>
              </a:rPr>
              <a:t>    }   </a:t>
            </a:r>
          </a:p>
          <a:p>
            <a:pPr marL="0" indent="0">
              <a:buNone/>
            </a:pPr>
            <a:r>
              <a:rPr lang="ro-RO" sz="1700" dirty="0">
                <a:solidFill>
                  <a:srgbClr val="4472C4"/>
                </a:solidFill>
              </a:rPr>
              <a:t>    System.out.println("Found " + numPs </a:t>
            </a:r>
          </a:p>
          <a:p>
            <a:pPr marL="0" indent="0">
              <a:buNone/>
            </a:pPr>
            <a:r>
              <a:rPr lang="en-US" sz="1700" dirty="0">
                <a:solidFill>
                  <a:srgbClr val="4472C4"/>
                </a:solidFill>
              </a:rPr>
              <a:t>      + " p's in the string.");</a:t>
            </a:r>
          </a:p>
          <a:p>
            <a:pPr marL="0" indent="0">
              <a:buNone/>
            </a:pPr>
            <a:r>
              <a:rPr lang="en-US" sz="1700" dirty="0">
                <a:solidFill>
                  <a:srgbClr val="4472C4"/>
                </a:solidFill>
              </a:rPr>
              <a:t>  }</a:t>
            </a:r>
          </a:p>
          <a:p>
            <a:pPr marL="0" indent="0">
              <a:buNone/>
            </a:pPr>
            <a:r>
              <a:rPr lang="en-US" sz="1700" dirty="0" smtClean="0">
                <a:solidFill>
                  <a:srgbClr val="4472C4"/>
                </a:solidFill>
              </a:rPr>
              <a:t>} //this program prints out: Found 9 p’s in the string.</a:t>
            </a:r>
            <a:endParaRPr lang="en-US" sz="1700" dirty="0">
              <a:solidFill>
                <a:srgbClr val="4472C4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ABDB1-18BE-4FDA-B9ED-FBF356C892E4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51068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Labeled Continue Statements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 smtClean="0"/>
              <a:t>ContinueLabeled.java</a:t>
            </a:r>
            <a:endParaRPr lang="en-US" dirty="0" smtClean="0"/>
          </a:p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</a:rPr>
              <a:t>class </a:t>
            </a:r>
            <a:r>
              <a:rPr lang="en-US" sz="1600" dirty="0" err="1">
                <a:solidFill>
                  <a:schemeClr val="accent5"/>
                </a:solidFill>
              </a:rPr>
              <a:t>ContinueLabeled</a:t>
            </a:r>
            <a:r>
              <a:rPr lang="en-US" sz="1600" dirty="0">
                <a:solidFill>
                  <a:schemeClr val="accent5"/>
                </a:solidFill>
              </a:rPr>
              <a:t> {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</a:rPr>
              <a:t>  public static void main(String[] </a:t>
            </a:r>
            <a:r>
              <a:rPr lang="en-US" sz="1600" dirty="0" err="1">
                <a:solidFill>
                  <a:schemeClr val="accent5"/>
                </a:solidFill>
              </a:rPr>
              <a:t>args</a:t>
            </a:r>
            <a:r>
              <a:rPr lang="en-US" sz="1600" dirty="0">
                <a:solidFill>
                  <a:schemeClr val="accent5"/>
                </a:solidFill>
              </a:rPr>
              <a:t>) {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</a:rPr>
              <a:t>    String </a:t>
            </a:r>
            <a:r>
              <a:rPr lang="en-US" sz="1600" dirty="0" err="1">
                <a:solidFill>
                  <a:schemeClr val="accent5"/>
                </a:solidFill>
              </a:rPr>
              <a:t>searchMe</a:t>
            </a:r>
            <a:r>
              <a:rPr lang="en-US" sz="1600" dirty="0">
                <a:solidFill>
                  <a:schemeClr val="accent5"/>
                </a:solidFill>
              </a:rPr>
              <a:t> = "Look for a substring in me";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</a:rPr>
              <a:t>    String substring = "sub";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</a:rPr>
              <a:t>    </a:t>
            </a:r>
            <a:r>
              <a:rPr lang="en-US" sz="1600" dirty="0" err="1">
                <a:solidFill>
                  <a:schemeClr val="accent5"/>
                </a:solidFill>
              </a:rPr>
              <a:t>boolean</a:t>
            </a:r>
            <a:r>
              <a:rPr lang="en-US" sz="1600" dirty="0">
                <a:solidFill>
                  <a:schemeClr val="accent5"/>
                </a:solidFill>
              </a:rPr>
              <a:t> </a:t>
            </a:r>
            <a:r>
              <a:rPr lang="en-US" sz="1600" dirty="0" err="1">
                <a:solidFill>
                  <a:schemeClr val="accent5"/>
                </a:solidFill>
              </a:rPr>
              <a:t>foundIt</a:t>
            </a:r>
            <a:r>
              <a:rPr lang="en-US" sz="1600" dirty="0">
                <a:solidFill>
                  <a:schemeClr val="accent5"/>
                </a:solidFill>
              </a:rPr>
              <a:t> = false;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</a:rPr>
              <a:t>    </a:t>
            </a:r>
            <a:r>
              <a:rPr lang="en-US" sz="1600" dirty="0" err="1">
                <a:solidFill>
                  <a:schemeClr val="accent5"/>
                </a:solidFill>
              </a:rPr>
              <a:t>int</a:t>
            </a:r>
            <a:r>
              <a:rPr lang="en-US" sz="1600" dirty="0">
                <a:solidFill>
                  <a:schemeClr val="accent5"/>
                </a:solidFill>
              </a:rPr>
              <a:t> max = </a:t>
            </a:r>
            <a:r>
              <a:rPr lang="en-US" sz="1600" dirty="0" err="1">
                <a:solidFill>
                  <a:schemeClr val="accent5"/>
                </a:solidFill>
              </a:rPr>
              <a:t>searchMe.length</a:t>
            </a:r>
            <a:r>
              <a:rPr lang="en-US" sz="1600" dirty="0">
                <a:solidFill>
                  <a:schemeClr val="accent5"/>
                </a:solidFill>
              </a:rPr>
              <a:t>() - 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</a:rPr>
              <a:t>              </a:t>
            </a:r>
            <a:r>
              <a:rPr lang="en-US" sz="1600" dirty="0" err="1">
                <a:solidFill>
                  <a:schemeClr val="accent5"/>
                </a:solidFill>
              </a:rPr>
              <a:t>substring.length</a:t>
            </a:r>
            <a:r>
              <a:rPr lang="en-US" sz="1600" dirty="0">
                <a:solidFill>
                  <a:schemeClr val="accent5"/>
                </a:solidFill>
              </a:rPr>
              <a:t>();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</a:rPr>
              <a:t>  </a:t>
            </a:r>
            <a:r>
              <a:rPr lang="en-US" sz="1600" dirty="0">
                <a:solidFill>
                  <a:srgbClr val="FF0000"/>
                </a:solidFill>
              </a:rPr>
              <a:t>test:</a:t>
            </a:r>
          </a:p>
          <a:p>
            <a:pPr marL="0" indent="0">
              <a:buNone/>
            </a:pPr>
            <a:r>
              <a:rPr lang="da-DK" sz="1600" dirty="0">
                <a:solidFill>
                  <a:schemeClr val="accent5"/>
                </a:solidFill>
              </a:rPr>
              <a:t>    for (</a:t>
            </a:r>
            <a:r>
              <a:rPr lang="da-DK" sz="1600" dirty="0" err="1">
                <a:solidFill>
                  <a:schemeClr val="accent5"/>
                </a:solidFill>
              </a:rPr>
              <a:t>int</a:t>
            </a:r>
            <a:r>
              <a:rPr lang="da-DK" sz="1600" dirty="0">
                <a:solidFill>
                  <a:schemeClr val="accent5"/>
                </a:solidFill>
              </a:rPr>
              <a:t> i = 0; i &lt;= max; i++) {</a:t>
            </a:r>
          </a:p>
          <a:p>
            <a:pPr marL="0" indent="0">
              <a:buNone/>
            </a:pPr>
            <a:r>
              <a:rPr lang="da-DK" sz="1600" dirty="0">
                <a:solidFill>
                  <a:schemeClr val="accent5"/>
                </a:solidFill>
              </a:rPr>
              <a:t>      </a:t>
            </a:r>
            <a:r>
              <a:rPr lang="da-DK" sz="1600" dirty="0" err="1">
                <a:solidFill>
                  <a:schemeClr val="accent5"/>
                </a:solidFill>
              </a:rPr>
              <a:t>int</a:t>
            </a:r>
            <a:r>
              <a:rPr lang="da-DK" sz="1600" dirty="0">
                <a:solidFill>
                  <a:schemeClr val="accent5"/>
                </a:solidFill>
              </a:rPr>
              <a:t> n = </a:t>
            </a:r>
            <a:r>
              <a:rPr lang="da-DK" sz="1600" dirty="0" err="1">
                <a:solidFill>
                  <a:schemeClr val="accent5"/>
                </a:solidFill>
              </a:rPr>
              <a:t>substring.length</a:t>
            </a:r>
            <a:r>
              <a:rPr lang="da-DK" sz="1600" dirty="0">
                <a:solidFill>
                  <a:schemeClr val="accent5"/>
                </a:solidFill>
              </a:rPr>
              <a:t>();</a:t>
            </a: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524000"/>
            <a:ext cx="5181600" cy="46529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sz="1600" dirty="0">
                <a:solidFill>
                  <a:srgbClr val="4472C4"/>
                </a:solidFill>
              </a:rPr>
              <a:t> </a:t>
            </a:r>
            <a:r>
              <a:rPr lang="fr-FR" sz="1600" dirty="0" smtClean="0">
                <a:solidFill>
                  <a:srgbClr val="4472C4"/>
                </a:solidFill>
              </a:rPr>
              <a:t>     </a:t>
            </a:r>
            <a:r>
              <a:rPr lang="fr-FR" sz="1600" dirty="0" err="1" smtClean="0">
                <a:solidFill>
                  <a:srgbClr val="4472C4"/>
                </a:solidFill>
              </a:rPr>
              <a:t>int</a:t>
            </a:r>
            <a:r>
              <a:rPr lang="fr-FR" sz="1600" dirty="0" smtClean="0">
                <a:solidFill>
                  <a:srgbClr val="4472C4"/>
                </a:solidFill>
              </a:rPr>
              <a:t> </a:t>
            </a:r>
            <a:r>
              <a:rPr lang="fr-FR" sz="1600" dirty="0">
                <a:solidFill>
                  <a:srgbClr val="4472C4"/>
                </a:solidFill>
              </a:rPr>
              <a:t>j = i;</a:t>
            </a:r>
          </a:p>
          <a:p>
            <a:pPr marL="0" indent="0">
              <a:buNone/>
            </a:pPr>
            <a:r>
              <a:rPr lang="sk-SK" sz="1600" dirty="0">
                <a:solidFill>
                  <a:srgbClr val="4472C4"/>
                </a:solidFill>
              </a:rPr>
              <a:t>      int k = 0;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4472C4"/>
                </a:solidFill>
              </a:rPr>
              <a:t>      while (n-- != 0) {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4472C4"/>
                </a:solidFill>
              </a:rPr>
              <a:t>        if (</a:t>
            </a:r>
            <a:r>
              <a:rPr lang="en-US" sz="1600" dirty="0" err="1">
                <a:solidFill>
                  <a:srgbClr val="4472C4"/>
                </a:solidFill>
              </a:rPr>
              <a:t>searchMe.charAt</a:t>
            </a:r>
            <a:r>
              <a:rPr lang="en-US" sz="1600" dirty="0">
                <a:solidFill>
                  <a:srgbClr val="4472C4"/>
                </a:solidFill>
              </a:rPr>
              <a:t>(j++) != </a:t>
            </a:r>
            <a:r>
              <a:rPr lang="en-US" sz="1600" dirty="0" err="1">
                <a:solidFill>
                  <a:srgbClr val="4472C4"/>
                </a:solidFill>
              </a:rPr>
              <a:t>substring.charAt</a:t>
            </a:r>
            <a:r>
              <a:rPr lang="en-US" sz="1600" dirty="0">
                <a:solidFill>
                  <a:srgbClr val="4472C4"/>
                </a:solidFill>
              </a:rPr>
              <a:t>(k++)) {</a:t>
            </a:r>
          </a:p>
          <a:p>
            <a:pPr marL="0" indent="0">
              <a:buNone/>
            </a:pPr>
            <a:r>
              <a:rPr lang="fr-FR" sz="1600" dirty="0">
                <a:solidFill>
                  <a:srgbClr val="4472C4"/>
                </a:solidFill>
              </a:rPr>
              <a:t>          </a:t>
            </a:r>
            <a:r>
              <a:rPr lang="fr-FR" sz="1600" dirty="0">
                <a:solidFill>
                  <a:srgbClr val="FF0000"/>
                </a:solidFill>
              </a:rPr>
              <a:t>continue test;</a:t>
            </a:r>
          </a:p>
          <a:p>
            <a:pPr marL="0" indent="0">
              <a:buNone/>
            </a:pPr>
            <a:r>
              <a:rPr lang="fr-FR" sz="1600" dirty="0">
                <a:solidFill>
                  <a:srgbClr val="4472C4"/>
                </a:solidFill>
              </a:rPr>
              <a:t>        }   </a:t>
            </a:r>
          </a:p>
          <a:p>
            <a:pPr marL="0" indent="0">
              <a:buNone/>
            </a:pPr>
            <a:r>
              <a:rPr lang="fr-FR" sz="1600" dirty="0">
                <a:solidFill>
                  <a:srgbClr val="4472C4"/>
                </a:solidFill>
              </a:rPr>
              <a:t>      </a:t>
            </a:r>
            <a:r>
              <a:rPr lang="fr-FR" sz="1600" dirty="0" smtClean="0">
                <a:solidFill>
                  <a:srgbClr val="4472C4"/>
                </a:solidFill>
              </a:rPr>
              <a:t>} // </a:t>
            </a:r>
            <a:r>
              <a:rPr lang="fr-FR" sz="1600" dirty="0" err="1" smtClean="0">
                <a:solidFill>
                  <a:srgbClr val="4472C4"/>
                </a:solidFill>
              </a:rPr>
              <a:t>while</a:t>
            </a:r>
            <a:endParaRPr lang="fr-FR" sz="1600" dirty="0">
              <a:solidFill>
                <a:srgbClr val="4472C4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4472C4"/>
                </a:solidFill>
              </a:rPr>
              <a:t>      </a:t>
            </a:r>
            <a:r>
              <a:rPr lang="en-US" sz="1600" dirty="0" err="1">
                <a:solidFill>
                  <a:srgbClr val="4472C4"/>
                </a:solidFill>
              </a:rPr>
              <a:t>foundIt</a:t>
            </a:r>
            <a:r>
              <a:rPr lang="en-US" sz="1600" dirty="0">
                <a:solidFill>
                  <a:srgbClr val="4472C4"/>
                </a:solidFill>
              </a:rPr>
              <a:t> = true;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4472C4"/>
                </a:solidFill>
              </a:rPr>
              <a:t>      </a:t>
            </a:r>
            <a:r>
              <a:rPr lang="en-US" sz="1600" dirty="0">
                <a:solidFill>
                  <a:srgbClr val="FF0000"/>
                </a:solidFill>
              </a:rPr>
              <a:t>break test;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4472C4"/>
                </a:solidFill>
              </a:rPr>
              <a:t>    </a:t>
            </a:r>
            <a:r>
              <a:rPr lang="en-US" sz="1600" dirty="0" smtClean="0">
                <a:solidFill>
                  <a:srgbClr val="4472C4"/>
                </a:solidFill>
              </a:rPr>
              <a:t>} // for</a:t>
            </a:r>
            <a:endParaRPr lang="en-US" sz="1600" dirty="0">
              <a:solidFill>
                <a:srgbClr val="4472C4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4472C4"/>
                </a:solidFill>
              </a:rPr>
              <a:t>    </a:t>
            </a:r>
            <a:r>
              <a:rPr lang="en-US" sz="1600" dirty="0" err="1">
                <a:solidFill>
                  <a:srgbClr val="4472C4"/>
                </a:solidFill>
              </a:rPr>
              <a:t>System.out.println</a:t>
            </a:r>
            <a:r>
              <a:rPr lang="en-US" sz="1600" dirty="0">
                <a:solidFill>
                  <a:srgbClr val="4472C4"/>
                </a:solidFill>
              </a:rPr>
              <a:t>((</a:t>
            </a:r>
            <a:r>
              <a:rPr lang="en-US" sz="1600" dirty="0" err="1">
                <a:solidFill>
                  <a:srgbClr val="4472C4"/>
                </a:solidFill>
              </a:rPr>
              <a:t>foundIt</a:t>
            </a:r>
            <a:r>
              <a:rPr lang="en-US" sz="1600" dirty="0">
                <a:solidFill>
                  <a:srgbClr val="4472C4"/>
                </a:solidFill>
              </a:rPr>
              <a:t> ? "Found " : "Didn't find ")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4472C4"/>
                </a:solidFill>
              </a:rPr>
              <a:t>         + substring);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4472C4"/>
                </a:solidFill>
              </a:rPr>
              <a:t>  }</a:t>
            </a:r>
          </a:p>
          <a:p>
            <a:pPr marL="0" indent="0">
              <a:buNone/>
            </a:pPr>
            <a:r>
              <a:rPr lang="en-US" sz="1600" dirty="0" smtClean="0">
                <a:solidFill>
                  <a:srgbClr val="4472C4"/>
                </a:solidFill>
              </a:rPr>
              <a:t>} // this program prints out: Found sub</a:t>
            </a:r>
            <a:endParaRPr lang="en-US" sz="1600" dirty="0">
              <a:solidFill>
                <a:srgbClr val="4472C4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ABDB1-18BE-4FDA-B9ED-FBF356C892E4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17770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Return Statements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 smtClean="0">
                <a:solidFill>
                  <a:srgbClr val="4472C4"/>
                </a:solidFill>
              </a:rPr>
              <a:t>return</a:t>
            </a:r>
            <a:r>
              <a:rPr lang="en-US" dirty="0" smtClean="0"/>
              <a:t> statement exits from the current method, and the control flow returns to where the method was invoked.</a:t>
            </a:r>
          </a:p>
          <a:p>
            <a:pPr lvl="1"/>
            <a:r>
              <a:rPr lang="en-US" dirty="0" smtClean="0"/>
              <a:t>Can return a value:</a:t>
            </a:r>
          </a:p>
          <a:p>
            <a:pPr marL="914400" lvl="2" indent="0">
              <a:buNone/>
            </a:pPr>
            <a:r>
              <a:rPr lang="en-US" dirty="0">
                <a:solidFill>
                  <a:schemeClr val="accent5"/>
                </a:solidFill>
              </a:rPr>
              <a:t>r</a:t>
            </a:r>
            <a:r>
              <a:rPr lang="en-US" dirty="0" smtClean="0">
                <a:solidFill>
                  <a:schemeClr val="accent5"/>
                </a:solidFill>
              </a:rPr>
              <a:t>eturn count;</a:t>
            </a:r>
          </a:p>
          <a:p>
            <a:pPr lvl="1"/>
            <a:r>
              <a:rPr lang="en-US" dirty="0" smtClean="0"/>
              <a:t>Can return nothing:</a:t>
            </a:r>
          </a:p>
          <a:p>
            <a:pPr marL="914400" lvl="2" indent="0">
              <a:buNone/>
            </a:pPr>
            <a:r>
              <a:rPr lang="en-US" dirty="0">
                <a:solidFill>
                  <a:schemeClr val="accent5"/>
                </a:solidFill>
              </a:rPr>
              <a:t>r</a:t>
            </a:r>
            <a:r>
              <a:rPr lang="en-US" dirty="0" smtClean="0">
                <a:solidFill>
                  <a:schemeClr val="accent5"/>
                </a:solidFill>
              </a:rPr>
              <a:t>eturn;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ABDB1-18BE-4FDA-B9ED-FBF356C892E4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290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2564</TotalTime>
  <Words>5095</Words>
  <Application>Microsoft Macintosh PowerPoint</Application>
  <PresentationFormat>Custom</PresentationFormat>
  <Paragraphs>814</Paragraphs>
  <Slides>47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48" baseType="lpstr">
      <vt:lpstr>Office Theme</vt:lpstr>
      <vt:lpstr>EE 5453  Engineering Programming II </vt:lpstr>
      <vt:lpstr>Contents Overview</vt:lpstr>
      <vt:lpstr>Variables</vt:lpstr>
      <vt:lpstr>Instance Variables</vt:lpstr>
      <vt:lpstr>Class Variables</vt:lpstr>
      <vt:lpstr>Constants</vt:lpstr>
      <vt:lpstr>Local Variables and Parameters</vt:lpstr>
      <vt:lpstr>Parameters To Main Method</vt:lpstr>
      <vt:lpstr>Reference Variables</vt:lpstr>
      <vt:lpstr>Variable Naming (Rules and Conventions)</vt:lpstr>
      <vt:lpstr>Primitive Data Types</vt:lpstr>
      <vt:lpstr>Integer types</vt:lpstr>
      <vt:lpstr>Ranges of Two’s Complement Numbers</vt:lpstr>
      <vt:lpstr>Floating Points</vt:lpstr>
      <vt:lpstr>Characters</vt:lpstr>
      <vt:lpstr>Boolean</vt:lpstr>
      <vt:lpstr>Default Values</vt:lpstr>
      <vt:lpstr>Literals</vt:lpstr>
      <vt:lpstr>Arrays</vt:lpstr>
      <vt:lpstr>Array Operations</vt:lpstr>
      <vt:lpstr>Multidimensional Arrays</vt:lpstr>
      <vt:lpstr>Operators</vt:lpstr>
      <vt:lpstr>Assignment Operator</vt:lpstr>
      <vt:lpstr>Arithmetic Operators</vt:lpstr>
      <vt:lpstr>Unary Operators</vt:lpstr>
      <vt:lpstr>Relational Operators</vt:lpstr>
      <vt:lpstr>Object Equivalence</vt:lpstr>
      <vt:lpstr>Logical Operators</vt:lpstr>
      <vt:lpstr>Ternary Operator</vt:lpstr>
      <vt:lpstr>Type Comparison Operator</vt:lpstr>
      <vt:lpstr>Bitwise Operators</vt:lpstr>
      <vt:lpstr>Bit Shift Operators</vt:lpstr>
      <vt:lpstr>Operator Precedence</vt:lpstr>
      <vt:lpstr>Statements</vt:lpstr>
      <vt:lpstr>Statements</vt:lpstr>
      <vt:lpstr>Blocks</vt:lpstr>
      <vt:lpstr>Control Flow Statements</vt:lpstr>
      <vt:lpstr>If Statements</vt:lpstr>
      <vt:lpstr>Switch Statements</vt:lpstr>
      <vt:lpstr>A Switch Example</vt:lpstr>
      <vt:lpstr>While and Do-while Statements</vt:lpstr>
      <vt:lpstr>For Statements</vt:lpstr>
      <vt:lpstr>Unlabeled Break Statements</vt:lpstr>
      <vt:lpstr>Labeled Break Statements</vt:lpstr>
      <vt:lpstr>The Continue Statements</vt:lpstr>
      <vt:lpstr>Labeled Continue Statements</vt:lpstr>
      <vt:lpstr>Return Statements</vt:lpstr>
    </vt:vector>
  </TitlesOfParts>
  <Company>University of Texas at San Antonio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EE 5453 – 002  Engineering Programming II Java Language Basics</dc:title>
  <dc:creator>Lide Duan</dc:creator>
  <cp:lastModifiedBy>SSU</cp:lastModifiedBy>
  <cp:revision>129</cp:revision>
  <dcterms:created xsi:type="dcterms:W3CDTF">2014-09-03T14:33:15Z</dcterms:created>
  <dcterms:modified xsi:type="dcterms:W3CDTF">2017-08-27T17:21:57Z</dcterms:modified>
</cp:coreProperties>
</file>