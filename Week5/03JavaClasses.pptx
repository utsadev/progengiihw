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4"/>
  </p:notesMasterIdLst>
  <p:sldIdLst>
    <p:sldId id="256" r:id="rId2"/>
    <p:sldId id="317" r:id="rId3"/>
    <p:sldId id="257" r:id="rId4"/>
    <p:sldId id="258" r:id="rId5"/>
    <p:sldId id="259" r:id="rId6"/>
    <p:sldId id="260" r:id="rId7"/>
    <p:sldId id="261" r:id="rId8"/>
    <p:sldId id="265" r:id="rId9"/>
    <p:sldId id="262" r:id="rId10"/>
    <p:sldId id="263" r:id="rId11"/>
    <p:sldId id="264" r:id="rId12"/>
    <p:sldId id="266" r:id="rId13"/>
    <p:sldId id="268" r:id="rId14"/>
    <p:sldId id="269" r:id="rId15"/>
    <p:sldId id="270" r:id="rId16"/>
    <p:sldId id="271" r:id="rId17"/>
    <p:sldId id="272" r:id="rId18"/>
    <p:sldId id="274" r:id="rId19"/>
    <p:sldId id="273" r:id="rId20"/>
    <p:sldId id="275" r:id="rId21"/>
    <p:sldId id="276" r:id="rId22"/>
    <p:sldId id="284" r:id="rId23"/>
    <p:sldId id="285" r:id="rId24"/>
    <p:sldId id="286" r:id="rId25"/>
    <p:sldId id="278" r:id="rId26"/>
    <p:sldId id="287" r:id="rId27"/>
    <p:sldId id="288" r:id="rId28"/>
    <p:sldId id="280" r:id="rId29"/>
    <p:sldId id="281" r:id="rId30"/>
    <p:sldId id="279" r:id="rId31"/>
    <p:sldId id="283" r:id="rId32"/>
    <p:sldId id="291" r:id="rId33"/>
    <p:sldId id="292" r:id="rId34"/>
    <p:sldId id="293" r:id="rId35"/>
    <p:sldId id="294" r:id="rId36"/>
    <p:sldId id="295" r:id="rId37"/>
    <p:sldId id="296" r:id="rId38"/>
    <p:sldId id="300" r:id="rId39"/>
    <p:sldId id="277" r:id="rId40"/>
    <p:sldId id="318" r:id="rId41"/>
    <p:sldId id="319" r:id="rId42"/>
    <p:sldId id="320" r:id="rId43"/>
    <p:sldId id="297" r:id="rId44"/>
    <p:sldId id="298" r:id="rId45"/>
    <p:sldId id="299" r:id="rId46"/>
    <p:sldId id="321"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088" autoAdjust="0"/>
  </p:normalViewPr>
  <p:slideViewPr>
    <p:cSldViewPr snapToGrid="0">
      <p:cViewPr varScale="1">
        <p:scale>
          <a:sx n="92" d="100"/>
          <a:sy n="92" d="100"/>
        </p:scale>
        <p:origin x="-288" y="-10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interSettings" Target="printerSettings/printerSettings1.bin"/><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2F3189-EEDF-42EC-9A4B-AFF3DB616A52}" type="datetimeFigureOut">
              <a:rPr lang="en-US" smtClean="0"/>
              <a:t>9/21/17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F5E970-6681-4A79-9B0E-D7635E52972A}" type="slidenum">
              <a:rPr lang="en-US" smtClean="0"/>
              <a:t>‹#›</a:t>
            </a:fld>
            <a:endParaRPr lang="en-US"/>
          </a:p>
        </p:txBody>
      </p:sp>
    </p:spTree>
    <p:extLst>
      <p:ext uri="{BB962C8B-B14F-4D97-AF65-F5344CB8AC3E}">
        <p14:creationId xmlns:p14="http://schemas.microsoft.com/office/powerpoint/2010/main" val="3950417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F5E970-6681-4A79-9B0E-D7635E52972A}" type="slidenum">
              <a:rPr lang="en-US" smtClean="0"/>
              <a:t>1</a:t>
            </a:fld>
            <a:endParaRPr lang="en-US"/>
          </a:p>
        </p:txBody>
      </p:sp>
    </p:spTree>
    <p:extLst>
      <p:ext uri="{BB962C8B-B14F-4D97-AF65-F5344CB8AC3E}">
        <p14:creationId xmlns:p14="http://schemas.microsoft.com/office/powerpoint/2010/main" val="1570686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composition!</a:t>
            </a:r>
            <a:endParaRPr lang="en-US" dirty="0"/>
          </a:p>
        </p:txBody>
      </p:sp>
      <p:sp>
        <p:nvSpPr>
          <p:cNvPr id="4" name="Slide Number Placeholder 3"/>
          <p:cNvSpPr>
            <a:spLocks noGrp="1"/>
          </p:cNvSpPr>
          <p:nvPr>
            <p:ph type="sldNum" sz="quarter" idx="10"/>
          </p:nvPr>
        </p:nvSpPr>
        <p:spPr/>
        <p:txBody>
          <a:bodyPr/>
          <a:lstStyle/>
          <a:p>
            <a:fld id="{99F5E970-6681-4A79-9B0E-D7635E52972A}" type="slidenum">
              <a:rPr lang="en-US" smtClean="0"/>
              <a:t>5</a:t>
            </a:fld>
            <a:endParaRPr lang="en-US"/>
          </a:p>
        </p:txBody>
      </p:sp>
    </p:spTree>
    <p:extLst>
      <p:ext uri="{BB962C8B-B14F-4D97-AF65-F5344CB8AC3E}">
        <p14:creationId xmlns:p14="http://schemas.microsoft.com/office/powerpoint/2010/main" val="923846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x.bite</a:t>
            </a:r>
            <a:r>
              <a:rPr lang="en-US" dirty="0" smtClean="0"/>
              <a:t>() is also fine.</a:t>
            </a:r>
            <a:endParaRPr lang="en-US" dirty="0"/>
          </a:p>
        </p:txBody>
      </p:sp>
      <p:sp>
        <p:nvSpPr>
          <p:cNvPr id="4" name="Slide Number Placeholder 3"/>
          <p:cNvSpPr>
            <a:spLocks noGrp="1"/>
          </p:cNvSpPr>
          <p:nvPr>
            <p:ph type="sldNum" sz="quarter" idx="10"/>
          </p:nvPr>
        </p:nvSpPr>
        <p:spPr/>
        <p:txBody>
          <a:bodyPr/>
          <a:lstStyle/>
          <a:p>
            <a:fld id="{99F5E970-6681-4A79-9B0E-D7635E52972A}" type="slidenum">
              <a:rPr lang="en-US" smtClean="0"/>
              <a:t>11</a:t>
            </a:fld>
            <a:endParaRPr lang="en-US"/>
          </a:p>
        </p:txBody>
      </p:sp>
    </p:spTree>
    <p:extLst>
      <p:ext uri="{BB962C8B-B14F-4D97-AF65-F5344CB8AC3E}">
        <p14:creationId xmlns:p14="http://schemas.microsoft.com/office/powerpoint/2010/main" val="3619176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integer types, auto promotion is done in the order of smaller sizes to larger sizes.</a:t>
            </a:r>
          </a:p>
          <a:p>
            <a:r>
              <a:rPr lang="en-US" dirty="0" smtClean="0"/>
              <a:t>The auto promotion also applies</a:t>
            </a:r>
            <a:r>
              <a:rPr lang="en-US" baseline="0" dirty="0" smtClean="0"/>
              <a:t> to classes, where only </a:t>
            </a:r>
            <a:r>
              <a:rPr lang="en-US" baseline="0" dirty="0" err="1" smtClean="0"/>
              <a:t>upcasting</a:t>
            </a:r>
            <a:r>
              <a:rPr lang="en-US" baseline="0" dirty="0" smtClean="0"/>
              <a:t> can be done, e.g., Integer -&gt; Object</a:t>
            </a:r>
            <a:endParaRPr lang="en-US" dirty="0"/>
          </a:p>
        </p:txBody>
      </p:sp>
      <p:sp>
        <p:nvSpPr>
          <p:cNvPr id="4" name="Slide Number Placeholder 3"/>
          <p:cNvSpPr>
            <a:spLocks noGrp="1"/>
          </p:cNvSpPr>
          <p:nvPr>
            <p:ph type="sldNum" sz="quarter" idx="10"/>
          </p:nvPr>
        </p:nvSpPr>
        <p:spPr/>
        <p:txBody>
          <a:bodyPr/>
          <a:lstStyle/>
          <a:p>
            <a:fld id="{99F5E970-6681-4A79-9B0E-D7635E52972A}" type="slidenum">
              <a:rPr lang="en-US" smtClean="0"/>
              <a:t>24</a:t>
            </a:fld>
            <a:endParaRPr lang="en-US"/>
          </a:p>
        </p:txBody>
      </p:sp>
    </p:spTree>
    <p:extLst>
      <p:ext uri="{BB962C8B-B14F-4D97-AF65-F5344CB8AC3E}">
        <p14:creationId xmlns:p14="http://schemas.microsoft.com/office/powerpoint/2010/main" val="3904571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default value of char is ‘\u0000’, which is the null character and may not be printable.</a:t>
            </a:r>
            <a:endParaRPr lang="en-US" dirty="0"/>
          </a:p>
        </p:txBody>
      </p:sp>
      <p:sp>
        <p:nvSpPr>
          <p:cNvPr id="4" name="Slide Number Placeholder 3"/>
          <p:cNvSpPr>
            <a:spLocks noGrp="1"/>
          </p:cNvSpPr>
          <p:nvPr>
            <p:ph type="sldNum" sz="quarter" idx="10"/>
          </p:nvPr>
        </p:nvSpPr>
        <p:spPr/>
        <p:txBody>
          <a:bodyPr/>
          <a:lstStyle/>
          <a:p>
            <a:fld id="{99F5E970-6681-4A79-9B0E-D7635E52972A}" type="slidenum">
              <a:rPr lang="en-US" smtClean="0"/>
              <a:t>31</a:t>
            </a:fld>
            <a:endParaRPr lang="en-US"/>
          </a:p>
        </p:txBody>
      </p:sp>
    </p:spTree>
    <p:extLst>
      <p:ext uri="{BB962C8B-B14F-4D97-AF65-F5344CB8AC3E}">
        <p14:creationId xmlns:p14="http://schemas.microsoft.com/office/powerpoint/2010/main" val="1304237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a:t>
            </a:r>
            <a:r>
              <a:rPr lang="en-US" baseline="0" dirty="0" smtClean="0"/>
              <a:t> the contents in the static block are moved to the constructor, they will be executed as part of the constructor. Therefore, the static members in the above example are initialized to null if no object is created.</a:t>
            </a:r>
            <a:endParaRPr lang="en-US" dirty="0"/>
          </a:p>
        </p:txBody>
      </p:sp>
      <p:sp>
        <p:nvSpPr>
          <p:cNvPr id="4" name="Slide Number Placeholder 3"/>
          <p:cNvSpPr>
            <a:spLocks noGrp="1"/>
          </p:cNvSpPr>
          <p:nvPr>
            <p:ph type="sldNum" sz="quarter" idx="10"/>
          </p:nvPr>
        </p:nvSpPr>
        <p:spPr/>
        <p:txBody>
          <a:bodyPr/>
          <a:lstStyle/>
          <a:p>
            <a:fld id="{99F5E970-6681-4A79-9B0E-D7635E52972A}" type="slidenum">
              <a:rPr lang="en-US" smtClean="0"/>
              <a:t>36</a:t>
            </a:fld>
            <a:endParaRPr lang="en-US"/>
          </a:p>
        </p:txBody>
      </p:sp>
    </p:spTree>
    <p:extLst>
      <p:ext uri="{BB962C8B-B14F-4D97-AF65-F5344CB8AC3E}">
        <p14:creationId xmlns:p14="http://schemas.microsoft.com/office/powerpoint/2010/main" val="249032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also view</a:t>
            </a:r>
            <a:r>
              <a:rPr lang="en-US" baseline="0" dirty="0" smtClean="0"/>
              <a:t> it as “the compiler copies the instance initialization block to every constructor”.</a:t>
            </a:r>
            <a:endParaRPr lang="en-US" dirty="0"/>
          </a:p>
        </p:txBody>
      </p:sp>
      <p:sp>
        <p:nvSpPr>
          <p:cNvPr id="4" name="Slide Number Placeholder 3"/>
          <p:cNvSpPr>
            <a:spLocks noGrp="1"/>
          </p:cNvSpPr>
          <p:nvPr>
            <p:ph type="sldNum" sz="quarter" idx="10"/>
          </p:nvPr>
        </p:nvSpPr>
        <p:spPr/>
        <p:txBody>
          <a:bodyPr/>
          <a:lstStyle/>
          <a:p>
            <a:fld id="{99F5E970-6681-4A79-9B0E-D7635E52972A}" type="slidenum">
              <a:rPr lang="en-US" smtClean="0"/>
              <a:t>37</a:t>
            </a:fld>
            <a:endParaRPr lang="en-US"/>
          </a:p>
        </p:txBody>
      </p:sp>
    </p:spTree>
    <p:extLst>
      <p:ext uri="{BB962C8B-B14F-4D97-AF65-F5344CB8AC3E}">
        <p14:creationId xmlns:p14="http://schemas.microsoft.com/office/powerpoint/2010/main" val="41872021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 used to not allow setting the</a:t>
            </a:r>
            <a:r>
              <a:rPr lang="en-US" baseline="0" dirty="0" smtClean="0"/>
              <a:t> array size at runtime, but it was added this support (since C99).</a:t>
            </a:r>
            <a:endParaRPr lang="en-US" dirty="0"/>
          </a:p>
        </p:txBody>
      </p:sp>
      <p:sp>
        <p:nvSpPr>
          <p:cNvPr id="4" name="Slide Number Placeholder 3"/>
          <p:cNvSpPr>
            <a:spLocks noGrp="1"/>
          </p:cNvSpPr>
          <p:nvPr>
            <p:ph type="sldNum" sz="quarter" idx="10"/>
          </p:nvPr>
        </p:nvSpPr>
        <p:spPr/>
        <p:txBody>
          <a:bodyPr/>
          <a:lstStyle/>
          <a:p>
            <a:fld id="{99F5E970-6681-4A79-9B0E-D7635E52972A}" type="slidenum">
              <a:rPr lang="en-US" smtClean="0"/>
              <a:t>38</a:t>
            </a:fld>
            <a:endParaRPr lang="en-US"/>
          </a:p>
        </p:txBody>
      </p:sp>
    </p:spTree>
    <p:extLst>
      <p:ext uri="{BB962C8B-B14F-4D97-AF65-F5344CB8AC3E}">
        <p14:creationId xmlns:p14="http://schemas.microsoft.com/office/powerpoint/2010/main" val="292762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F5E970-6681-4A79-9B0E-D7635E52972A}" type="slidenum">
              <a:rPr lang="en-US" smtClean="0"/>
              <a:t>41</a:t>
            </a:fld>
            <a:endParaRPr lang="en-US"/>
          </a:p>
        </p:txBody>
      </p:sp>
    </p:spTree>
    <p:extLst>
      <p:ext uri="{BB962C8B-B14F-4D97-AF65-F5344CB8AC3E}">
        <p14:creationId xmlns:p14="http://schemas.microsoft.com/office/powerpoint/2010/main" val="3631740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example is</a:t>
            </a:r>
            <a:r>
              <a:rPr lang="en-US" baseline="0" dirty="0" smtClean="0"/>
              <a:t> not covered in the class because I can’t get what it shows in my system.</a:t>
            </a:r>
            <a:endParaRPr lang="en-US" dirty="0"/>
          </a:p>
        </p:txBody>
      </p:sp>
      <p:sp>
        <p:nvSpPr>
          <p:cNvPr id="4" name="Slide Number Placeholder 3"/>
          <p:cNvSpPr>
            <a:spLocks noGrp="1"/>
          </p:cNvSpPr>
          <p:nvPr>
            <p:ph type="sldNum" sz="quarter" idx="10"/>
          </p:nvPr>
        </p:nvSpPr>
        <p:spPr/>
        <p:txBody>
          <a:bodyPr/>
          <a:lstStyle/>
          <a:p>
            <a:fld id="{99F5E970-6681-4A79-9B0E-D7635E52972A}" type="slidenum">
              <a:rPr lang="en-US" smtClean="0"/>
              <a:t>42</a:t>
            </a:fld>
            <a:endParaRPr lang="en-US"/>
          </a:p>
        </p:txBody>
      </p:sp>
    </p:spTree>
    <p:extLst>
      <p:ext uri="{BB962C8B-B14F-4D97-AF65-F5344CB8AC3E}">
        <p14:creationId xmlns:p14="http://schemas.microsoft.com/office/powerpoint/2010/main" val="1785065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a:t>
            </a:r>
            <a:r>
              <a:rPr lang="en-US" baseline="0" dirty="0" smtClean="0"/>
              <a:t> the contents in the static block are moved to the constructor, they will be executed as part of the constructor. Therefore, the static members in the above example are initialized to null if no object is created.</a:t>
            </a:r>
            <a:endParaRPr lang="en-US" dirty="0"/>
          </a:p>
        </p:txBody>
      </p:sp>
      <p:sp>
        <p:nvSpPr>
          <p:cNvPr id="4" name="Slide Number Placeholder 3"/>
          <p:cNvSpPr>
            <a:spLocks noGrp="1"/>
          </p:cNvSpPr>
          <p:nvPr>
            <p:ph type="sldNum" sz="quarter" idx="10"/>
          </p:nvPr>
        </p:nvSpPr>
        <p:spPr/>
        <p:txBody>
          <a:bodyPr/>
          <a:lstStyle/>
          <a:p>
            <a:fld id="{99F5E970-6681-4A79-9B0E-D7635E52972A}" type="slidenum">
              <a:rPr lang="en-US" smtClean="0"/>
              <a:t>46</a:t>
            </a:fld>
            <a:endParaRPr lang="en-US"/>
          </a:p>
        </p:txBody>
      </p:sp>
    </p:spTree>
    <p:extLst>
      <p:ext uri="{BB962C8B-B14F-4D97-AF65-F5344CB8AC3E}">
        <p14:creationId xmlns:p14="http://schemas.microsoft.com/office/powerpoint/2010/main" val="3461325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8E20CAB-A085-4D17-96E8-35EABD7A5F6E}" type="datetime1">
              <a:rPr lang="en-US" smtClean="0"/>
              <a:t>9/21/17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5D6772-41C1-4987-827C-16EA866C2326}" type="slidenum">
              <a:rPr lang="en-US" smtClean="0"/>
              <a:t>‹#›</a:t>
            </a:fld>
            <a:endParaRPr lang="en-US"/>
          </a:p>
        </p:txBody>
      </p:sp>
    </p:spTree>
    <p:extLst>
      <p:ext uri="{BB962C8B-B14F-4D97-AF65-F5344CB8AC3E}">
        <p14:creationId xmlns:p14="http://schemas.microsoft.com/office/powerpoint/2010/main" val="2854815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42046F-B719-4896-B592-0FD1B991792F}" type="datetime1">
              <a:rPr lang="en-US" smtClean="0"/>
              <a:t>9/21/17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5D6772-41C1-4987-827C-16EA866C2326}" type="slidenum">
              <a:rPr lang="en-US" smtClean="0"/>
              <a:t>‹#›</a:t>
            </a:fld>
            <a:endParaRPr lang="en-US"/>
          </a:p>
        </p:txBody>
      </p:sp>
    </p:spTree>
    <p:extLst>
      <p:ext uri="{BB962C8B-B14F-4D97-AF65-F5344CB8AC3E}">
        <p14:creationId xmlns:p14="http://schemas.microsoft.com/office/powerpoint/2010/main" val="1395735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DBA39DD-F8BA-4D95-9046-67888D89CAAF}" type="datetime1">
              <a:rPr lang="en-US" smtClean="0"/>
              <a:t>9/21/17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5D6772-41C1-4987-827C-16EA866C2326}" type="slidenum">
              <a:rPr lang="en-US" smtClean="0"/>
              <a:t>‹#›</a:t>
            </a:fld>
            <a:endParaRPr lang="en-US"/>
          </a:p>
        </p:txBody>
      </p:sp>
    </p:spTree>
    <p:extLst>
      <p:ext uri="{BB962C8B-B14F-4D97-AF65-F5344CB8AC3E}">
        <p14:creationId xmlns:p14="http://schemas.microsoft.com/office/powerpoint/2010/main" val="2315874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2E92C9A-B674-42CD-9C0E-A417FC769158}" type="datetime1">
              <a:rPr lang="en-US" smtClean="0"/>
              <a:t>9/21/17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5D6772-41C1-4987-827C-16EA866C2326}" type="slidenum">
              <a:rPr lang="en-US" smtClean="0"/>
              <a:t>‹#›</a:t>
            </a:fld>
            <a:endParaRPr lang="en-US"/>
          </a:p>
        </p:txBody>
      </p:sp>
    </p:spTree>
    <p:extLst>
      <p:ext uri="{BB962C8B-B14F-4D97-AF65-F5344CB8AC3E}">
        <p14:creationId xmlns:p14="http://schemas.microsoft.com/office/powerpoint/2010/main" val="4158027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691EDCB-98BF-4AAB-B21C-9AB5BC2532E8}" type="datetime1">
              <a:rPr lang="en-US" smtClean="0"/>
              <a:t>9/21/17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5D6772-41C1-4987-827C-16EA866C2326}" type="slidenum">
              <a:rPr lang="en-US" smtClean="0"/>
              <a:t>‹#›</a:t>
            </a:fld>
            <a:endParaRPr lang="en-US"/>
          </a:p>
        </p:txBody>
      </p:sp>
    </p:spTree>
    <p:extLst>
      <p:ext uri="{BB962C8B-B14F-4D97-AF65-F5344CB8AC3E}">
        <p14:creationId xmlns:p14="http://schemas.microsoft.com/office/powerpoint/2010/main" val="2465780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7E6123C-68A3-4459-9D6C-55503089B886}" type="datetime1">
              <a:rPr lang="en-US" smtClean="0"/>
              <a:t>9/21/17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5D6772-41C1-4987-827C-16EA866C2326}" type="slidenum">
              <a:rPr lang="en-US" smtClean="0"/>
              <a:t>‹#›</a:t>
            </a:fld>
            <a:endParaRPr lang="en-US"/>
          </a:p>
        </p:txBody>
      </p:sp>
    </p:spTree>
    <p:extLst>
      <p:ext uri="{BB962C8B-B14F-4D97-AF65-F5344CB8AC3E}">
        <p14:creationId xmlns:p14="http://schemas.microsoft.com/office/powerpoint/2010/main" val="1803705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72E98D-1DDC-4887-85C2-4E3199F0EE6F}" type="datetime1">
              <a:rPr lang="en-US" smtClean="0"/>
              <a:t>9/21/17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5D6772-41C1-4987-827C-16EA866C2326}" type="slidenum">
              <a:rPr lang="en-US" smtClean="0"/>
              <a:t>‹#›</a:t>
            </a:fld>
            <a:endParaRPr lang="en-US"/>
          </a:p>
        </p:txBody>
      </p:sp>
    </p:spTree>
    <p:extLst>
      <p:ext uri="{BB962C8B-B14F-4D97-AF65-F5344CB8AC3E}">
        <p14:creationId xmlns:p14="http://schemas.microsoft.com/office/powerpoint/2010/main" val="452190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727F39-DF0E-4F33-84DD-0FF2BD791558}" type="datetime1">
              <a:rPr lang="en-US" smtClean="0"/>
              <a:t>9/21/17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5D6772-41C1-4987-827C-16EA866C2326}" type="slidenum">
              <a:rPr lang="en-US" smtClean="0"/>
              <a:t>‹#›</a:t>
            </a:fld>
            <a:endParaRPr lang="en-US"/>
          </a:p>
        </p:txBody>
      </p:sp>
    </p:spTree>
    <p:extLst>
      <p:ext uri="{BB962C8B-B14F-4D97-AF65-F5344CB8AC3E}">
        <p14:creationId xmlns:p14="http://schemas.microsoft.com/office/powerpoint/2010/main" val="3688840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5B75708-7B43-4C83-863A-01483BC410E8}" type="datetime1">
              <a:rPr lang="en-US" smtClean="0"/>
              <a:t>9/21/17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5D6772-41C1-4987-827C-16EA866C2326}" type="slidenum">
              <a:rPr lang="en-US" smtClean="0"/>
              <a:t>‹#›</a:t>
            </a:fld>
            <a:endParaRPr lang="en-US"/>
          </a:p>
        </p:txBody>
      </p:sp>
    </p:spTree>
    <p:extLst>
      <p:ext uri="{BB962C8B-B14F-4D97-AF65-F5344CB8AC3E}">
        <p14:creationId xmlns:p14="http://schemas.microsoft.com/office/powerpoint/2010/main" val="2789515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90442F-1091-4143-B275-3F83400982B7}" type="datetime1">
              <a:rPr lang="en-US" smtClean="0"/>
              <a:t>9/21/17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5D6772-41C1-4987-827C-16EA866C2326}" type="slidenum">
              <a:rPr lang="en-US" smtClean="0"/>
              <a:t>‹#›</a:t>
            </a:fld>
            <a:endParaRPr lang="en-US"/>
          </a:p>
        </p:txBody>
      </p:sp>
    </p:spTree>
    <p:extLst>
      <p:ext uri="{BB962C8B-B14F-4D97-AF65-F5344CB8AC3E}">
        <p14:creationId xmlns:p14="http://schemas.microsoft.com/office/powerpoint/2010/main" val="4200710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3C76B9-1851-41BF-8B4B-363CD61A63C4}" type="datetime1">
              <a:rPr lang="en-US" smtClean="0"/>
              <a:t>9/21/17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5D6772-41C1-4987-827C-16EA866C2326}" type="slidenum">
              <a:rPr lang="en-US" smtClean="0"/>
              <a:t>‹#›</a:t>
            </a:fld>
            <a:endParaRPr lang="en-US"/>
          </a:p>
        </p:txBody>
      </p:sp>
    </p:spTree>
    <p:extLst>
      <p:ext uri="{BB962C8B-B14F-4D97-AF65-F5344CB8AC3E}">
        <p14:creationId xmlns:p14="http://schemas.microsoft.com/office/powerpoint/2010/main" val="3813024503"/>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4C43BF-946E-4097-B945-F23929889172}" type="datetime1">
              <a:rPr lang="en-US" smtClean="0"/>
              <a:t>9/21/17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5D6772-41C1-4987-827C-16EA866C2326}" type="slidenum">
              <a:rPr lang="en-US" smtClean="0"/>
              <a:t>‹#›</a:t>
            </a:fld>
            <a:endParaRPr lang="en-US"/>
          </a:p>
        </p:txBody>
      </p:sp>
    </p:spTree>
    <p:extLst>
      <p:ext uri="{BB962C8B-B14F-4D97-AF65-F5344CB8AC3E}">
        <p14:creationId xmlns:p14="http://schemas.microsoft.com/office/powerpoint/2010/main" val="924063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docs.oracle.com/javase/tutorial/essential/environment/paths.htm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EE 5453 – 002 </a:t>
            </a:r>
            <a:br>
              <a:rPr lang="en-US" dirty="0" smtClean="0"/>
            </a:br>
            <a:r>
              <a:rPr lang="en-US" dirty="0" smtClean="0"/>
              <a:t>Engineering Programming II</a:t>
            </a:r>
            <a:br>
              <a:rPr lang="en-US" dirty="0" smtClean="0"/>
            </a:br>
            <a:r>
              <a:rPr lang="en-US" b="1" dirty="0" smtClean="0"/>
              <a:t>Java Classes, Objects, Packages</a:t>
            </a:r>
            <a:endParaRPr lang="en-US" b="1" dirty="0"/>
          </a:p>
        </p:txBody>
      </p:sp>
      <p:sp>
        <p:nvSpPr>
          <p:cNvPr id="3" name="Subtitle 2"/>
          <p:cNvSpPr>
            <a:spLocks noGrp="1"/>
          </p:cNvSpPr>
          <p:nvPr>
            <p:ph type="subTitle" idx="1"/>
          </p:nvPr>
        </p:nvSpPr>
        <p:spPr>
          <a:xfrm>
            <a:off x="1524000" y="4406269"/>
            <a:ext cx="9144000" cy="1655762"/>
          </a:xfrm>
        </p:spPr>
        <p:txBody>
          <a:bodyPr>
            <a:normAutofit/>
          </a:bodyPr>
          <a:lstStyle/>
          <a:p>
            <a:r>
              <a:rPr lang="en-US" sz="4000" dirty="0" err="1" smtClean="0"/>
              <a:t>Guenevere</a:t>
            </a:r>
            <a:r>
              <a:rPr lang="en-US" sz="4000" dirty="0" smtClean="0"/>
              <a:t> (</a:t>
            </a:r>
            <a:r>
              <a:rPr lang="en-US" sz="4000" dirty="0" err="1" smtClean="0"/>
              <a:t>Qian</a:t>
            </a:r>
            <a:r>
              <a:rPr lang="en-US" sz="4000" dirty="0" smtClean="0"/>
              <a:t>) Chen</a:t>
            </a:r>
            <a:endParaRPr lang="en-US" sz="4000" dirty="0"/>
          </a:p>
        </p:txBody>
      </p:sp>
    </p:spTree>
    <p:extLst>
      <p:ext uri="{BB962C8B-B14F-4D97-AF65-F5344CB8AC3E}">
        <p14:creationId xmlns:p14="http://schemas.microsoft.com/office/powerpoint/2010/main" val="3578302604"/>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 Overview</a:t>
            </a:r>
            <a:endParaRPr lang="en-US" dirty="0"/>
          </a:p>
        </p:txBody>
      </p:sp>
      <p:sp>
        <p:nvSpPr>
          <p:cNvPr id="3" name="Content Placeholder 2"/>
          <p:cNvSpPr>
            <a:spLocks noGrp="1"/>
          </p:cNvSpPr>
          <p:nvPr>
            <p:ph idx="1"/>
          </p:nvPr>
        </p:nvSpPr>
        <p:spPr/>
        <p:txBody>
          <a:bodyPr/>
          <a:lstStyle/>
          <a:p>
            <a:r>
              <a:rPr lang="en-US" dirty="0" smtClean="0"/>
              <a:t>Classes and Objects</a:t>
            </a:r>
          </a:p>
          <a:p>
            <a:r>
              <a:rPr lang="en-US" dirty="0" smtClean="0"/>
              <a:t>Packages</a:t>
            </a:r>
            <a:endParaRPr lang="en-US" dirty="0"/>
          </a:p>
        </p:txBody>
      </p:sp>
      <p:sp>
        <p:nvSpPr>
          <p:cNvPr id="4" name="Slide Number Placeholder 3"/>
          <p:cNvSpPr>
            <a:spLocks noGrp="1"/>
          </p:cNvSpPr>
          <p:nvPr>
            <p:ph type="sldNum" sz="quarter" idx="12"/>
          </p:nvPr>
        </p:nvSpPr>
        <p:spPr/>
        <p:txBody>
          <a:bodyPr/>
          <a:lstStyle/>
          <a:p>
            <a:fld id="{F96ABDB1-18BE-4FDA-B9ED-FBF356C892E4}" type="slidenum">
              <a:rPr lang="en-US" smtClean="0"/>
              <a:t>2</a:t>
            </a:fld>
            <a:endParaRPr lang="en-US"/>
          </a:p>
        </p:txBody>
      </p:sp>
    </p:spTree>
    <p:extLst>
      <p:ext uri="{BB962C8B-B14F-4D97-AF65-F5344CB8AC3E}">
        <p14:creationId xmlns:p14="http://schemas.microsoft.com/office/powerpoint/2010/main" val="2194300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Classes and Objects</a:t>
            </a:r>
            <a:endParaRPr lang="en-US" dirty="0"/>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965D6772-41C1-4987-827C-16EA866C2326}" type="slidenum">
              <a:rPr lang="en-US" smtClean="0"/>
              <a:t>3</a:t>
            </a:fld>
            <a:endParaRPr lang="en-US"/>
          </a:p>
        </p:txBody>
      </p:sp>
    </p:spTree>
    <p:extLst>
      <p:ext uri="{BB962C8B-B14F-4D97-AF65-F5344CB8AC3E}">
        <p14:creationId xmlns:p14="http://schemas.microsoft.com/office/powerpoint/2010/main" val="2980811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Declaring A Class</a:t>
            </a:r>
            <a:endParaRPr lang="en-US" dirty="0"/>
          </a:p>
        </p:txBody>
      </p:sp>
      <p:sp>
        <p:nvSpPr>
          <p:cNvPr id="3" name="Content Placeholder 2"/>
          <p:cNvSpPr>
            <a:spLocks noGrp="1"/>
          </p:cNvSpPr>
          <p:nvPr>
            <p:ph sz="half" idx="1"/>
          </p:nvPr>
        </p:nvSpPr>
        <p:spPr/>
        <p:txBody>
          <a:bodyPr>
            <a:normAutofit fontScale="92500" lnSpcReduction="10000"/>
          </a:bodyPr>
          <a:lstStyle/>
          <a:p>
            <a:r>
              <a:rPr lang="en-US" dirty="0" smtClean="0"/>
              <a:t>Generic format:</a:t>
            </a:r>
          </a:p>
          <a:p>
            <a:pPr marL="0" indent="0">
              <a:buNone/>
            </a:pPr>
            <a:r>
              <a:rPr lang="en-US" sz="2000" dirty="0" smtClean="0">
                <a:solidFill>
                  <a:schemeClr val="accent5"/>
                </a:solidFill>
              </a:rPr>
              <a:t>public class </a:t>
            </a:r>
            <a:r>
              <a:rPr lang="en-US" sz="2000" dirty="0" err="1" smtClean="0">
                <a:solidFill>
                  <a:schemeClr val="accent5"/>
                </a:solidFill>
              </a:rPr>
              <a:t>MyClass</a:t>
            </a:r>
            <a:r>
              <a:rPr lang="en-US" sz="2000" dirty="0" smtClean="0">
                <a:solidFill>
                  <a:schemeClr val="accent5"/>
                </a:solidFill>
              </a:rPr>
              <a:t> extends </a:t>
            </a:r>
            <a:r>
              <a:rPr lang="en-US" sz="2000" dirty="0" err="1" smtClean="0">
                <a:solidFill>
                  <a:schemeClr val="accent5"/>
                </a:solidFill>
              </a:rPr>
              <a:t>MySuperClass</a:t>
            </a:r>
            <a:r>
              <a:rPr lang="en-US" sz="2000" dirty="0" smtClean="0">
                <a:solidFill>
                  <a:schemeClr val="accent5"/>
                </a:solidFill>
              </a:rPr>
              <a:t> implements MyInterface1, MyInterface2 {</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int</a:t>
            </a:r>
            <a:r>
              <a:rPr lang="en-US" sz="2000" dirty="0" smtClean="0">
                <a:solidFill>
                  <a:schemeClr val="accent5"/>
                </a:solidFill>
              </a:rPr>
              <a:t> </a:t>
            </a:r>
            <a:r>
              <a:rPr lang="en-US" sz="2000" dirty="0" err="1" smtClean="0">
                <a:solidFill>
                  <a:schemeClr val="accent5"/>
                </a:solidFill>
              </a:rPr>
              <a:t>myField</a:t>
            </a:r>
            <a:r>
              <a:rPr lang="en-US" sz="2000" dirty="0" smtClean="0">
                <a:solidFill>
                  <a:schemeClr val="accent5"/>
                </a:solidFill>
              </a:rPr>
              <a:t> = 1;</a:t>
            </a:r>
          </a:p>
          <a:p>
            <a:pPr marL="0" indent="0">
              <a:buNone/>
            </a:pPr>
            <a:r>
              <a:rPr lang="en-US" sz="2000" dirty="0">
                <a:solidFill>
                  <a:schemeClr val="accent5"/>
                </a:solidFill>
              </a:rPr>
              <a:t> </a:t>
            </a:r>
            <a:r>
              <a:rPr lang="en-US" sz="2000" dirty="0" smtClean="0">
                <a:solidFill>
                  <a:schemeClr val="accent5"/>
                </a:solidFill>
              </a:rPr>
              <a:t> // other fields</a:t>
            </a:r>
          </a:p>
          <a:p>
            <a:pPr marL="0" indent="0">
              <a:buNone/>
            </a:pPr>
            <a:r>
              <a:rPr lang="en-US" sz="2000" dirty="0">
                <a:solidFill>
                  <a:schemeClr val="accent5"/>
                </a:solidFill>
              </a:rPr>
              <a:t> </a:t>
            </a:r>
            <a:r>
              <a:rPr lang="en-US" sz="2000" dirty="0" smtClean="0">
                <a:solidFill>
                  <a:schemeClr val="accent5"/>
                </a:solidFill>
              </a:rPr>
              <a:t> public </a:t>
            </a:r>
            <a:r>
              <a:rPr lang="en-US" sz="2000" dirty="0" err="1" smtClean="0">
                <a:solidFill>
                  <a:schemeClr val="accent5"/>
                </a:solidFill>
              </a:rPr>
              <a:t>MyClass</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 other constructors</a:t>
            </a:r>
          </a:p>
          <a:p>
            <a:pPr marL="0" indent="0">
              <a:buNone/>
            </a:pPr>
            <a:r>
              <a:rPr lang="en-US" sz="2000" dirty="0">
                <a:solidFill>
                  <a:schemeClr val="accent5"/>
                </a:solidFill>
              </a:rPr>
              <a:t> </a:t>
            </a:r>
            <a:r>
              <a:rPr lang="en-US" sz="2000" dirty="0" smtClean="0">
                <a:solidFill>
                  <a:schemeClr val="accent5"/>
                </a:solidFill>
              </a:rPr>
              <a:t> private void </a:t>
            </a:r>
            <a:r>
              <a:rPr lang="en-US" sz="2000" dirty="0" err="1" smtClean="0">
                <a:solidFill>
                  <a:schemeClr val="accent5"/>
                </a:solidFill>
              </a:rPr>
              <a:t>myMethod</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 other methods</a:t>
            </a:r>
          </a:p>
          <a:p>
            <a:pPr marL="0" indent="0">
              <a:buNone/>
            </a:pPr>
            <a:r>
              <a:rPr lang="en-US" sz="2000" dirty="0">
                <a:solidFill>
                  <a:schemeClr val="accent5"/>
                </a:solidFill>
              </a:rPr>
              <a:t>}</a:t>
            </a:r>
          </a:p>
        </p:txBody>
      </p:sp>
      <p:sp>
        <p:nvSpPr>
          <p:cNvPr id="4" name="Content Placeholder 3"/>
          <p:cNvSpPr>
            <a:spLocks noGrp="1"/>
          </p:cNvSpPr>
          <p:nvPr>
            <p:ph sz="half" idx="2"/>
          </p:nvPr>
        </p:nvSpPr>
        <p:spPr/>
        <p:txBody>
          <a:bodyPr>
            <a:normAutofit fontScale="92500" lnSpcReduction="10000"/>
          </a:bodyPr>
          <a:lstStyle/>
          <a:p>
            <a:r>
              <a:rPr lang="en-US" dirty="0" smtClean="0"/>
              <a:t>Can include these components:</a:t>
            </a:r>
          </a:p>
          <a:p>
            <a:pPr lvl="1"/>
            <a:r>
              <a:rPr lang="en-US" dirty="0" smtClean="0"/>
              <a:t>Access </a:t>
            </a:r>
            <a:r>
              <a:rPr lang="en-US" dirty="0" smtClean="0"/>
              <a:t>modifiers (</a:t>
            </a:r>
            <a:r>
              <a:rPr lang="en-US" dirty="0" smtClean="0">
                <a:solidFill>
                  <a:schemeClr val="accent1"/>
                </a:solidFill>
              </a:rPr>
              <a:t>keywords</a:t>
            </a:r>
            <a:r>
              <a:rPr lang="en-US" dirty="0" smtClean="0"/>
              <a:t>)</a:t>
            </a:r>
            <a:endParaRPr lang="en-US" dirty="0" smtClean="0"/>
          </a:p>
          <a:p>
            <a:pPr lvl="1"/>
            <a:r>
              <a:rPr lang="en-US" dirty="0" smtClean="0"/>
              <a:t>The class name</a:t>
            </a:r>
          </a:p>
          <a:p>
            <a:pPr lvl="1"/>
            <a:r>
              <a:rPr lang="en-US" dirty="0" smtClean="0"/>
              <a:t>The name of the superclass (if any), preceded by </a:t>
            </a:r>
            <a:r>
              <a:rPr lang="en-US" dirty="0" smtClean="0">
                <a:solidFill>
                  <a:schemeClr val="accent5"/>
                </a:solidFill>
              </a:rPr>
              <a:t>extends</a:t>
            </a:r>
          </a:p>
          <a:p>
            <a:pPr lvl="2"/>
            <a:r>
              <a:rPr lang="en-US" dirty="0" smtClean="0"/>
              <a:t>A class can only extend one parent</a:t>
            </a:r>
          </a:p>
          <a:p>
            <a:pPr lvl="1"/>
            <a:r>
              <a:rPr lang="en-US" dirty="0" smtClean="0"/>
              <a:t>A comma-separated list of interfaces implemented by the class (if any), preceded by </a:t>
            </a:r>
            <a:r>
              <a:rPr lang="en-US" dirty="0" smtClean="0">
                <a:solidFill>
                  <a:schemeClr val="accent5"/>
                </a:solidFill>
              </a:rPr>
              <a:t>implements</a:t>
            </a:r>
            <a:endParaRPr lang="en-US" dirty="0" smtClean="0"/>
          </a:p>
          <a:p>
            <a:pPr lvl="2"/>
            <a:r>
              <a:rPr lang="en-US" dirty="0" smtClean="0"/>
              <a:t>A class can implement more than one </a:t>
            </a:r>
            <a:r>
              <a:rPr lang="en-US" dirty="0" smtClean="0"/>
              <a:t>interface</a:t>
            </a:r>
          </a:p>
          <a:p>
            <a:pPr lvl="2"/>
            <a:r>
              <a:rPr lang="en-US" i="1" dirty="0" smtClean="0">
                <a:solidFill>
                  <a:srgbClr val="5B9BD5"/>
                </a:solidFill>
              </a:rPr>
              <a:t>Interface is a collection of abstract methods.</a:t>
            </a:r>
            <a:endParaRPr lang="en-US" i="1" dirty="0" smtClean="0">
              <a:solidFill>
                <a:srgbClr val="5B9BD5"/>
              </a:solidFill>
            </a:endParaRPr>
          </a:p>
          <a:p>
            <a:pPr lvl="1"/>
            <a:r>
              <a:rPr lang="en-US" dirty="0" smtClean="0"/>
              <a:t>The class body in {}</a:t>
            </a:r>
            <a:endParaRPr lang="en-US" dirty="0"/>
          </a:p>
        </p:txBody>
      </p:sp>
      <p:sp>
        <p:nvSpPr>
          <p:cNvPr id="5" name="Slide Number Placeholder 4"/>
          <p:cNvSpPr>
            <a:spLocks noGrp="1"/>
          </p:cNvSpPr>
          <p:nvPr>
            <p:ph type="sldNum" sz="quarter" idx="12"/>
          </p:nvPr>
        </p:nvSpPr>
        <p:spPr/>
        <p:txBody>
          <a:bodyPr/>
          <a:lstStyle/>
          <a:p>
            <a:fld id="{965D6772-41C1-4987-827C-16EA866C2326}" type="slidenum">
              <a:rPr lang="en-US" smtClean="0"/>
              <a:t>4</a:t>
            </a:fld>
            <a:endParaRPr lang="en-US"/>
          </a:p>
        </p:txBody>
      </p:sp>
    </p:spTree>
    <p:extLst>
      <p:ext uri="{BB962C8B-B14F-4D97-AF65-F5344CB8AC3E}">
        <p14:creationId xmlns:p14="http://schemas.microsoft.com/office/powerpoint/2010/main" val="2322280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Class Example</a:t>
            </a:r>
            <a:endParaRPr lang="en-US" dirty="0"/>
          </a:p>
        </p:txBody>
      </p:sp>
      <p:sp>
        <p:nvSpPr>
          <p:cNvPr id="3" name="Content Placeholder 2"/>
          <p:cNvSpPr>
            <a:spLocks noGrp="1"/>
          </p:cNvSpPr>
          <p:nvPr>
            <p:ph sz="half" idx="1"/>
          </p:nvPr>
        </p:nvSpPr>
        <p:spPr>
          <a:xfrm>
            <a:off x="838200" y="1385357"/>
            <a:ext cx="5181600" cy="5150909"/>
          </a:xfrm>
        </p:spPr>
        <p:txBody>
          <a:bodyPr>
            <a:noAutofit/>
          </a:bodyPr>
          <a:lstStyle/>
          <a:p>
            <a:pPr marL="0" indent="0">
              <a:buNone/>
            </a:pPr>
            <a:r>
              <a:rPr lang="en-US" sz="1600" dirty="0" smtClean="0">
                <a:solidFill>
                  <a:schemeClr val="accent5"/>
                </a:solidFill>
              </a:rPr>
              <a:t>class Point {</a:t>
            </a:r>
          </a:p>
          <a:p>
            <a:pPr marL="0" indent="0">
              <a:buNone/>
            </a:pPr>
            <a:r>
              <a:rPr lang="en-US" sz="1600" dirty="0" smtClean="0">
                <a:solidFill>
                  <a:schemeClr val="accent5"/>
                </a:solidFill>
              </a:rPr>
              <a:t>    public </a:t>
            </a:r>
            <a:r>
              <a:rPr lang="en-US" sz="1600" dirty="0" err="1" smtClean="0">
                <a:solidFill>
                  <a:schemeClr val="accent5"/>
                </a:solidFill>
              </a:rPr>
              <a:t>int</a:t>
            </a:r>
            <a:r>
              <a:rPr lang="en-US" sz="1600" dirty="0" smtClean="0">
                <a:solidFill>
                  <a:schemeClr val="accent5"/>
                </a:solidFill>
              </a:rPr>
              <a:t> x = 0;</a:t>
            </a:r>
          </a:p>
          <a:p>
            <a:pPr marL="0" indent="0">
              <a:buNone/>
            </a:pPr>
            <a:r>
              <a:rPr lang="en-US" sz="1600" dirty="0" smtClean="0">
                <a:solidFill>
                  <a:schemeClr val="accent5"/>
                </a:solidFill>
              </a:rPr>
              <a:t>    public </a:t>
            </a:r>
            <a:r>
              <a:rPr lang="en-US" sz="1600" dirty="0" err="1" smtClean="0">
                <a:solidFill>
                  <a:schemeClr val="accent5"/>
                </a:solidFill>
              </a:rPr>
              <a:t>int</a:t>
            </a:r>
            <a:r>
              <a:rPr lang="en-US" sz="1600" dirty="0" smtClean="0">
                <a:solidFill>
                  <a:schemeClr val="accent5"/>
                </a:solidFill>
              </a:rPr>
              <a:t> y = 0;</a:t>
            </a:r>
          </a:p>
          <a:p>
            <a:pPr marL="0" indent="0">
              <a:buNone/>
            </a:pPr>
            <a:r>
              <a:rPr lang="en-US" sz="1600" dirty="0" smtClean="0">
                <a:solidFill>
                  <a:schemeClr val="accent5"/>
                </a:solidFill>
              </a:rPr>
              <a:t>    public Point(</a:t>
            </a:r>
            <a:r>
              <a:rPr lang="en-US" sz="1600" dirty="0" err="1" smtClean="0">
                <a:solidFill>
                  <a:schemeClr val="accent5"/>
                </a:solidFill>
              </a:rPr>
              <a:t>int</a:t>
            </a:r>
            <a:r>
              <a:rPr lang="en-US" sz="1600" dirty="0" smtClean="0">
                <a:solidFill>
                  <a:schemeClr val="accent5"/>
                </a:solidFill>
              </a:rPr>
              <a:t> a, </a:t>
            </a:r>
            <a:r>
              <a:rPr lang="en-US" sz="1600" dirty="0" err="1" smtClean="0">
                <a:solidFill>
                  <a:schemeClr val="accent5"/>
                </a:solidFill>
              </a:rPr>
              <a:t>int</a:t>
            </a:r>
            <a:r>
              <a:rPr lang="en-US" sz="1600" dirty="0" smtClean="0">
                <a:solidFill>
                  <a:schemeClr val="accent5"/>
                </a:solidFill>
              </a:rPr>
              <a:t> b) {</a:t>
            </a:r>
          </a:p>
          <a:p>
            <a:pPr marL="0" indent="0">
              <a:buNone/>
            </a:pPr>
            <a:r>
              <a:rPr lang="en-US" sz="1600" dirty="0" smtClean="0">
                <a:solidFill>
                  <a:schemeClr val="accent5"/>
                </a:solidFill>
              </a:rPr>
              <a:t>        x = a; y = b;</a:t>
            </a:r>
          </a:p>
          <a:p>
            <a:pPr marL="0" indent="0">
              <a:buNone/>
            </a:pPr>
            <a:r>
              <a:rPr lang="en-US" sz="1600" dirty="0" smtClean="0">
                <a:solidFill>
                  <a:schemeClr val="accent5"/>
                </a:solidFill>
              </a:rPr>
              <a:t>    }</a:t>
            </a:r>
          </a:p>
          <a:p>
            <a:pPr marL="0" indent="0">
              <a:buNone/>
            </a:pPr>
            <a:r>
              <a:rPr lang="en-US" sz="1600" dirty="0" smtClean="0">
                <a:solidFill>
                  <a:schemeClr val="accent5"/>
                </a:solidFill>
              </a:rPr>
              <a:t>}</a:t>
            </a:r>
          </a:p>
          <a:p>
            <a:pPr marL="0" indent="0">
              <a:buNone/>
            </a:pPr>
            <a:r>
              <a:rPr lang="en-US" sz="1600" dirty="0" smtClean="0">
                <a:solidFill>
                  <a:schemeClr val="accent5"/>
                </a:solidFill>
              </a:rPr>
              <a:t>public class Rectangle {</a:t>
            </a:r>
          </a:p>
          <a:p>
            <a:pPr marL="0" indent="0">
              <a:buNone/>
            </a:pPr>
            <a:r>
              <a:rPr lang="en-US" sz="1600" dirty="0" smtClean="0">
                <a:solidFill>
                  <a:schemeClr val="accent5"/>
                </a:solidFill>
              </a:rPr>
              <a:t>    public </a:t>
            </a:r>
            <a:r>
              <a:rPr lang="en-US" sz="1600" dirty="0" err="1" smtClean="0">
                <a:solidFill>
                  <a:schemeClr val="accent5"/>
                </a:solidFill>
              </a:rPr>
              <a:t>int</a:t>
            </a:r>
            <a:r>
              <a:rPr lang="en-US" sz="1600" dirty="0" smtClean="0">
                <a:solidFill>
                  <a:schemeClr val="accent5"/>
                </a:solidFill>
              </a:rPr>
              <a:t> width = 0;</a:t>
            </a:r>
          </a:p>
          <a:p>
            <a:pPr marL="0" indent="0">
              <a:buNone/>
            </a:pPr>
            <a:r>
              <a:rPr lang="en-US" sz="1600" dirty="0" smtClean="0">
                <a:solidFill>
                  <a:schemeClr val="accent5"/>
                </a:solidFill>
              </a:rPr>
              <a:t>    public </a:t>
            </a:r>
            <a:r>
              <a:rPr lang="en-US" sz="1600" dirty="0" err="1" smtClean="0">
                <a:solidFill>
                  <a:schemeClr val="accent5"/>
                </a:solidFill>
              </a:rPr>
              <a:t>int</a:t>
            </a:r>
            <a:r>
              <a:rPr lang="en-US" sz="1600" dirty="0" smtClean="0">
                <a:solidFill>
                  <a:schemeClr val="accent5"/>
                </a:solidFill>
              </a:rPr>
              <a:t> height = 0;</a:t>
            </a:r>
          </a:p>
          <a:p>
            <a:pPr marL="0" indent="0">
              <a:buNone/>
            </a:pPr>
            <a:r>
              <a:rPr lang="en-US" sz="1600" dirty="0" smtClean="0">
                <a:solidFill>
                  <a:schemeClr val="accent5"/>
                </a:solidFill>
              </a:rPr>
              <a:t>    public Point origin;</a:t>
            </a:r>
          </a:p>
          <a:p>
            <a:pPr marL="0" indent="0">
              <a:buNone/>
            </a:pPr>
            <a:endParaRPr lang="en-US" sz="1600" dirty="0" smtClean="0">
              <a:solidFill>
                <a:schemeClr val="accent5"/>
              </a:solidFill>
            </a:endParaRPr>
          </a:p>
          <a:p>
            <a:pPr marL="0" indent="0">
              <a:buNone/>
            </a:pPr>
            <a:r>
              <a:rPr lang="en-US" sz="1600" dirty="0" smtClean="0">
                <a:solidFill>
                  <a:schemeClr val="accent5"/>
                </a:solidFill>
              </a:rPr>
              <a:t>    public Rectangle() {</a:t>
            </a:r>
          </a:p>
          <a:p>
            <a:pPr marL="0" indent="0">
              <a:buNone/>
            </a:pPr>
            <a:r>
              <a:rPr lang="en-US" sz="1600" dirty="0" smtClean="0">
                <a:solidFill>
                  <a:schemeClr val="accent5"/>
                </a:solidFill>
              </a:rPr>
              <a:t>        origin = new Point(0, 0);</a:t>
            </a:r>
          </a:p>
          <a:p>
            <a:pPr marL="0" indent="0">
              <a:buNone/>
            </a:pPr>
            <a:r>
              <a:rPr lang="en-US" sz="1600" dirty="0" smtClean="0">
                <a:solidFill>
                  <a:schemeClr val="accent5"/>
                </a:solidFill>
              </a:rPr>
              <a:t>    }</a:t>
            </a:r>
          </a:p>
        </p:txBody>
      </p:sp>
      <p:sp>
        <p:nvSpPr>
          <p:cNvPr id="4" name="Content Placeholder 3"/>
          <p:cNvSpPr>
            <a:spLocks noGrp="1"/>
          </p:cNvSpPr>
          <p:nvPr>
            <p:ph sz="half" idx="2"/>
          </p:nvPr>
        </p:nvSpPr>
        <p:spPr>
          <a:xfrm>
            <a:off x="6172200" y="259644"/>
            <a:ext cx="5181600" cy="6276622"/>
          </a:xfrm>
        </p:spPr>
        <p:txBody>
          <a:bodyPr>
            <a:noAutofit/>
          </a:bodyPr>
          <a:lstStyle/>
          <a:p>
            <a:pPr marL="0" indent="0">
              <a:buNone/>
            </a:pPr>
            <a:r>
              <a:rPr lang="en-US" sz="1600" dirty="0" smtClean="0">
                <a:solidFill>
                  <a:schemeClr val="accent5"/>
                </a:solidFill>
              </a:rPr>
              <a:t>    public Rectangle(</a:t>
            </a:r>
            <a:r>
              <a:rPr lang="en-US" sz="1600" dirty="0" err="1" smtClean="0">
                <a:solidFill>
                  <a:schemeClr val="accent5"/>
                </a:solidFill>
              </a:rPr>
              <a:t>int</a:t>
            </a:r>
            <a:r>
              <a:rPr lang="en-US" sz="1600" dirty="0" smtClean="0">
                <a:solidFill>
                  <a:schemeClr val="accent5"/>
                </a:solidFill>
              </a:rPr>
              <a:t> w, </a:t>
            </a:r>
            <a:r>
              <a:rPr lang="en-US" sz="1600" dirty="0" err="1" smtClean="0">
                <a:solidFill>
                  <a:schemeClr val="accent5"/>
                </a:solidFill>
              </a:rPr>
              <a:t>int</a:t>
            </a:r>
            <a:r>
              <a:rPr lang="en-US" sz="1600" dirty="0" smtClean="0">
                <a:solidFill>
                  <a:schemeClr val="accent5"/>
                </a:solidFill>
              </a:rPr>
              <a:t> h) {</a:t>
            </a:r>
          </a:p>
          <a:p>
            <a:pPr marL="0" indent="0">
              <a:buNone/>
            </a:pPr>
            <a:r>
              <a:rPr lang="en-US" sz="1600" dirty="0" smtClean="0">
                <a:solidFill>
                  <a:schemeClr val="accent5"/>
                </a:solidFill>
              </a:rPr>
              <a:t>        origin = new Point(0, 0);</a:t>
            </a:r>
          </a:p>
          <a:p>
            <a:pPr marL="0" indent="0">
              <a:buNone/>
            </a:pPr>
            <a:r>
              <a:rPr lang="en-US" sz="1600" dirty="0" smtClean="0">
                <a:solidFill>
                  <a:schemeClr val="accent5"/>
                </a:solidFill>
              </a:rPr>
              <a:t>        width = w; height = h;</a:t>
            </a:r>
          </a:p>
          <a:p>
            <a:pPr marL="0" indent="0">
              <a:buNone/>
            </a:pPr>
            <a:r>
              <a:rPr lang="en-US" sz="1600" dirty="0" smtClean="0">
                <a:solidFill>
                  <a:schemeClr val="accent5"/>
                </a:solidFill>
              </a:rPr>
              <a:t>    }</a:t>
            </a:r>
          </a:p>
          <a:p>
            <a:pPr marL="0" indent="0">
              <a:buNone/>
            </a:pPr>
            <a:r>
              <a:rPr lang="en-US" sz="1600" dirty="0" smtClean="0">
                <a:solidFill>
                  <a:schemeClr val="accent5"/>
                </a:solidFill>
              </a:rPr>
              <a:t>    public Rectangle(Point p, </a:t>
            </a:r>
            <a:r>
              <a:rPr lang="en-US" sz="1600" dirty="0" err="1" smtClean="0">
                <a:solidFill>
                  <a:schemeClr val="accent5"/>
                </a:solidFill>
              </a:rPr>
              <a:t>int</a:t>
            </a:r>
            <a:r>
              <a:rPr lang="en-US" sz="1600" dirty="0" smtClean="0">
                <a:solidFill>
                  <a:schemeClr val="accent5"/>
                </a:solidFill>
              </a:rPr>
              <a:t> w, </a:t>
            </a:r>
            <a:r>
              <a:rPr lang="en-US" sz="1600" dirty="0" err="1" smtClean="0">
                <a:solidFill>
                  <a:schemeClr val="accent5"/>
                </a:solidFill>
              </a:rPr>
              <a:t>int</a:t>
            </a:r>
            <a:r>
              <a:rPr lang="en-US" sz="1600" dirty="0" smtClean="0">
                <a:solidFill>
                  <a:schemeClr val="accent5"/>
                </a:solidFill>
              </a:rPr>
              <a:t> h) {</a:t>
            </a:r>
          </a:p>
          <a:p>
            <a:pPr marL="0" indent="0">
              <a:buNone/>
            </a:pPr>
            <a:r>
              <a:rPr lang="en-US" sz="1600" dirty="0" smtClean="0">
                <a:solidFill>
                  <a:schemeClr val="accent5"/>
                </a:solidFill>
              </a:rPr>
              <a:t>        origin = p;</a:t>
            </a:r>
          </a:p>
          <a:p>
            <a:pPr marL="0" indent="0">
              <a:buNone/>
            </a:pPr>
            <a:r>
              <a:rPr lang="en-US" sz="1600" dirty="0" smtClean="0">
                <a:solidFill>
                  <a:schemeClr val="accent5"/>
                </a:solidFill>
              </a:rPr>
              <a:t>        width = w; height = h;</a:t>
            </a:r>
          </a:p>
          <a:p>
            <a:pPr marL="0" indent="0">
              <a:buNone/>
            </a:pPr>
            <a:r>
              <a:rPr lang="en-US" sz="1600" dirty="0" smtClean="0">
                <a:solidFill>
                  <a:schemeClr val="accent5"/>
                </a:solidFill>
              </a:rPr>
              <a:t>    }</a:t>
            </a:r>
          </a:p>
          <a:p>
            <a:pPr marL="0" indent="0">
              <a:buNone/>
            </a:pPr>
            <a:endParaRPr lang="en-US" sz="1600" dirty="0" smtClean="0">
              <a:solidFill>
                <a:schemeClr val="accent5"/>
              </a:solidFill>
            </a:endParaRPr>
          </a:p>
          <a:p>
            <a:pPr marL="0" indent="0">
              <a:buNone/>
            </a:pPr>
            <a:r>
              <a:rPr lang="en-US" sz="1600" dirty="0" smtClean="0">
                <a:solidFill>
                  <a:schemeClr val="accent5"/>
                </a:solidFill>
              </a:rPr>
              <a:t>    // a method for moving the rectangle</a:t>
            </a:r>
          </a:p>
          <a:p>
            <a:pPr marL="0" indent="0">
              <a:buNone/>
            </a:pPr>
            <a:r>
              <a:rPr lang="en-US" sz="1600" dirty="0" smtClean="0">
                <a:solidFill>
                  <a:schemeClr val="accent5"/>
                </a:solidFill>
              </a:rPr>
              <a:t>    public void move(</a:t>
            </a:r>
            <a:r>
              <a:rPr lang="en-US" sz="1600" dirty="0" err="1" smtClean="0">
                <a:solidFill>
                  <a:schemeClr val="accent5"/>
                </a:solidFill>
              </a:rPr>
              <a:t>int</a:t>
            </a:r>
            <a:r>
              <a:rPr lang="en-US" sz="1600" dirty="0" smtClean="0">
                <a:solidFill>
                  <a:schemeClr val="accent5"/>
                </a:solidFill>
              </a:rPr>
              <a:t> x, </a:t>
            </a:r>
            <a:r>
              <a:rPr lang="en-US" sz="1600" dirty="0" err="1" smtClean="0">
                <a:solidFill>
                  <a:schemeClr val="accent5"/>
                </a:solidFill>
              </a:rPr>
              <a:t>int</a:t>
            </a:r>
            <a:r>
              <a:rPr lang="en-US" sz="1600" dirty="0" smtClean="0">
                <a:solidFill>
                  <a:schemeClr val="accent5"/>
                </a:solidFill>
              </a:rPr>
              <a:t> y) {</a:t>
            </a:r>
          </a:p>
          <a:p>
            <a:pPr marL="0" indent="0">
              <a:buNone/>
            </a:pPr>
            <a:r>
              <a:rPr lang="en-US" sz="1600" dirty="0" smtClean="0">
                <a:solidFill>
                  <a:schemeClr val="accent5"/>
                </a:solidFill>
              </a:rPr>
              <a:t>        </a:t>
            </a:r>
            <a:r>
              <a:rPr lang="en-US" sz="1600" dirty="0" err="1" smtClean="0">
                <a:solidFill>
                  <a:schemeClr val="accent5"/>
                </a:solidFill>
              </a:rPr>
              <a:t>origin.x</a:t>
            </a:r>
            <a:r>
              <a:rPr lang="en-US" sz="1600" dirty="0" smtClean="0">
                <a:solidFill>
                  <a:schemeClr val="accent5"/>
                </a:solidFill>
              </a:rPr>
              <a:t> = x; </a:t>
            </a:r>
            <a:r>
              <a:rPr lang="en-US" sz="1600" dirty="0" err="1" smtClean="0">
                <a:solidFill>
                  <a:schemeClr val="accent5"/>
                </a:solidFill>
              </a:rPr>
              <a:t>origin.y</a:t>
            </a:r>
            <a:r>
              <a:rPr lang="en-US" sz="1600" dirty="0" smtClean="0">
                <a:solidFill>
                  <a:schemeClr val="accent5"/>
                </a:solidFill>
              </a:rPr>
              <a:t> = y;</a:t>
            </a:r>
          </a:p>
          <a:p>
            <a:pPr marL="0" indent="0">
              <a:buNone/>
            </a:pPr>
            <a:r>
              <a:rPr lang="en-US" sz="1600" dirty="0" smtClean="0">
                <a:solidFill>
                  <a:schemeClr val="accent5"/>
                </a:solidFill>
              </a:rPr>
              <a:t>    }</a:t>
            </a:r>
          </a:p>
          <a:p>
            <a:pPr marL="0" indent="0">
              <a:buNone/>
            </a:pPr>
            <a:r>
              <a:rPr lang="en-US" sz="1600" dirty="0" smtClean="0">
                <a:solidFill>
                  <a:schemeClr val="accent5"/>
                </a:solidFill>
              </a:rPr>
              <a:t>    // a method for computing the area of the rectangle</a:t>
            </a:r>
          </a:p>
          <a:p>
            <a:pPr marL="0" indent="0">
              <a:buNone/>
            </a:pPr>
            <a:r>
              <a:rPr lang="en-US" sz="1600" dirty="0" smtClean="0">
                <a:solidFill>
                  <a:schemeClr val="accent5"/>
                </a:solidFill>
              </a:rPr>
              <a:t>    public </a:t>
            </a:r>
            <a:r>
              <a:rPr lang="en-US" sz="1600" dirty="0" err="1" smtClean="0">
                <a:solidFill>
                  <a:schemeClr val="accent5"/>
                </a:solidFill>
              </a:rPr>
              <a:t>int</a:t>
            </a:r>
            <a:r>
              <a:rPr lang="en-US" sz="1600" dirty="0" smtClean="0">
                <a:solidFill>
                  <a:schemeClr val="accent5"/>
                </a:solidFill>
              </a:rPr>
              <a:t> </a:t>
            </a:r>
            <a:r>
              <a:rPr lang="en-US" sz="1600" dirty="0" err="1" smtClean="0">
                <a:solidFill>
                  <a:schemeClr val="accent5"/>
                </a:solidFill>
              </a:rPr>
              <a:t>getArea</a:t>
            </a:r>
            <a:r>
              <a:rPr lang="en-US" sz="1600" dirty="0" smtClean="0">
                <a:solidFill>
                  <a:schemeClr val="accent5"/>
                </a:solidFill>
              </a:rPr>
              <a:t>() {</a:t>
            </a:r>
          </a:p>
          <a:p>
            <a:pPr marL="0" indent="0">
              <a:buNone/>
            </a:pPr>
            <a:r>
              <a:rPr lang="en-US" sz="1600" dirty="0" smtClean="0">
                <a:solidFill>
                  <a:schemeClr val="accent5"/>
                </a:solidFill>
              </a:rPr>
              <a:t>        return width * height;</a:t>
            </a:r>
          </a:p>
          <a:p>
            <a:pPr marL="0" indent="0">
              <a:buNone/>
            </a:pPr>
            <a:r>
              <a:rPr lang="en-US" sz="1600" dirty="0" smtClean="0">
                <a:solidFill>
                  <a:schemeClr val="accent5"/>
                </a:solidFill>
              </a:rPr>
              <a:t>    }</a:t>
            </a:r>
          </a:p>
          <a:p>
            <a:pPr marL="0" indent="0">
              <a:buNone/>
            </a:pPr>
            <a:r>
              <a:rPr lang="en-US" sz="1600" dirty="0" smtClean="0">
                <a:solidFill>
                  <a:schemeClr val="accent5"/>
                </a:solidFill>
              </a:rPr>
              <a:t>}</a:t>
            </a:r>
            <a:endParaRPr lang="en-US" sz="1600"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5</a:t>
            </a:fld>
            <a:endParaRPr lang="en-US"/>
          </a:p>
        </p:txBody>
      </p:sp>
    </p:spTree>
    <p:extLst>
      <p:ext uri="{BB962C8B-B14F-4D97-AF65-F5344CB8AC3E}">
        <p14:creationId xmlns:p14="http://schemas.microsoft.com/office/powerpoint/2010/main" val="1515223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Classes</a:t>
            </a:r>
            <a:endParaRPr lang="en-US" dirty="0"/>
          </a:p>
        </p:txBody>
      </p:sp>
      <p:sp>
        <p:nvSpPr>
          <p:cNvPr id="3" name="Content Placeholder 2"/>
          <p:cNvSpPr>
            <a:spLocks noGrp="1"/>
          </p:cNvSpPr>
          <p:nvPr>
            <p:ph sz="half" idx="1"/>
          </p:nvPr>
        </p:nvSpPr>
        <p:spPr/>
        <p:txBody>
          <a:bodyPr>
            <a:normAutofit/>
          </a:bodyPr>
          <a:lstStyle/>
          <a:p>
            <a:r>
              <a:rPr lang="en-US" sz="2400" dirty="0" smtClean="0"/>
              <a:t>Using classes by creating objects:</a:t>
            </a:r>
          </a:p>
          <a:p>
            <a:pPr marL="0" indent="0">
              <a:buNone/>
            </a:pPr>
            <a:r>
              <a:rPr lang="en-US" sz="2000" dirty="0" smtClean="0">
                <a:solidFill>
                  <a:schemeClr val="accent5"/>
                </a:solidFill>
              </a:rPr>
              <a:t>// in main method:</a:t>
            </a:r>
          </a:p>
          <a:p>
            <a:pPr marL="0" indent="0">
              <a:buNone/>
            </a:pPr>
            <a:r>
              <a:rPr lang="en-US" sz="2000" dirty="0" smtClean="0">
                <a:solidFill>
                  <a:schemeClr val="accent5"/>
                </a:solidFill>
              </a:rPr>
              <a:t>Point </a:t>
            </a:r>
            <a:r>
              <a:rPr lang="en-US" sz="2000" dirty="0" err="1" smtClean="0">
                <a:solidFill>
                  <a:schemeClr val="accent5"/>
                </a:solidFill>
              </a:rPr>
              <a:t>originOne</a:t>
            </a:r>
            <a:r>
              <a:rPr lang="en-US" sz="2000" dirty="0" smtClean="0">
                <a:solidFill>
                  <a:schemeClr val="accent5"/>
                </a:solidFill>
              </a:rPr>
              <a:t> = new Point(23, 94);</a:t>
            </a:r>
            <a:endParaRPr lang="en-US" sz="2000" dirty="0">
              <a:solidFill>
                <a:schemeClr val="accent5"/>
              </a:solidFill>
            </a:endParaRPr>
          </a:p>
          <a:p>
            <a:pPr marL="0" indent="0">
              <a:buNone/>
            </a:pPr>
            <a:r>
              <a:rPr lang="en-US" sz="2000" dirty="0" smtClean="0">
                <a:solidFill>
                  <a:schemeClr val="accent5"/>
                </a:solidFill>
              </a:rPr>
              <a:t>Rectangle </a:t>
            </a:r>
            <a:r>
              <a:rPr lang="en-US" sz="2000" dirty="0" err="1" smtClean="0">
                <a:solidFill>
                  <a:schemeClr val="accent5"/>
                </a:solidFill>
              </a:rPr>
              <a:t>rectOne</a:t>
            </a:r>
            <a:r>
              <a:rPr lang="en-US" sz="2000" dirty="0" smtClean="0">
                <a:solidFill>
                  <a:schemeClr val="accent5"/>
                </a:solidFill>
              </a:rPr>
              <a:t> = new Rectangle(</a:t>
            </a:r>
            <a:r>
              <a:rPr lang="en-US" sz="2000" dirty="0" err="1" smtClean="0">
                <a:solidFill>
                  <a:schemeClr val="accent5"/>
                </a:solidFill>
              </a:rPr>
              <a:t>originOne</a:t>
            </a:r>
            <a:r>
              <a:rPr lang="en-US" sz="2000" dirty="0" smtClean="0">
                <a:solidFill>
                  <a:schemeClr val="accent5"/>
                </a:solidFill>
              </a:rPr>
              <a:t>, 100, 200);</a:t>
            </a:r>
          </a:p>
          <a:p>
            <a:pPr marL="0" indent="0">
              <a:buNone/>
            </a:pPr>
            <a:r>
              <a:rPr lang="en-US" sz="2000" dirty="0" smtClean="0">
                <a:solidFill>
                  <a:schemeClr val="accent5"/>
                </a:solidFill>
              </a:rPr>
              <a:t>Rectangle </a:t>
            </a:r>
            <a:r>
              <a:rPr lang="en-US" sz="2000" dirty="0" err="1" smtClean="0">
                <a:solidFill>
                  <a:schemeClr val="accent5"/>
                </a:solidFill>
              </a:rPr>
              <a:t>rectTwo</a:t>
            </a:r>
            <a:r>
              <a:rPr lang="en-US" sz="2000" dirty="0" smtClean="0">
                <a:solidFill>
                  <a:schemeClr val="accent5"/>
                </a:solidFill>
              </a:rPr>
              <a:t> = new Rectangle(10, 20);</a:t>
            </a:r>
          </a:p>
          <a:p>
            <a:pPr marL="0" indent="0">
              <a:buNone/>
            </a:pPr>
            <a:r>
              <a:rPr lang="en-US" sz="2000" dirty="0" smtClean="0">
                <a:solidFill>
                  <a:schemeClr val="accent5"/>
                </a:solidFill>
              </a:rPr>
              <a:t>Rectangle </a:t>
            </a:r>
            <a:r>
              <a:rPr lang="en-US" sz="2000" dirty="0" err="1" smtClean="0">
                <a:solidFill>
                  <a:schemeClr val="accent5"/>
                </a:solidFill>
              </a:rPr>
              <a:t>rectThree</a:t>
            </a:r>
            <a:r>
              <a:rPr lang="en-US" sz="2000" dirty="0" smtClean="0">
                <a:solidFill>
                  <a:schemeClr val="accent5"/>
                </a:solidFill>
              </a:rPr>
              <a:t> = new Rectangle();</a:t>
            </a:r>
            <a:endParaRPr lang="en-US" sz="2000" dirty="0">
              <a:solidFill>
                <a:schemeClr val="accent5"/>
              </a:solidFill>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527094" y="1239396"/>
            <a:ext cx="4945679" cy="4371181"/>
          </a:xfrm>
        </p:spPr>
      </p:pic>
      <p:sp>
        <p:nvSpPr>
          <p:cNvPr id="4" name="Slide Number Placeholder 3"/>
          <p:cNvSpPr>
            <a:spLocks noGrp="1"/>
          </p:cNvSpPr>
          <p:nvPr>
            <p:ph type="sldNum" sz="quarter" idx="12"/>
          </p:nvPr>
        </p:nvSpPr>
        <p:spPr/>
        <p:txBody>
          <a:bodyPr/>
          <a:lstStyle/>
          <a:p>
            <a:fld id="{965D6772-41C1-4987-827C-16EA866C2326}" type="slidenum">
              <a:rPr lang="en-US" smtClean="0"/>
              <a:t>6</a:t>
            </a:fld>
            <a:endParaRPr lang="en-US"/>
          </a:p>
        </p:txBody>
      </p:sp>
    </p:spTree>
    <p:extLst>
      <p:ext uri="{BB962C8B-B14F-4D97-AF65-F5344CB8AC3E}">
        <p14:creationId xmlns:p14="http://schemas.microsoft.com/office/powerpoint/2010/main" val="3745516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 Levels</a:t>
            </a:r>
            <a:endParaRPr lang="en-US" dirty="0"/>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106437753"/>
              </p:ext>
            </p:extLst>
          </p:nvPr>
        </p:nvGraphicFramePr>
        <p:xfrm>
          <a:off x="6539089" y="2243314"/>
          <a:ext cx="5181600" cy="2123440"/>
        </p:xfrm>
        <a:graphic>
          <a:graphicData uri="http://schemas.openxmlformats.org/drawingml/2006/table">
            <a:tbl>
              <a:tblPr firstRow="1" bandRow="1">
                <a:tableStyleId>{5C22544A-7EE6-4342-B048-85BDC9FD1C3A}</a:tableStyleId>
              </a:tblPr>
              <a:tblGrid>
                <a:gridCol w="1227667"/>
                <a:gridCol w="844973"/>
                <a:gridCol w="1036320"/>
                <a:gridCol w="1036320"/>
                <a:gridCol w="1036320"/>
              </a:tblGrid>
              <a:tr h="370840">
                <a:tc>
                  <a:txBody>
                    <a:bodyPr/>
                    <a:lstStyle/>
                    <a:p>
                      <a:r>
                        <a:rPr lang="en-US" dirty="0" smtClean="0"/>
                        <a:t>Modifier</a:t>
                      </a:r>
                      <a:endParaRPr lang="en-US" dirty="0"/>
                    </a:p>
                  </a:txBody>
                  <a:tcPr/>
                </a:tc>
                <a:tc>
                  <a:txBody>
                    <a:bodyPr/>
                    <a:lstStyle/>
                    <a:p>
                      <a:r>
                        <a:rPr lang="en-US" dirty="0" smtClean="0"/>
                        <a:t>Class</a:t>
                      </a:r>
                      <a:endParaRPr lang="en-US" dirty="0"/>
                    </a:p>
                  </a:txBody>
                  <a:tcPr/>
                </a:tc>
                <a:tc>
                  <a:txBody>
                    <a:bodyPr/>
                    <a:lstStyle/>
                    <a:p>
                      <a:r>
                        <a:rPr lang="en-US" dirty="0" smtClean="0"/>
                        <a:t>Package</a:t>
                      </a:r>
                      <a:endParaRPr lang="en-US" dirty="0"/>
                    </a:p>
                  </a:txBody>
                  <a:tcPr/>
                </a:tc>
                <a:tc>
                  <a:txBody>
                    <a:bodyPr/>
                    <a:lstStyle/>
                    <a:p>
                      <a:r>
                        <a:rPr lang="en-US" dirty="0" smtClean="0"/>
                        <a:t>Subclass</a:t>
                      </a:r>
                      <a:endParaRPr lang="en-US" dirty="0"/>
                    </a:p>
                  </a:txBody>
                  <a:tcPr/>
                </a:tc>
                <a:tc>
                  <a:txBody>
                    <a:bodyPr/>
                    <a:lstStyle/>
                    <a:p>
                      <a:r>
                        <a:rPr lang="en-US" dirty="0" smtClean="0"/>
                        <a:t>World</a:t>
                      </a:r>
                      <a:endParaRPr lang="en-US" dirty="0"/>
                    </a:p>
                  </a:txBody>
                  <a:tcPr/>
                </a:tc>
              </a:tr>
              <a:tr h="370840">
                <a:tc>
                  <a:txBody>
                    <a:bodyPr/>
                    <a:lstStyle/>
                    <a:p>
                      <a:r>
                        <a:rPr lang="en-US" dirty="0" smtClean="0">
                          <a:solidFill>
                            <a:schemeClr val="accent5"/>
                          </a:solidFill>
                        </a:rPr>
                        <a:t>public</a:t>
                      </a:r>
                      <a:endParaRPr lang="en-US" dirty="0">
                        <a:solidFill>
                          <a:schemeClr val="accent5"/>
                        </a:solidFill>
                      </a:endParaRPr>
                    </a:p>
                  </a:txBody>
                  <a:tcPr/>
                </a:tc>
                <a:tc>
                  <a:txBody>
                    <a:bodyPr/>
                    <a:lstStyle/>
                    <a:p>
                      <a:r>
                        <a:rPr lang="en-US" dirty="0" smtClean="0"/>
                        <a:t>Yes</a:t>
                      </a:r>
                      <a:endParaRPr lang="en-US" dirty="0"/>
                    </a:p>
                  </a:txBody>
                  <a:tcPr/>
                </a:tc>
                <a:tc>
                  <a:txBody>
                    <a:bodyPr/>
                    <a:lstStyle/>
                    <a:p>
                      <a:r>
                        <a:rPr lang="en-US" dirty="0" smtClean="0"/>
                        <a:t>Yes</a:t>
                      </a:r>
                      <a:endParaRPr lang="en-US" dirty="0"/>
                    </a:p>
                  </a:txBody>
                  <a:tcPr/>
                </a:tc>
                <a:tc>
                  <a:txBody>
                    <a:bodyPr/>
                    <a:lstStyle/>
                    <a:p>
                      <a:r>
                        <a:rPr lang="en-US" dirty="0" smtClean="0"/>
                        <a:t>Yes</a:t>
                      </a:r>
                      <a:endParaRPr lang="en-US" dirty="0"/>
                    </a:p>
                  </a:txBody>
                  <a:tcPr/>
                </a:tc>
                <a:tc>
                  <a:txBody>
                    <a:bodyPr/>
                    <a:lstStyle/>
                    <a:p>
                      <a:r>
                        <a:rPr lang="en-US" dirty="0" smtClean="0"/>
                        <a:t>Yes</a:t>
                      </a:r>
                      <a:endParaRPr lang="en-US" dirty="0"/>
                    </a:p>
                  </a:txBody>
                  <a:tcPr/>
                </a:tc>
              </a:tr>
              <a:tr h="370840">
                <a:tc>
                  <a:txBody>
                    <a:bodyPr/>
                    <a:lstStyle/>
                    <a:p>
                      <a:r>
                        <a:rPr lang="en-US" dirty="0" smtClean="0">
                          <a:solidFill>
                            <a:schemeClr val="accent5"/>
                          </a:solidFill>
                        </a:rPr>
                        <a:t>protected</a:t>
                      </a:r>
                      <a:endParaRPr lang="en-US" dirty="0">
                        <a:solidFill>
                          <a:schemeClr val="accent5"/>
                        </a:solidFill>
                      </a:endParaRPr>
                    </a:p>
                  </a:txBody>
                  <a:tcPr/>
                </a:tc>
                <a:tc>
                  <a:txBody>
                    <a:bodyPr/>
                    <a:lstStyle/>
                    <a:p>
                      <a:r>
                        <a:rPr lang="en-US" dirty="0" smtClean="0"/>
                        <a:t>Yes</a:t>
                      </a:r>
                      <a:endParaRPr lang="en-US" dirty="0"/>
                    </a:p>
                  </a:txBody>
                  <a:tcPr/>
                </a:tc>
                <a:tc>
                  <a:txBody>
                    <a:bodyPr/>
                    <a:lstStyle/>
                    <a:p>
                      <a:r>
                        <a:rPr lang="en-US" dirty="0" smtClean="0"/>
                        <a:t>Yes</a:t>
                      </a:r>
                      <a:endParaRPr lang="en-US" dirty="0"/>
                    </a:p>
                  </a:txBody>
                  <a:tcPr/>
                </a:tc>
                <a:tc>
                  <a:txBody>
                    <a:bodyPr/>
                    <a:lstStyle/>
                    <a:p>
                      <a:r>
                        <a:rPr lang="en-US" dirty="0" smtClean="0"/>
                        <a:t>Yes</a:t>
                      </a:r>
                      <a:endParaRPr lang="en-US" dirty="0"/>
                    </a:p>
                  </a:txBody>
                  <a:tcPr/>
                </a:tc>
                <a:tc>
                  <a:txBody>
                    <a:bodyPr/>
                    <a:lstStyle/>
                    <a:p>
                      <a:r>
                        <a:rPr lang="en-US" dirty="0" smtClean="0">
                          <a:solidFill>
                            <a:srgbClr val="FF0000"/>
                          </a:solidFill>
                        </a:rPr>
                        <a:t>No</a:t>
                      </a:r>
                      <a:endParaRPr lang="en-US" dirty="0">
                        <a:solidFill>
                          <a:srgbClr val="FF0000"/>
                        </a:solidFill>
                      </a:endParaRPr>
                    </a:p>
                  </a:txBody>
                  <a:tcPr/>
                </a:tc>
              </a:tr>
              <a:tr h="370840">
                <a:tc>
                  <a:txBody>
                    <a:bodyPr/>
                    <a:lstStyle/>
                    <a:p>
                      <a:r>
                        <a:rPr lang="en-US" dirty="0" smtClean="0"/>
                        <a:t>No modifier</a:t>
                      </a:r>
                      <a:endParaRPr lang="en-US" dirty="0"/>
                    </a:p>
                  </a:txBody>
                  <a:tcPr/>
                </a:tc>
                <a:tc>
                  <a:txBody>
                    <a:bodyPr/>
                    <a:lstStyle/>
                    <a:p>
                      <a:r>
                        <a:rPr lang="en-US" dirty="0" smtClean="0"/>
                        <a:t>Yes</a:t>
                      </a:r>
                      <a:endParaRPr lang="en-US" dirty="0"/>
                    </a:p>
                  </a:txBody>
                  <a:tcPr/>
                </a:tc>
                <a:tc>
                  <a:txBody>
                    <a:bodyPr/>
                    <a:lstStyle/>
                    <a:p>
                      <a:r>
                        <a:rPr lang="en-US" dirty="0" smtClean="0"/>
                        <a:t>Yes</a:t>
                      </a:r>
                      <a:endParaRPr lang="en-US" dirty="0"/>
                    </a:p>
                  </a:txBody>
                  <a:tcPr/>
                </a:tc>
                <a:tc>
                  <a:txBody>
                    <a:bodyPr/>
                    <a:lstStyle/>
                    <a:p>
                      <a:r>
                        <a:rPr lang="en-US" dirty="0" smtClean="0">
                          <a:solidFill>
                            <a:srgbClr val="FF0000"/>
                          </a:solidFill>
                        </a:rPr>
                        <a:t>No</a:t>
                      </a:r>
                      <a:endParaRPr lang="en-US" dirty="0">
                        <a:solidFill>
                          <a:srgbClr val="FF0000"/>
                        </a:solidFill>
                      </a:endParaRPr>
                    </a:p>
                  </a:txBody>
                  <a:tcPr/>
                </a:tc>
                <a:tc>
                  <a:txBody>
                    <a:bodyPr/>
                    <a:lstStyle/>
                    <a:p>
                      <a:r>
                        <a:rPr lang="en-US" dirty="0" smtClean="0">
                          <a:solidFill>
                            <a:srgbClr val="FF0000"/>
                          </a:solidFill>
                        </a:rPr>
                        <a:t>No</a:t>
                      </a:r>
                      <a:endParaRPr lang="en-US" dirty="0">
                        <a:solidFill>
                          <a:srgbClr val="FF0000"/>
                        </a:solidFill>
                      </a:endParaRPr>
                    </a:p>
                  </a:txBody>
                  <a:tcPr/>
                </a:tc>
              </a:tr>
              <a:tr h="370840">
                <a:tc>
                  <a:txBody>
                    <a:bodyPr/>
                    <a:lstStyle/>
                    <a:p>
                      <a:r>
                        <a:rPr lang="en-US" dirty="0" smtClean="0">
                          <a:solidFill>
                            <a:schemeClr val="accent5"/>
                          </a:solidFill>
                        </a:rPr>
                        <a:t>private</a:t>
                      </a:r>
                      <a:endParaRPr lang="en-US" dirty="0">
                        <a:solidFill>
                          <a:schemeClr val="accent5"/>
                        </a:solidFill>
                      </a:endParaRPr>
                    </a:p>
                  </a:txBody>
                  <a:tcPr/>
                </a:tc>
                <a:tc>
                  <a:txBody>
                    <a:bodyPr/>
                    <a:lstStyle/>
                    <a:p>
                      <a:r>
                        <a:rPr lang="en-US" dirty="0" smtClean="0"/>
                        <a:t>Yes</a:t>
                      </a:r>
                      <a:endParaRPr lang="en-US" dirty="0"/>
                    </a:p>
                  </a:txBody>
                  <a:tcPr/>
                </a:tc>
                <a:tc>
                  <a:txBody>
                    <a:bodyPr/>
                    <a:lstStyle/>
                    <a:p>
                      <a:r>
                        <a:rPr lang="en-US" dirty="0" smtClean="0">
                          <a:solidFill>
                            <a:srgbClr val="FF0000"/>
                          </a:solidFill>
                        </a:rPr>
                        <a:t>No</a:t>
                      </a:r>
                      <a:endParaRPr lang="en-US" dirty="0">
                        <a:solidFill>
                          <a:srgbClr val="FF0000"/>
                        </a:solidFill>
                      </a:endParaRPr>
                    </a:p>
                  </a:txBody>
                  <a:tcPr/>
                </a:tc>
                <a:tc>
                  <a:txBody>
                    <a:bodyPr/>
                    <a:lstStyle/>
                    <a:p>
                      <a:r>
                        <a:rPr lang="en-US" dirty="0" smtClean="0">
                          <a:solidFill>
                            <a:srgbClr val="FF0000"/>
                          </a:solidFill>
                        </a:rPr>
                        <a:t>No</a:t>
                      </a:r>
                      <a:endParaRPr lang="en-US" dirty="0">
                        <a:solidFill>
                          <a:srgbClr val="FF0000"/>
                        </a:solidFill>
                      </a:endParaRPr>
                    </a:p>
                  </a:txBody>
                  <a:tcPr/>
                </a:tc>
                <a:tc>
                  <a:txBody>
                    <a:bodyPr/>
                    <a:lstStyle/>
                    <a:p>
                      <a:r>
                        <a:rPr lang="en-US" dirty="0" smtClean="0">
                          <a:solidFill>
                            <a:srgbClr val="FF0000"/>
                          </a:solidFill>
                        </a:rPr>
                        <a:t>No</a:t>
                      </a:r>
                      <a:endParaRPr lang="en-US" dirty="0">
                        <a:solidFill>
                          <a:srgbClr val="FF0000"/>
                        </a:solidFill>
                      </a:endParaRPr>
                    </a:p>
                  </a:txBody>
                  <a:tcPr/>
                </a:tc>
              </a:tr>
            </a:tbl>
          </a:graphicData>
        </a:graphic>
      </p:graphicFrame>
      <p:sp>
        <p:nvSpPr>
          <p:cNvPr id="4" name="Content Placeholder 3"/>
          <p:cNvSpPr>
            <a:spLocks noGrp="1"/>
          </p:cNvSpPr>
          <p:nvPr>
            <p:ph sz="half" idx="2"/>
          </p:nvPr>
        </p:nvSpPr>
        <p:spPr>
          <a:xfrm>
            <a:off x="838200" y="1690688"/>
            <a:ext cx="5181600" cy="4351338"/>
          </a:xfrm>
        </p:spPr>
        <p:txBody>
          <a:bodyPr/>
          <a:lstStyle/>
          <a:p>
            <a:r>
              <a:rPr lang="en-US" dirty="0">
                <a:solidFill>
                  <a:schemeClr val="accent5"/>
                </a:solidFill>
              </a:rPr>
              <a:t>p</a:t>
            </a:r>
            <a:r>
              <a:rPr lang="en-US" dirty="0" smtClean="0">
                <a:solidFill>
                  <a:schemeClr val="accent5"/>
                </a:solidFill>
              </a:rPr>
              <a:t>ublic</a:t>
            </a:r>
            <a:r>
              <a:rPr lang="en-US" dirty="0" smtClean="0"/>
              <a:t>: visible to the entire world</a:t>
            </a:r>
          </a:p>
          <a:p>
            <a:r>
              <a:rPr lang="en-US" dirty="0">
                <a:solidFill>
                  <a:schemeClr val="accent5"/>
                </a:solidFill>
              </a:rPr>
              <a:t>p</a:t>
            </a:r>
            <a:r>
              <a:rPr lang="en-US" dirty="0" smtClean="0">
                <a:solidFill>
                  <a:schemeClr val="accent5"/>
                </a:solidFill>
              </a:rPr>
              <a:t>rotected</a:t>
            </a:r>
            <a:r>
              <a:rPr lang="en-US" dirty="0" smtClean="0"/>
              <a:t>: only visible to the package and all subclasses</a:t>
            </a:r>
          </a:p>
          <a:p>
            <a:r>
              <a:rPr lang="en-US" dirty="0" smtClean="0"/>
              <a:t>No modifier (the default): only visible to the package</a:t>
            </a:r>
          </a:p>
          <a:p>
            <a:r>
              <a:rPr lang="en-US" dirty="0">
                <a:solidFill>
                  <a:schemeClr val="accent5"/>
                </a:solidFill>
              </a:rPr>
              <a:t>p</a:t>
            </a:r>
            <a:r>
              <a:rPr lang="en-US" dirty="0" smtClean="0">
                <a:solidFill>
                  <a:schemeClr val="accent5"/>
                </a:solidFill>
              </a:rPr>
              <a:t>rivate</a:t>
            </a:r>
            <a:r>
              <a:rPr lang="en-US" dirty="0" smtClean="0"/>
              <a:t>: only visible to itself</a:t>
            </a:r>
            <a:endParaRPr lang="en-US" dirty="0"/>
          </a:p>
        </p:txBody>
      </p:sp>
      <p:sp>
        <p:nvSpPr>
          <p:cNvPr id="6" name="TextBox 5"/>
          <p:cNvSpPr txBox="1"/>
          <p:nvPr/>
        </p:nvSpPr>
        <p:spPr>
          <a:xfrm>
            <a:off x="6762044" y="1690688"/>
            <a:ext cx="4459112" cy="400110"/>
          </a:xfrm>
          <a:prstGeom prst="rect">
            <a:avLst/>
          </a:prstGeom>
          <a:noFill/>
        </p:spPr>
        <p:txBody>
          <a:bodyPr wrap="square" rtlCol="0">
            <a:spAutoFit/>
          </a:bodyPr>
          <a:lstStyle/>
          <a:p>
            <a:r>
              <a:rPr lang="en-US" sz="2000" dirty="0" smtClean="0"/>
              <a:t>Visibility table of different modifiers</a:t>
            </a:r>
            <a:endParaRPr lang="en-US" sz="2000" dirty="0"/>
          </a:p>
        </p:txBody>
      </p:sp>
      <p:sp>
        <p:nvSpPr>
          <p:cNvPr id="3" name="Slide Number Placeholder 2"/>
          <p:cNvSpPr>
            <a:spLocks noGrp="1"/>
          </p:cNvSpPr>
          <p:nvPr>
            <p:ph type="sldNum" sz="quarter" idx="12"/>
          </p:nvPr>
        </p:nvSpPr>
        <p:spPr/>
        <p:txBody>
          <a:bodyPr/>
          <a:lstStyle/>
          <a:p>
            <a:fld id="{965D6772-41C1-4987-827C-16EA866C2326}" type="slidenum">
              <a:rPr lang="en-US" smtClean="0"/>
              <a:t>7</a:t>
            </a:fld>
            <a:endParaRPr lang="en-US"/>
          </a:p>
        </p:txBody>
      </p:sp>
    </p:spTree>
    <p:extLst>
      <p:ext uri="{BB962C8B-B14F-4D97-AF65-F5344CB8AC3E}">
        <p14:creationId xmlns:p14="http://schemas.microsoft.com/office/powerpoint/2010/main" val="3716014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Default: Package-Private</a:t>
            </a:r>
            <a:endParaRPr lang="en-US" dirty="0"/>
          </a:p>
        </p:txBody>
      </p:sp>
      <p:sp>
        <p:nvSpPr>
          <p:cNvPr id="3" name="Content Placeholder 2"/>
          <p:cNvSpPr>
            <a:spLocks noGrp="1"/>
          </p:cNvSpPr>
          <p:nvPr>
            <p:ph idx="1"/>
          </p:nvPr>
        </p:nvSpPr>
        <p:spPr/>
        <p:txBody>
          <a:bodyPr/>
          <a:lstStyle/>
          <a:p>
            <a:r>
              <a:rPr lang="en-US" dirty="0" smtClean="0"/>
              <a:t>A package groups related types (classes, interfaces, …)</a:t>
            </a:r>
          </a:p>
          <a:p>
            <a:r>
              <a:rPr lang="en-US" dirty="0" smtClean="0"/>
              <a:t>A package creates a namespace</a:t>
            </a:r>
          </a:p>
          <a:p>
            <a:r>
              <a:rPr lang="en-US" dirty="0" smtClean="0"/>
              <a:t>Files in the same package have to be put in a specific directory</a:t>
            </a:r>
          </a:p>
          <a:p>
            <a:pPr lvl="1"/>
            <a:r>
              <a:rPr lang="en-US" dirty="0" smtClean="0"/>
              <a:t>We will learn more about packages in future</a:t>
            </a:r>
          </a:p>
          <a:p>
            <a:endParaRPr lang="en-US" dirty="0" smtClean="0"/>
          </a:p>
          <a:p>
            <a:r>
              <a:rPr lang="en-US" dirty="0" smtClean="0"/>
              <a:t>When no modifier is specified, it’s by default only visible to members in its package, i.e. package-private</a:t>
            </a:r>
          </a:p>
          <a:p>
            <a:endParaRPr lang="en-US" dirty="0"/>
          </a:p>
        </p:txBody>
      </p:sp>
      <p:sp>
        <p:nvSpPr>
          <p:cNvPr id="4" name="Slide Number Placeholder 3"/>
          <p:cNvSpPr>
            <a:spLocks noGrp="1"/>
          </p:cNvSpPr>
          <p:nvPr>
            <p:ph type="sldNum" sz="quarter" idx="12"/>
          </p:nvPr>
        </p:nvSpPr>
        <p:spPr/>
        <p:txBody>
          <a:bodyPr/>
          <a:lstStyle/>
          <a:p>
            <a:fld id="{965D6772-41C1-4987-827C-16EA866C2326}" type="slidenum">
              <a:rPr lang="en-US" smtClean="0"/>
              <a:t>8</a:t>
            </a:fld>
            <a:endParaRPr lang="en-US"/>
          </a:p>
        </p:txBody>
      </p:sp>
    </p:spTree>
    <p:extLst>
      <p:ext uri="{BB962C8B-B14F-4D97-AF65-F5344CB8AC3E}">
        <p14:creationId xmlns:p14="http://schemas.microsoft.com/office/powerpoint/2010/main" val="1646179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a:solidFill>
                  <a:schemeClr val="accent5"/>
                </a:solidFill>
              </a:rPr>
              <a:t>p</a:t>
            </a:r>
            <a:r>
              <a:rPr lang="en-US" dirty="0" smtClean="0">
                <a:solidFill>
                  <a:schemeClr val="accent5"/>
                </a:solidFill>
              </a:rPr>
              <a:t>ublic</a:t>
            </a:r>
            <a:r>
              <a:rPr lang="en-US" dirty="0" smtClean="0"/>
              <a:t> Modifier</a:t>
            </a:r>
            <a:endParaRPr lang="en-US" dirty="0"/>
          </a:p>
        </p:txBody>
      </p:sp>
      <p:sp>
        <p:nvSpPr>
          <p:cNvPr id="3" name="Content Placeholder 2"/>
          <p:cNvSpPr>
            <a:spLocks noGrp="1"/>
          </p:cNvSpPr>
          <p:nvPr>
            <p:ph sz="half" idx="1"/>
          </p:nvPr>
        </p:nvSpPr>
        <p:spPr/>
        <p:txBody>
          <a:bodyPr/>
          <a:lstStyle/>
          <a:p>
            <a:r>
              <a:rPr lang="en-US" dirty="0" smtClean="0"/>
              <a:t>Cookie.java in one directory:</a:t>
            </a:r>
          </a:p>
          <a:p>
            <a:pPr marL="0" indent="0">
              <a:buNone/>
            </a:pPr>
            <a:r>
              <a:rPr lang="en-US" sz="2000" dirty="0">
                <a:solidFill>
                  <a:schemeClr val="accent5"/>
                </a:solidFill>
              </a:rPr>
              <a:t>p</a:t>
            </a:r>
            <a:r>
              <a:rPr lang="en-US" sz="2000" dirty="0" smtClean="0">
                <a:solidFill>
                  <a:schemeClr val="accent5"/>
                </a:solidFill>
              </a:rPr>
              <a:t>ackage </a:t>
            </a:r>
            <a:r>
              <a:rPr lang="en-US" sz="2000" dirty="0" err="1" smtClean="0">
                <a:solidFill>
                  <a:schemeClr val="accent5"/>
                </a:solidFill>
              </a:rPr>
              <a:t>access.dessert</a:t>
            </a:r>
            <a:r>
              <a:rPr lang="en-US" sz="2000" dirty="0" smtClean="0">
                <a:solidFill>
                  <a:schemeClr val="accent5"/>
                </a:solidFill>
              </a:rPr>
              <a:t>;</a:t>
            </a:r>
          </a:p>
          <a:p>
            <a:pPr marL="0" indent="0">
              <a:buNone/>
            </a:pPr>
            <a:r>
              <a:rPr lang="en-US" sz="2000" dirty="0" smtClean="0">
                <a:solidFill>
                  <a:schemeClr val="accent5"/>
                </a:solidFill>
              </a:rPr>
              <a:t>public class Cookie {</a:t>
            </a:r>
          </a:p>
          <a:p>
            <a:pPr marL="0" indent="0">
              <a:buNone/>
            </a:pPr>
            <a:r>
              <a:rPr lang="en-US" sz="2000" dirty="0" smtClean="0">
                <a:solidFill>
                  <a:schemeClr val="accent5"/>
                </a:solidFill>
              </a:rPr>
              <a:t>  public Cookie() {</a:t>
            </a:r>
          </a:p>
          <a:p>
            <a:pPr marL="0" indent="0">
              <a:buNone/>
            </a:pPr>
            <a:r>
              <a:rPr lang="en-US" sz="2000" dirty="0" smtClean="0">
                <a:solidFill>
                  <a:schemeClr val="accent5"/>
                </a:solidFill>
              </a:rPr>
              <a:t>    </a:t>
            </a:r>
            <a:r>
              <a:rPr lang="en-US" sz="2000" dirty="0" err="1" smtClean="0">
                <a:solidFill>
                  <a:schemeClr val="accent5"/>
                </a:solidFill>
              </a:rPr>
              <a:t>System.out.println</a:t>
            </a:r>
            <a:r>
              <a:rPr lang="en-US" sz="2000" dirty="0" smtClean="0">
                <a:solidFill>
                  <a:schemeClr val="accent5"/>
                </a:solidFill>
              </a:rPr>
              <a:t>("Cookie constructor");</a:t>
            </a:r>
          </a:p>
          <a:p>
            <a:pPr marL="0" indent="0">
              <a:buNone/>
            </a:pPr>
            <a:r>
              <a:rPr lang="en-US" sz="2000" dirty="0" smtClean="0">
                <a:solidFill>
                  <a:schemeClr val="accent5"/>
                </a:solidFill>
              </a:rPr>
              <a:t>  }</a:t>
            </a:r>
          </a:p>
          <a:p>
            <a:pPr marL="0" indent="0">
              <a:buNone/>
            </a:pPr>
            <a:r>
              <a:rPr lang="en-US" sz="2000" dirty="0" smtClean="0">
                <a:solidFill>
                  <a:schemeClr val="accent5"/>
                </a:solidFill>
              </a:rPr>
              <a:t>  void bite() { </a:t>
            </a:r>
            <a:r>
              <a:rPr lang="en-US" sz="2000" dirty="0" err="1" smtClean="0">
                <a:solidFill>
                  <a:schemeClr val="accent5"/>
                </a:solidFill>
              </a:rPr>
              <a:t>System.out.println</a:t>
            </a:r>
            <a:r>
              <a:rPr lang="en-US" sz="2000" dirty="0" smtClean="0">
                <a:solidFill>
                  <a:schemeClr val="accent5"/>
                </a:solidFill>
              </a:rPr>
              <a:t>("bite"); }</a:t>
            </a:r>
          </a:p>
          <a:p>
            <a:pPr marL="0" indent="0">
              <a:buNone/>
            </a:pPr>
            <a:r>
              <a:rPr lang="en-US" sz="2000" dirty="0" smtClean="0">
                <a:solidFill>
                  <a:schemeClr val="accent5"/>
                </a:solidFill>
              </a:rPr>
              <a:t>}</a:t>
            </a:r>
          </a:p>
          <a:p>
            <a:pPr marL="0" indent="0">
              <a:buNone/>
            </a:pPr>
            <a:endParaRPr lang="en-US" sz="1800" dirty="0"/>
          </a:p>
        </p:txBody>
      </p:sp>
      <p:sp>
        <p:nvSpPr>
          <p:cNvPr id="4" name="Content Placeholder 3"/>
          <p:cNvSpPr>
            <a:spLocks noGrp="1"/>
          </p:cNvSpPr>
          <p:nvPr>
            <p:ph sz="half" idx="2"/>
          </p:nvPr>
        </p:nvSpPr>
        <p:spPr>
          <a:xfrm>
            <a:off x="6019800" y="1825625"/>
            <a:ext cx="5334000" cy="4351338"/>
          </a:xfrm>
        </p:spPr>
        <p:txBody>
          <a:bodyPr/>
          <a:lstStyle/>
          <a:p>
            <a:r>
              <a:rPr lang="en-US" dirty="0" smtClean="0"/>
              <a:t>Dinner.java </a:t>
            </a:r>
            <a:r>
              <a:rPr lang="en-US" dirty="0" smtClean="0">
                <a:solidFill>
                  <a:srgbClr val="FF0000"/>
                </a:solidFill>
              </a:rPr>
              <a:t>in a different package</a:t>
            </a:r>
          </a:p>
          <a:p>
            <a:pPr marL="0" indent="0">
              <a:buNone/>
            </a:pPr>
            <a:r>
              <a:rPr lang="en-US" sz="2000" dirty="0">
                <a:solidFill>
                  <a:schemeClr val="accent5"/>
                </a:solidFill>
              </a:rPr>
              <a:t>i</a:t>
            </a:r>
            <a:r>
              <a:rPr lang="en-US" sz="2000" dirty="0" smtClean="0">
                <a:solidFill>
                  <a:schemeClr val="accent5"/>
                </a:solidFill>
              </a:rPr>
              <a:t>mport </a:t>
            </a:r>
            <a:r>
              <a:rPr lang="en-US" sz="2000" dirty="0" err="1" smtClean="0">
                <a:solidFill>
                  <a:schemeClr val="accent5"/>
                </a:solidFill>
              </a:rPr>
              <a:t>access.dessert</a:t>
            </a:r>
            <a:r>
              <a:rPr lang="en-US" sz="2000" dirty="0" smtClean="0">
                <a:solidFill>
                  <a:schemeClr val="accent5"/>
                </a:solidFill>
              </a:rPr>
              <a:t>.*;</a:t>
            </a:r>
          </a:p>
          <a:p>
            <a:pPr marL="0" indent="0">
              <a:buNone/>
            </a:pPr>
            <a:r>
              <a:rPr lang="en-US" sz="2000" dirty="0" smtClean="0">
                <a:solidFill>
                  <a:schemeClr val="accent5"/>
                </a:solidFill>
              </a:rPr>
              <a:t>public class Dinner {</a:t>
            </a:r>
          </a:p>
          <a:p>
            <a:pPr marL="0" indent="0">
              <a:buNone/>
            </a:pPr>
            <a:r>
              <a:rPr lang="en-US" sz="2000" dirty="0" smtClean="0">
                <a:solidFill>
                  <a:schemeClr val="accent5"/>
                </a:solidFill>
              </a:rPr>
              <a:t>  public static void main(String[] </a:t>
            </a:r>
            <a:r>
              <a:rPr lang="en-US" sz="2000" dirty="0" err="1" smtClean="0">
                <a:solidFill>
                  <a:schemeClr val="accent5"/>
                </a:solidFill>
              </a:rPr>
              <a:t>args</a:t>
            </a:r>
            <a:r>
              <a:rPr lang="en-US" sz="2000" dirty="0" smtClean="0">
                <a:solidFill>
                  <a:schemeClr val="accent5"/>
                </a:solidFill>
              </a:rPr>
              <a:t>) {</a:t>
            </a:r>
          </a:p>
          <a:p>
            <a:pPr marL="0" indent="0">
              <a:buNone/>
            </a:pPr>
            <a:r>
              <a:rPr lang="en-US" sz="2000" dirty="0" smtClean="0">
                <a:solidFill>
                  <a:schemeClr val="accent5"/>
                </a:solidFill>
              </a:rPr>
              <a:t>     Cookie x = new Cookie();</a:t>
            </a:r>
          </a:p>
          <a:p>
            <a:pPr marL="0" indent="0">
              <a:buNone/>
            </a:pPr>
            <a:r>
              <a:rPr lang="en-US" sz="2000" dirty="0" smtClean="0">
                <a:solidFill>
                  <a:schemeClr val="accent5"/>
                </a:solidFill>
              </a:rPr>
              <a:t>     //! </a:t>
            </a:r>
            <a:r>
              <a:rPr lang="en-US" sz="2000" dirty="0" err="1" smtClean="0">
                <a:solidFill>
                  <a:schemeClr val="accent5"/>
                </a:solidFill>
              </a:rPr>
              <a:t>x.bite</a:t>
            </a:r>
            <a:r>
              <a:rPr lang="en-US" sz="2000" dirty="0" smtClean="0">
                <a:solidFill>
                  <a:schemeClr val="accent5"/>
                </a:solidFill>
              </a:rPr>
              <a:t>(); // Can't access</a:t>
            </a:r>
          </a:p>
          <a:p>
            <a:pPr marL="0" indent="0">
              <a:buNone/>
            </a:pPr>
            <a:r>
              <a:rPr lang="en-US" sz="2000" dirty="0" smtClean="0">
                <a:solidFill>
                  <a:schemeClr val="accent5"/>
                </a:solidFill>
              </a:rPr>
              <a:t>  }</a:t>
            </a:r>
          </a:p>
          <a:p>
            <a:pPr marL="0" indent="0">
              <a:buNone/>
            </a:pPr>
            <a:r>
              <a:rPr lang="en-US" sz="2000" dirty="0" smtClean="0">
                <a:solidFill>
                  <a:schemeClr val="accent5"/>
                </a:solidFill>
              </a:rPr>
              <a:t>} </a:t>
            </a:r>
          </a:p>
          <a:p>
            <a:pPr marL="0" indent="0">
              <a:buNone/>
            </a:pPr>
            <a:r>
              <a:rPr lang="en-US" sz="2000" dirty="0" smtClean="0">
                <a:solidFill>
                  <a:schemeClr val="accent5"/>
                </a:solidFill>
              </a:rPr>
              <a:t>// Output: Cookie constructor</a:t>
            </a:r>
            <a:endParaRPr lang="en-US" sz="2000"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9</a:t>
            </a:fld>
            <a:endParaRPr lang="en-US"/>
          </a:p>
        </p:txBody>
      </p:sp>
    </p:spTree>
    <p:extLst>
      <p:ext uri="{BB962C8B-B14F-4D97-AF65-F5344CB8AC3E}">
        <p14:creationId xmlns:p14="http://schemas.microsoft.com/office/powerpoint/2010/main" val="3676839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solidFill>
                  <a:schemeClr val="accent5"/>
                </a:solidFill>
              </a:rPr>
              <a:t>private</a:t>
            </a:r>
            <a:r>
              <a:rPr lang="en-US" dirty="0" smtClean="0"/>
              <a:t> Modifier</a:t>
            </a:r>
            <a:endParaRPr lang="en-US" dirty="0"/>
          </a:p>
        </p:txBody>
      </p:sp>
      <p:sp>
        <p:nvSpPr>
          <p:cNvPr id="3" name="Content Placeholder 2"/>
          <p:cNvSpPr>
            <a:spLocks noGrp="1"/>
          </p:cNvSpPr>
          <p:nvPr>
            <p:ph sz="half" idx="1"/>
          </p:nvPr>
        </p:nvSpPr>
        <p:spPr/>
        <p:txBody>
          <a:bodyPr>
            <a:normAutofit/>
          </a:bodyPr>
          <a:lstStyle/>
          <a:p>
            <a:r>
              <a:rPr lang="en-US" dirty="0" smtClean="0"/>
              <a:t>Typically, </a:t>
            </a:r>
            <a:r>
              <a:rPr lang="en-US" dirty="0" smtClean="0"/>
              <a:t>fields (</a:t>
            </a:r>
            <a:r>
              <a:rPr lang="en-US" i="1" dirty="0" smtClean="0">
                <a:solidFill>
                  <a:srgbClr val="5B9BD5"/>
                </a:solidFill>
              </a:rPr>
              <a:t>variables inside a class</a:t>
            </a:r>
            <a:r>
              <a:rPr lang="en-US" dirty="0" smtClean="0"/>
              <a:t>) </a:t>
            </a:r>
            <a:r>
              <a:rPr lang="en-US" dirty="0" smtClean="0"/>
              <a:t>are declared private, and non-private methods are defined to access private fields.</a:t>
            </a:r>
          </a:p>
          <a:p>
            <a:r>
              <a:rPr lang="en-US" dirty="0" smtClean="0"/>
              <a:t>Sometimes, you want to control how objects are created and prevent directly accessing constructors. E.g.:</a:t>
            </a:r>
            <a:endParaRPr lang="en-US" dirty="0"/>
          </a:p>
        </p:txBody>
      </p:sp>
      <p:sp>
        <p:nvSpPr>
          <p:cNvPr id="4" name="Content Placeholder 3"/>
          <p:cNvSpPr>
            <a:spLocks noGrp="1"/>
          </p:cNvSpPr>
          <p:nvPr>
            <p:ph sz="half" idx="2"/>
          </p:nvPr>
        </p:nvSpPr>
        <p:spPr>
          <a:xfrm>
            <a:off x="6172200" y="857956"/>
            <a:ext cx="5181600" cy="5319007"/>
          </a:xfrm>
        </p:spPr>
        <p:txBody>
          <a:bodyPr>
            <a:normAutofit/>
          </a:bodyPr>
          <a:lstStyle/>
          <a:p>
            <a:pPr marL="0" indent="0">
              <a:buNone/>
            </a:pPr>
            <a:r>
              <a:rPr lang="en-US" sz="2000" dirty="0" smtClean="0">
                <a:solidFill>
                  <a:schemeClr val="accent5"/>
                </a:solidFill>
              </a:rPr>
              <a:t>class Sundae {</a:t>
            </a:r>
          </a:p>
          <a:p>
            <a:pPr marL="0" indent="0">
              <a:buNone/>
            </a:pPr>
            <a:r>
              <a:rPr lang="en-US" sz="2000" dirty="0" smtClean="0">
                <a:solidFill>
                  <a:schemeClr val="accent5"/>
                </a:solidFill>
              </a:rPr>
              <a:t>  private Sundae() {}</a:t>
            </a:r>
          </a:p>
          <a:p>
            <a:pPr marL="0" indent="0">
              <a:buNone/>
            </a:pPr>
            <a:r>
              <a:rPr lang="en-US" sz="2000" dirty="0" smtClean="0">
                <a:solidFill>
                  <a:schemeClr val="accent5"/>
                </a:solidFill>
              </a:rPr>
              <a:t>  static Sundae </a:t>
            </a:r>
            <a:r>
              <a:rPr lang="en-US" sz="2000" dirty="0" err="1" smtClean="0">
                <a:solidFill>
                  <a:schemeClr val="accent5"/>
                </a:solidFill>
              </a:rPr>
              <a:t>makeASundae</a:t>
            </a:r>
            <a:r>
              <a:rPr lang="en-US" sz="2000" dirty="0" smtClean="0">
                <a:solidFill>
                  <a:schemeClr val="accent5"/>
                </a:solidFill>
              </a:rPr>
              <a:t>() {</a:t>
            </a:r>
          </a:p>
          <a:p>
            <a:pPr marL="0" indent="0">
              <a:buNone/>
            </a:pPr>
            <a:r>
              <a:rPr lang="en-US" sz="2000" dirty="0" smtClean="0">
                <a:solidFill>
                  <a:schemeClr val="accent5"/>
                </a:solidFill>
              </a:rPr>
              <a:t>    return new Sundae();</a:t>
            </a:r>
          </a:p>
          <a:p>
            <a:pPr marL="0" indent="0">
              <a:buNone/>
            </a:pPr>
            <a:r>
              <a:rPr lang="en-US" sz="2000" dirty="0" smtClean="0">
                <a:solidFill>
                  <a:schemeClr val="accent5"/>
                </a:solidFill>
              </a:rPr>
              <a:t>  }</a:t>
            </a:r>
          </a:p>
          <a:p>
            <a:pPr marL="0" indent="0">
              <a:buNone/>
            </a:pPr>
            <a:r>
              <a:rPr lang="en-US" sz="2000" dirty="0" smtClean="0">
                <a:solidFill>
                  <a:schemeClr val="accent5"/>
                </a:solidFill>
              </a:rPr>
              <a:t>}</a:t>
            </a:r>
          </a:p>
          <a:p>
            <a:pPr marL="0" indent="0">
              <a:buNone/>
            </a:pPr>
            <a:endParaRPr lang="en-US" sz="2000" dirty="0" smtClean="0">
              <a:solidFill>
                <a:schemeClr val="accent5"/>
              </a:solidFill>
            </a:endParaRPr>
          </a:p>
          <a:p>
            <a:pPr marL="0" indent="0">
              <a:buNone/>
            </a:pPr>
            <a:r>
              <a:rPr lang="en-US" sz="2000" dirty="0" smtClean="0">
                <a:solidFill>
                  <a:schemeClr val="accent5"/>
                </a:solidFill>
              </a:rPr>
              <a:t>public class </a:t>
            </a:r>
            <a:r>
              <a:rPr lang="en-US" sz="2000" dirty="0" err="1" smtClean="0">
                <a:solidFill>
                  <a:schemeClr val="accent5"/>
                </a:solidFill>
              </a:rPr>
              <a:t>IceCream</a:t>
            </a:r>
            <a:r>
              <a:rPr lang="en-US" sz="2000" dirty="0" smtClean="0">
                <a:solidFill>
                  <a:schemeClr val="accent5"/>
                </a:solidFill>
              </a:rPr>
              <a:t> {</a:t>
            </a:r>
          </a:p>
          <a:p>
            <a:pPr marL="0" indent="0">
              <a:buNone/>
            </a:pPr>
            <a:r>
              <a:rPr lang="en-US" sz="2000" dirty="0" smtClean="0">
                <a:solidFill>
                  <a:schemeClr val="accent5"/>
                </a:solidFill>
              </a:rPr>
              <a:t>  public static void main(String[] </a:t>
            </a:r>
            <a:r>
              <a:rPr lang="en-US" sz="2000" dirty="0" err="1" smtClean="0">
                <a:solidFill>
                  <a:schemeClr val="accent5"/>
                </a:solidFill>
              </a:rPr>
              <a:t>args</a:t>
            </a:r>
            <a:r>
              <a:rPr lang="en-US" sz="2000" dirty="0" smtClean="0">
                <a:solidFill>
                  <a:schemeClr val="accent5"/>
                </a:solidFill>
              </a:rPr>
              <a:t>) {</a:t>
            </a:r>
          </a:p>
          <a:p>
            <a:pPr marL="0" indent="0">
              <a:buNone/>
            </a:pPr>
            <a:r>
              <a:rPr lang="en-US" sz="2000" dirty="0" smtClean="0">
                <a:solidFill>
                  <a:schemeClr val="accent5"/>
                </a:solidFill>
              </a:rPr>
              <a:t>    //! Sundae x = new Sundae();</a:t>
            </a:r>
          </a:p>
          <a:p>
            <a:pPr marL="0" indent="0">
              <a:buNone/>
            </a:pPr>
            <a:r>
              <a:rPr lang="en-US" sz="2000" dirty="0" smtClean="0">
                <a:solidFill>
                  <a:schemeClr val="accent5"/>
                </a:solidFill>
              </a:rPr>
              <a:t>    Sundae x = </a:t>
            </a:r>
            <a:r>
              <a:rPr lang="en-US" sz="2000" dirty="0" err="1" smtClean="0">
                <a:solidFill>
                  <a:schemeClr val="accent5"/>
                </a:solidFill>
              </a:rPr>
              <a:t>Sundae.makeASundae</a:t>
            </a:r>
            <a:r>
              <a:rPr lang="en-US" sz="2000" dirty="0" smtClean="0">
                <a:solidFill>
                  <a:schemeClr val="accent5"/>
                </a:solidFill>
              </a:rPr>
              <a:t>();</a:t>
            </a:r>
          </a:p>
          <a:p>
            <a:pPr marL="0" indent="0">
              <a:buNone/>
            </a:pPr>
            <a:r>
              <a:rPr lang="en-US" sz="2000" dirty="0" smtClean="0">
                <a:solidFill>
                  <a:schemeClr val="accent5"/>
                </a:solidFill>
              </a:rPr>
              <a:t>  }</a:t>
            </a:r>
          </a:p>
          <a:p>
            <a:pPr marL="0" indent="0">
              <a:buNone/>
            </a:pPr>
            <a:r>
              <a:rPr lang="en-US" sz="2000" dirty="0" smtClean="0">
                <a:solidFill>
                  <a:schemeClr val="accent5"/>
                </a:solidFill>
              </a:rPr>
              <a:t>}</a:t>
            </a:r>
            <a:endParaRPr lang="en-US" sz="2000"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10</a:t>
            </a:fld>
            <a:endParaRPr lang="en-US"/>
          </a:p>
        </p:txBody>
      </p:sp>
    </p:spTree>
    <p:extLst>
      <p:ext uri="{BB962C8B-B14F-4D97-AF65-F5344CB8AC3E}">
        <p14:creationId xmlns:p14="http://schemas.microsoft.com/office/powerpoint/2010/main" val="2574394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solidFill>
                  <a:schemeClr val="accent5"/>
                </a:solidFill>
              </a:rPr>
              <a:t>protected</a:t>
            </a:r>
            <a:r>
              <a:rPr lang="en-US" dirty="0" smtClean="0"/>
              <a:t> Modifier</a:t>
            </a:r>
            <a:endParaRPr lang="en-US" dirty="0"/>
          </a:p>
        </p:txBody>
      </p:sp>
      <p:sp>
        <p:nvSpPr>
          <p:cNvPr id="3" name="Content Placeholder 2"/>
          <p:cNvSpPr>
            <a:spLocks noGrp="1"/>
          </p:cNvSpPr>
          <p:nvPr>
            <p:ph sz="half" idx="1"/>
          </p:nvPr>
        </p:nvSpPr>
        <p:spPr/>
        <p:txBody>
          <a:bodyPr>
            <a:normAutofit fontScale="85000" lnSpcReduction="20000"/>
          </a:bodyPr>
          <a:lstStyle/>
          <a:p>
            <a:r>
              <a:rPr lang="en-US" dirty="0" smtClean="0"/>
              <a:t>Cookie.java in one directory:</a:t>
            </a:r>
          </a:p>
          <a:p>
            <a:pPr marL="0" indent="0">
              <a:buNone/>
            </a:pPr>
            <a:r>
              <a:rPr lang="en-US" sz="2200" dirty="0" smtClean="0">
                <a:solidFill>
                  <a:schemeClr val="accent5"/>
                </a:solidFill>
              </a:rPr>
              <a:t>package </a:t>
            </a:r>
            <a:r>
              <a:rPr lang="en-US" sz="2200" dirty="0" err="1" smtClean="0">
                <a:solidFill>
                  <a:schemeClr val="accent5"/>
                </a:solidFill>
              </a:rPr>
              <a:t>access.dessert</a:t>
            </a:r>
            <a:r>
              <a:rPr lang="en-US" sz="2200" dirty="0" smtClean="0">
                <a:solidFill>
                  <a:schemeClr val="accent5"/>
                </a:solidFill>
              </a:rPr>
              <a:t>;</a:t>
            </a:r>
          </a:p>
          <a:p>
            <a:pPr marL="0" indent="0">
              <a:buNone/>
            </a:pPr>
            <a:r>
              <a:rPr lang="en-US" sz="2200" dirty="0" smtClean="0">
                <a:solidFill>
                  <a:schemeClr val="accent5"/>
                </a:solidFill>
              </a:rPr>
              <a:t>public class Cookie {</a:t>
            </a:r>
          </a:p>
          <a:p>
            <a:pPr marL="0" indent="0">
              <a:buNone/>
            </a:pPr>
            <a:r>
              <a:rPr lang="en-US" sz="2200" dirty="0" smtClean="0">
                <a:solidFill>
                  <a:schemeClr val="accent5"/>
                </a:solidFill>
              </a:rPr>
              <a:t>  public Cookie() {</a:t>
            </a:r>
          </a:p>
          <a:p>
            <a:pPr marL="0" indent="0">
              <a:buNone/>
            </a:pPr>
            <a:r>
              <a:rPr lang="en-US" sz="2200" dirty="0" smtClean="0">
                <a:solidFill>
                  <a:schemeClr val="accent5"/>
                </a:solidFill>
              </a:rPr>
              <a:t>    </a:t>
            </a:r>
            <a:r>
              <a:rPr lang="en-US" sz="2200" dirty="0" err="1" smtClean="0">
                <a:solidFill>
                  <a:schemeClr val="accent5"/>
                </a:solidFill>
              </a:rPr>
              <a:t>System.out.println</a:t>
            </a:r>
            <a:r>
              <a:rPr lang="en-US" sz="2200" dirty="0" smtClean="0">
                <a:solidFill>
                  <a:schemeClr val="accent5"/>
                </a:solidFill>
              </a:rPr>
              <a:t>("Cookie constructor");</a:t>
            </a:r>
          </a:p>
          <a:p>
            <a:pPr marL="0" indent="0">
              <a:buNone/>
            </a:pPr>
            <a:r>
              <a:rPr lang="en-US" sz="2200" dirty="0" smtClean="0">
                <a:solidFill>
                  <a:schemeClr val="accent5"/>
                </a:solidFill>
              </a:rPr>
              <a:t>  }</a:t>
            </a:r>
          </a:p>
          <a:p>
            <a:pPr marL="0" indent="0">
              <a:buNone/>
            </a:pPr>
            <a:r>
              <a:rPr lang="en-US" sz="2200" dirty="0" smtClean="0">
                <a:solidFill>
                  <a:schemeClr val="accent5"/>
                </a:solidFill>
              </a:rPr>
              <a:t>  </a:t>
            </a:r>
            <a:r>
              <a:rPr lang="en-US" sz="2200" dirty="0" smtClean="0">
                <a:solidFill>
                  <a:srgbClr val="FF0000"/>
                </a:solidFill>
              </a:rPr>
              <a:t>protected</a:t>
            </a:r>
            <a:r>
              <a:rPr lang="en-US" sz="2200" dirty="0" smtClean="0">
                <a:solidFill>
                  <a:schemeClr val="accent5"/>
                </a:solidFill>
              </a:rPr>
              <a:t> void bite() { </a:t>
            </a:r>
          </a:p>
          <a:p>
            <a:pPr marL="0" indent="0">
              <a:buNone/>
            </a:pPr>
            <a:r>
              <a:rPr lang="en-US" sz="2200" dirty="0" smtClean="0">
                <a:solidFill>
                  <a:schemeClr val="accent5"/>
                </a:solidFill>
              </a:rPr>
              <a:t>    </a:t>
            </a:r>
            <a:r>
              <a:rPr lang="en-US" sz="2200" dirty="0" err="1" smtClean="0">
                <a:solidFill>
                  <a:schemeClr val="accent5"/>
                </a:solidFill>
              </a:rPr>
              <a:t>System.out.println</a:t>
            </a:r>
            <a:r>
              <a:rPr lang="en-US" sz="2200" dirty="0" smtClean="0">
                <a:solidFill>
                  <a:schemeClr val="accent5"/>
                </a:solidFill>
              </a:rPr>
              <a:t>("bite"); </a:t>
            </a:r>
          </a:p>
          <a:p>
            <a:pPr marL="0" indent="0">
              <a:buNone/>
            </a:pPr>
            <a:r>
              <a:rPr lang="en-US" sz="2200" dirty="0">
                <a:solidFill>
                  <a:schemeClr val="accent5"/>
                </a:solidFill>
              </a:rPr>
              <a:t> </a:t>
            </a:r>
            <a:r>
              <a:rPr lang="en-US" sz="2200" dirty="0" smtClean="0">
                <a:solidFill>
                  <a:schemeClr val="accent5"/>
                </a:solidFill>
              </a:rPr>
              <a:t> }</a:t>
            </a:r>
          </a:p>
          <a:p>
            <a:pPr marL="0" indent="0">
              <a:buNone/>
            </a:pPr>
            <a:r>
              <a:rPr lang="en-US" sz="2200" dirty="0" smtClean="0">
                <a:solidFill>
                  <a:schemeClr val="accent5"/>
                </a:solidFill>
              </a:rPr>
              <a:t>}</a:t>
            </a:r>
          </a:p>
        </p:txBody>
      </p:sp>
      <p:sp>
        <p:nvSpPr>
          <p:cNvPr id="4" name="Content Placeholder 3"/>
          <p:cNvSpPr>
            <a:spLocks noGrp="1"/>
          </p:cNvSpPr>
          <p:nvPr>
            <p:ph sz="half" idx="2"/>
          </p:nvPr>
        </p:nvSpPr>
        <p:spPr>
          <a:xfrm>
            <a:off x="6172200" y="1275644"/>
            <a:ext cx="5181600" cy="5113867"/>
          </a:xfrm>
        </p:spPr>
        <p:txBody>
          <a:bodyPr>
            <a:normAutofit fontScale="85000" lnSpcReduction="20000"/>
          </a:bodyPr>
          <a:lstStyle/>
          <a:p>
            <a:r>
              <a:rPr lang="en-US" dirty="0" smtClean="0"/>
              <a:t>ChocolateChip.java in another directory (a different package)</a:t>
            </a:r>
          </a:p>
          <a:p>
            <a:pPr marL="0" indent="0">
              <a:buNone/>
            </a:pPr>
            <a:r>
              <a:rPr lang="en-US" sz="1900" dirty="0" smtClean="0">
                <a:solidFill>
                  <a:schemeClr val="accent5"/>
                </a:solidFill>
              </a:rPr>
              <a:t>import </a:t>
            </a:r>
            <a:r>
              <a:rPr lang="en-US" sz="1900" dirty="0" err="1" smtClean="0">
                <a:solidFill>
                  <a:schemeClr val="accent5"/>
                </a:solidFill>
              </a:rPr>
              <a:t>access.dessert</a:t>
            </a:r>
            <a:r>
              <a:rPr lang="en-US" sz="1900" dirty="0" smtClean="0">
                <a:solidFill>
                  <a:schemeClr val="accent5"/>
                </a:solidFill>
              </a:rPr>
              <a:t>.*;</a:t>
            </a:r>
          </a:p>
          <a:p>
            <a:pPr marL="0" indent="0">
              <a:buNone/>
            </a:pPr>
            <a:r>
              <a:rPr lang="en-US" sz="1900" dirty="0" smtClean="0">
                <a:solidFill>
                  <a:schemeClr val="accent5"/>
                </a:solidFill>
              </a:rPr>
              <a:t>public class </a:t>
            </a:r>
            <a:r>
              <a:rPr lang="en-US" sz="1900" dirty="0" err="1" smtClean="0">
                <a:solidFill>
                  <a:schemeClr val="accent5"/>
                </a:solidFill>
              </a:rPr>
              <a:t>ChocolateChip</a:t>
            </a:r>
            <a:r>
              <a:rPr lang="en-US" sz="1900" dirty="0" smtClean="0">
                <a:solidFill>
                  <a:schemeClr val="accent5"/>
                </a:solidFill>
              </a:rPr>
              <a:t> extends Cookie {</a:t>
            </a:r>
          </a:p>
          <a:p>
            <a:pPr marL="0" indent="0">
              <a:buNone/>
            </a:pPr>
            <a:r>
              <a:rPr lang="en-US" sz="1900" dirty="0" smtClean="0">
                <a:solidFill>
                  <a:schemeClr val="accent5"/>
                </a:solidFill>
              </a:rPr>
              <a:t>  public </a:t>
            </a:r>
            <a:r>
              <a:rPr lang="en-US" sz="1900" dirty="0" err="1" smtClean="0">
                <a:solidFill>
                  <a:schemeClr val="accent5"/>
                </a:solidFill>
              </a:rPr>
              <a:t>ChocolateChip</a:t>
            </a:r>
            <a:r>
              <a:rPr lang="en-US" sz="1900" dirty="0" smtClean="0">
                <a:solidFill>
                  <a:schemeClr val="accent5"/>
                </a:solidFill>
              </a:rPr>
              <a:t>() {</a:t>
            </a:r>
          </a:p>
          <a:p>
            <a:pPr marL="0" indent="0">
              <a:buNone/>
            </a:pPr>
            <a:r>
              <a:rPr lang="en-US" sz="1900" dirty="0" smtClean="0">
                <a:solidFill>
                  <a:schemeClr val="accent5"/>
                </a:solidFill>
              </a:rPr>
              <a:t>   </a:t>
            </a:r>
            <a:r>
              <a:rPr lang="en-US" sz="1900" dirty="0" err="1" smtClean="0">
                <a:solidFill>
                  <a:schemeClr val="accent5"/>
                </a:solidFill>
              </a:rPr>
              <a:t>System.out.println</a:t>
            </a:r>
            <a:r>
              <a:rPr lang="en-US" sz="1900" dirty="0" smtClean="0">
                <a:solidFill>
                  <a:schemeClr val="accent5"/>
                </a:solidFill>
              </a:rPr>
              <a:t>("</a:t>
            </a:r>
            <a:r>
              <a:rPr lang="en-US" sz="1900" dirty="0" err="1" smtClean="0">
                <a:solidFill>
                  <a:schemeClr val="accent5"/>
                </a:solidFill>
              </a:rPr>
              <a:t>ChocolateChip</a:t>
            </a:r>
            <a:r>
              <a:rPr lang="en-US" sz="1900" dirty="0" smtClean="0">
                <a:solidFill>
                  <a:schemeClr val="accent5"/>
                </a:solidFill>
              </a:rPr>
              <a:t> constructor");</a:t>
            </a:r>
          </a:p>
          <a:p>
            <a:pPr marL="0" indent="0">
              <a:buNone/>
            </a:pPr>
            <a:r>
              <a:rPr lang="en-US" sz="1900" dirty="0" smtClean="0">
                <a:solidFill>
                  <a:schemeClr val="accent5"/>
                </a:solidFill>
              </a:rPr>
              <a:t>  }</a:t>
            </a:r>
          </a:p>
          <a:p>
            <a:pPr marL="0" indent="0">
              <a:buNone/>
            </a:pPr>
            <a:r>
              <a:rPr lang="en-US" sz="1900" dirty="0" smtClean="0">
                <a:solidFill>
                  <a:schemeClr val="accent5"/>
                </a:solidFill>
              </a:rPr>
              <a:t>  public void chomp() { bite(); } // Protected method</a:t>
            </a:r>
          </a:p>
          <a:p>
            <a:pPr marL="0" indent="0">
              <a:buNone/>
            </a:pPr>
            <a:r>
              <a:rPr lang="en-US" sz="1900" dirty="0" smtClean="0">
                <a:solidFill>
                  <a:schemeClr val="accent5"/>
                </a:solidFill>
              </a:rPr>
              <a:t>  public static void main(String[] </a:t>
            </a:r>
            <a:r>
              <a:rPr lang="en-US" sz="1900" dirty="0" err="1" smtClean="0">
                <a:solidFill>
                  <a:schemeClr val="accent5"/>
                </a:solidFill>
              </a:rPr>
              <a:t>args</a:t>
            </a:r>
            <a:r>
              <a:rPr lang="en-US" sz="1900" dirty="0" smtClean="0">
                <a:solidFill>
                  <a:schemeClr val="accent5"/>
                </a:solidFill>
              </a:rPr>
              <a:t>) {</a:t>
            </a:r>
          </a:p>
          <a:p>
            <a:pPr marL="0" indent="0">
              <a:buNone/>
            </a:pPr>
            <a:r>
              <a:rPr lang="en-US" sz="1900" dirty="0" smtClean="0">
                <a:solidFill>
                  <a:schemeClr val="accent5"/>
                </a:solidFill>
              </a:rPr>
              <a:t>    </a:t>
            </a:r>
            <a:r>
              <a:rPr lang="en-US" sz="1900" dirty="0" err="1" smtClean="0">
                <a:solidFill>
                  <a:schemeClr val="accent5"/>
                </a:solidFill>
              </a:rPr>
              <a:t>ChocolateChip</a:t>
            </a:r>
            <a:r>
              <a:rPr lang="en-US" sz="1900" dirty="0" smtClean="0">
                <a:solidFill>
                  <a:schemeClr val="accent5"/>
                </a:solidFill>
              </a:rPr>
              <a:t> x = new </a:t>
            </a:r>
            <a:r>
              <a:rPr lang="en-US" sz="1900" dirty="0" err="1" smtClean="0">
                <a:solidFill>
                  <a:schemeClr val="accent5"/>
                </a:solidFill>
              </a:rPr>
              <a:t>ChocolateChip</a:t>
            </a:r>
            <a:r>
              <a:rPr lang="en-US" sz="1900" dirty="0" smtClean="0">
                <a:solidFill>
                  <a:schemeClr val="accent5"/>
                </a:solidFill>
              </a:rPr>
              <a:t>();</a:t>
            </a:r>
          </a:p>
          <a:p>
            <a:pPr marL="0" indent="0">
              <a:buNone/>
            </a:pPr>
            <a:r>
              <a:rPr lang="en-US" sz="1900" dirty="0" smtClean="0">
                <a:solidFill>
                  <a:schemeClr val="accent5"/>
                </a:solidFill>
              </a:rPr>
              <a:t>    </a:t>
            </a:r>
            <a:r>
              <a:rPr lang="en-US" sz="1900" dirty="0" err="1" smtClean="0">
                <a:solidFill>
                  <a:schemeClr val="accent5"/>
                </a:solidFill>
              </a:rPr>
              <a:t>x.chomp</a:t>
            </a:r>
            <a:r>
              <a:rPr lang="en-US" sz="1900" dirty="0" smtClean="0">
                <a:solidFill>
                  <a:schemeClr val="accent5"/>
                </a:solidFill>
              </a:rPr>
              <a:t>();</a:t>
            </a:r>
          </a:p>
          <a:p>
            <a:pPr marL="0" indent="0">
              <a:buNone/>
            </a:pPr>
            <a:r>
              <a:rPr lang="en-US" sz="1900" dirty="0" smtClean="0">
                <a:solidFill>
                  <a:schemeClr val="accent5"/>
                </a:solidFill>
              </a:rPr>
              <a:t>  }</a:t>
            </a:r>
          </a:p>
          <a:p>
            <a:pPr marL="0" indent="0">
              <a:buNone/>
            </a:pPr>
            <a:r>
              <a:rPr lang="en-US" sz="1900" dirty="0" smtClean="0">
                <a:solidFill>
                  <a:schemeClr val="accent5"/>
                </a:solidFill>
              </a:rPr>
              <a:t>} /* Output:</a:t>
            </a:r>
          </a:p>
          <a:p>
            <a:pPr marL="0" indent="0">
              <a:buNone/>
            </a:pPr>
            <a:r>
              <a:rPr lang="en-US" sz="1900" dirty="0" smtClean="0">
                <a:solidFill>
                  <a:schemeClr val="accent5"/>
                </a:solidFill>
              </a:rPr>
              <a:t>Cookie constructor</a:t>
            </a:r>
          </a:p>
          <a:p>
            <a:pPr marL="0" indent="0">
              <a:buNone/>
            </a:pPr>
            <a:r>
              <a:rPr lang="en-US" sz="1900" dirty="0" err="1" smtClean="0">
                <a:solidFill>
                  <a:schemeClr val="accent5"/>
                </a:solidFill>
              </a:rPr>
              <a:t>ChocolateChip</a:t>
            </a:r>
            <a:r>
              <a:rPr lang="en-US" sz="1900" dirty="0" smtClean="0">
                <a:solidFill>
                  <a:schemeClr val="accent5"/>
                </a:solidFill>
              </a:rPr>
              <a:t> constructor</a:t>
            </a:r>
          </a:p>
          <a:p>
            <a:pPr marL="0" indent="0">
              <a:buNone/>
            </a:pPr>
            <a:r>
              <a:rPr lang="en-US" sz="1900" dirty="0" smtClean="0">
                <a:solidFill>
                  <a:schemeClr val="accent5"/>
                </a:solidFill>
              </a:rPr>
              <a:t>Bite</a:t>
            </a:r>
          </a:p>
          <a:p>
            <a:pPr marL="0" indent="0">
              <a:buNone/>
            </a:pPr>
            <a:r>
              <a:rPr lang="en-US" sz="1900" dirty="0" smtClean="0">
                <a:solidFill>
                  <a:schemeClr val="accent5"/>
                </a:solidFill>
              </a:rPr>
              <a:t>*/</a:t>
            </a:r>
            <a:endParaRPr lang="en-US" sz="1900"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11</a:t>
            </a:fld>
            <a:endParaRPr lang="en-US"/>
          </a:p>
        </p:txBody>
      </p:sp>
    </p:spTree>
    <p:extLst>
      <p:ext uri="{BB962C8B-B14F-4D97-AF65-F5344CB8AC3E}">
        <p14:creationId xmlns:p14="http://schemas.microsoft.com/office/powerpoint/2010/main" val="1870456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Access</a:t>
            </a:r>
            <a:endParaRPr lang="en-US" dirty="0"/>
          </a:p>
        </p:txBody>
      </p:sp>
      <p:sp>
        <p:nvSpPr>
          <p:cNvPr id="3" name="Content Placeholder 2"/>
          <p:cNvSpPr>
            <a:spLocks noGrp="1"/>
          </p:cNvSpPr>
          <p:nvPr>
            <p:ph idx="1"/>
          </p:nvPr>
        </p:nvSpPr>
        <p:spPr/>
        <p:txBody>
          <a:bodyPr/>
          <a:lstStyle/>
          <a:p>
            <a:r>
              <a:rPr lang="en-US" dirty="0" smtClean="0"/>
              <a:t>Only two choices for the access modifier for the class:</a:t>
            </a:r>
          </a:p>
          <a:p>
            <a:pPr lvl="1"/>
            <a:r>
              <a:rPr lang="en-US" dirty="0">
                <a:solidFill>
                  <a:schemeClr val="accent5"/>
                </a:solidFill>
              </a:rPr>
              <a:t>p</a:t>
            </a:r>
            <a:r>
              <a:rPr lang="en-US" dirty="0" smtClean="0">
                <a:solidFill>
                  <a:schemeClr val="accent5"/>
                </a:solidFill>
              </a:rPr>
              <a:t>ublic</a:t>
            </a:r>
          </a:p>
          <a:p>
            <a:pPr lvl="1"/>
            <a:r>
              <a:rPr lang="en-US" dirty="0" smtClean="0"/>
              <a:t>No modifier: package-private</a:t>
            </a:r>
          </a:p>
          <a:p>
            <a:pPr lvl="1"/>
            <a:endParaRPr lang="en-US" dirty="0" smtClean="0"/>
          </a:p>
          <a:p>
            <a:r>
              <a:rPr lang="en-US" dirty="0" smtClean="0"/>
              <a:t>If you want to instantiate/inherit a class outside its package, it has to be </a:t>
            </a:r>
            <a:r>
              <a:rPr lang="en-US" dirty="0" smtClean="0">
                <a:solidFill>
                  <a:schemeClr val="accent5"/>
                </a:solidFill>
              </a:rPr>
              <a:t>public</a:t>
            </a:r>
          </a:p>
          <a:p>
            <a:pPr lvl="1"/>
            <a:r>
              <a:rPr lang="en-US" dirty="0" smtClean="0"/>
              <a:t>Classes with no modifier can only be used within the package</a:t>
            </a:r>
            <a:endParaRPr lang="en-US" dirty="0"/>
          </a:p>
        </p:txBody>
      </p:sp>
      <p:sp>
        <p:nvSpPr>
          <p:cNvPr id="4" name="Slide Number Placeholder 3"/>
          <p:cNvSpPr>
            <a:spLocks noGrp="1"/>
          </p:cNvSpPr>
          <p:nvPr>
            <p:ph type="sldNum" sz="quarter" idx="12"/>
          </p:nvPr>
        </p:nvSpPr>
        <p:spPr/>
        <p:txBody>
          <a:bodyPr/>
          <a:lstStyle/>
          <a:p>
            <a:fld id="{965D6772-41C1-4987-827C-16EA866C2326}" type="slidenum">
              <a:rPr lang="en-US" smtClean="0"/>
              <a:t>12</a:t>
            </a:fld>
            <a:endParaRPr lang="en-US"/>
          </a:p>
        </p:txBody>
      </p:sp>
    </p:spTree>
    <p:extLst>
      <p:ext uri="{BB962C8B-B14F-4D97-AF65-F5344CB8AC3E}">
        <p14:creationId xmlns:p14="http://schemas.microsoft.com/office/powerpoint/2010/main" val="3929542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Fields and Methods</a:t>
            </a:r>
            <a:endParaRPr lang="en-US" dirty="0"/>
          </a:p>
        </p:txBody>
      </p:sp>
      <p:sp>
        <p:nvSpPr>
          <p:cNvPr id="3" name="Content Placeholder 2"/>
          <p:cNvSpPr>
            <a:spLocks noGrp="1"/>
          </p:cNvSpPr>
          <p:nvPr>
            <p:ph sz="half" idx="1"/>
          </p:nvPr>
        </p:nvSpPr>
        <p:spPr/>
        <p:txBody>
          <a:bodyPr/>
          <a:lstStyle/>
          <a:p>
            <a:r>
              <a:rPr lang="en-US" dirty="0" smtClean="0"/>
              <a:t>Declaring fields:</a:t>
            </a:r>
          </a:p>
          <a:p>
            <a:pPr lvl="1"/>
            <a:r>
              <a:rPr lang="en-US" dirty="0" smtClean="0"/>
              <a:t>Access modifier</a:t>
            </a:r>
          </a:p>
          <a:p>
            <a:pPr lvl="1"/>
            <a:r>
              <a:rPr lang="en-US" dirty="0" smtClean="0"/>
              <a:t>Type</a:t>
            </a:r>
          </a:p>
          <a:p>
            <a:pPr lvl="1"/>
            <a:r>
              <a:rPr lang="en-US" dirty="0" smtClean="0"/>
              <a:t>Field name</a:t>
            </a:r>
          </a:p>
          <a:p>
            <a:pPr lvl="1"/>
            <a:r>
              <a:rPr lang="en-US" dirty="0" smtClean="0"/>
              <a:t>Default value (optional)</a:t>
            </a:r>
          </a:p>
          <a:p>
            <a:pPr marL="457200" lvl="1" indent="0">
              <a:buNone/>
            </a:pPr>
            <a:endParaRPr lang="en-US" dirty="0" smtClean="0">
              <a:solidFill>
                <a:schemeClr val="accent5"/>
              </a:solidFill>
            </a:endParaRPr>
          </a:p>
          <a:p>
            <a:pPr marL="457200" lvl="1" indent="0">
              <a:buNone/>
            </a:pPr>
            <a:r>
              <a:rPr lang="en-US" dirty="0" smtClean="0">
                <a:solidFill>
                  <a:schemeClr val="accent5"/>
                </a:solidFill>
              </a:rPr>
              <a:t>public </a:t>
            </a:r>
            <a:r>
              <a:rPr lang="en-US" dirty="0" err="1" smtClean="0">
                <a:solidFill>
                  <a:schemeClr val="accent5"/>
                </a:solidFill>
              </a:rPr>
              <a:t>int</a:t>
            </a:r>
            <a:r>
              <a:rPr lang="en-US" dirty="0" smtClean="0">
                <a:solidFill>
                  <a:schemeClr val="accent5"/>
                </a:solidFill>
              </a:rPr>
              <a:t> cadence = 0;</a:t>
            </a:r>
            <a:endParaRPr lang="en-US" dirty="0">
              <a:solidFill>
                <a:schemeClr val="accent5"/>
              </a:solidFill>
            </a:endParaRPr>
          </a:p>
        </p:txBody>
      </p:sp>
      <p:sp>
        <p:nvSpPr>
          <p:cNvPr id="4" name="Content Placeholder 3"/>
          <p:cNvSpPr>
            <a:spLocks noGrp="1"/>
          </p:cNvSpPr>
          <p:nvPr>
            <p:ph sz="half" idx="2"/>
          </p:nvPr>
        </p:nvSpPr>
        <p:spPr/>
        <p:txBody>
          <a:bodyPr/>
          <a:lstStyle/>
          <a:p>
            <a:r>
              <a:rPr lang="en-US" dirty="0" smtClean="0"/>
              <a:t>Defining methods:</a:t>
            </a:r>
          </a:p>
          <a:p>
            <a:pPr lvl="1"/>
            <a:r>
              <a:rPr lang="en-US" dirty="0" smtClean="0"/>
              <a:t>Access modifier</a:t>
            </a:r>
          </a:p>
          <a:p>
            <a:pPr lvl="1"/>
            <a:r>
              <a:rPr lang="en-US" dirty="0" smtClean="0"/>
              <a:t>Return type</a:t>
            </a:r>
          </a:p>
          <a:p>
            <a:pPr lvl="1"/>
            <a:r>
              <a:rPr lang="en-US" dirty="0" smtClean="0"/>
              <a:t>Method name</a:t>
            </a:r>
          </a:p>
          <a:p>
            <a:pPr lvl="1"/>
            <a:r>
              <a:rPr lang="en-US" dirty="0" smtClean="0"/>
              <a:t>Parameter list in ()</a:t>
            </a:r>
          </a:p>
          <a:p>
            <a:pPr lvl="1"/>
            <a:r>
              <a:rPr lang="en-US" dirty="0" smtClean="0"/>
              <a:t>The method body in {}</a:t>
            </a:r>
          </a:p>
          <a:p>
            <a:pPr marL="0" indent="0">
              <a:buNone/>
            </a:pPr>
            <a:r>
              <a:rPr lang="en-US" sz="2000" dirty="0" smtClean="0">
                <a:solidFill>
                  <a:schemeClr val="accent5"/>
                </a:solidFill>
              </a:rPr>
              <a:t>    public </a:t>
            </a:r>
            <a:r>
              <a:rPr lang="en-US" sz="2000" dirty="0" err="1" smtClean="0">
                <a:solidFill>
                  <a:schemeClr val="accent5"/>
                </a:solidFill>
              </a:rPr>
              <a:t>int</a:t>
            </a:r>
            <a:r>
              <a:rPr lang="en-US" sz="2000" dirty="0" smtClean="0">
                <a:solidFill>
                  <a:schemeClr val="accent5"/>
                </a:solidFill>
              </a:rPr>
              <a:t> </a:t>
            </a:r>
            <a:r>
              <a:rPr lang="en-US" sz="2000" dirty="0" err="1" smtClean="0">
                <a:solidFill>
                  <a:schemeClr val="accent5"/>
                </a:solidFill>
              </a:rPr>
              <a:t>getArea</a:t>
            </a:r>
            <a:r>
              <a:rPr lang="en-US" sz="2000" dirty="0" smtClean="0">
                <a:solidFill>
                  <a:schemeClr val="accent5"/>
                </a:solidFill>
              </a:rPr>
              <a:t>(</a:t>
            </a:r>
            <a:r>
              <a:rPr lang="en-US" sz="2000" dirty="0" err="1" smtClean="0">
                <a:solidFill>
                  <a:schemeClr val="accent5"/>
                </a:solidFill>
              </a:rPr>
              <a:t>int</a:t>
            </a:r>
            <a:r>
              <a:rPr lang="en-US" sz="2000" dirty="0" smtClean="0">
                <a:solidFill>
                  <a:schemeClr val="accent5"/>
                </a:solidFill>
              </a:rPr>
              <a:t> width, </a:t>
            </a:r>
            <a:r>
              <a:rPr lang="en-US" sz="2000" dirty="0" err="1" smtClean="0">
                <a:solidFill>
                  <a:schemeClr val="accent5"/>
                </a:solidFill>
              </a:rPr>
              <a:t>int</a:t>
            </a:r>
            <a:r>
              <a:rPr lang="en-US" sz="2000" dirty="0">
                <a:solidFill>
                  <a:schemeClr val="accent5"/>
                </a:solidFill>
              </a:rPr>
              <a:t> </a:t>
            </a:r>
            <a:r>
              <a:rPr lang="en-US" sz="2000" dirty="0" smtClean="0">
                <a:solidFill>
                  <a:schemeClr val="accent5"/>
                </a:solidFill>
              </a:rPr>
              <a:t>height) {</a:t>
            </a:r>
          </a:p>
          <a:p>
            <a:pPr marL="0" indent="0">
              <a:buNone/>
            </a:pPr>
            <a:r>
              <a:rPr lang="en-US" sz="2000" dirty="0" smtClean="0">
                <a:solidFill>
                  <a:schemeClr val="accent5"/>
                </a:solidFill>
              </a:rPr>
              <a:t>        return width * height;</a:t>
            </a:r>
          </a:p>
          <a:p>
            <a:pPr marL="0" indent="0">
              <a:buNone/>
            </a:pPr>
            <a:r>
              <a:rPr lang="en-US" sz="2000" dirty="0" smtClean="0">
                <a:solidFill>
                  <a:schemeClr val="accent5"/>
                </a:solidFill>
              </a:rPr>
              <a:t>    }</a:t>
            </a:r>
            <a:endParaRPr lang="en-US" sz="2000" dirty="0"/>
          </a:p>
        </p:txBody>
      </p:sp>
      <p:sp>
        <p:nvSpPr>
          <p:cNvPr id="5" name="Slide Number Placeholder 4"/>
          <p:cNvSpPr>
            <a:spLocks noGrp="1"/>
          </p:cNvSpPr>
          <p:nvPr>
            <p:ph type="sldNum" sz="quarter" idx="12"/>
          </p:nvPr>
        </p:nvSpPr>
        <p:spPr/>
        <p:txBody>
          <a:bodyPr/>
          <a:lstStyle/>
          <a:p>
            <a:fld id="{965D6772-41C1-4987-827C-16EA866C2326}" type="slidenum">
              <a:rPr lang="en-US" smtClean="0"/>
              <a:t>13</a:t>
            </a:fld>
            <a:endParaRPr lang="en-US"/>
          </a:p>
        </p:txBody>
      </p:sp>
    </p:spTree>
    <p:extLst>
      <p:ext uri="{BB962C8B-B14F-4D97-AF65-F5344CB8AC3E}">
        <p14:creationId xmlns:p14="http://schemas.microsoft.com/office/powerpoint/2010/main" val="1694201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Constructors</a:t>
            </a:r>
            <a:endParaRPr lang="en-US" dirty="0"/>
          </a:p>
        </p:txBody>
      </p:sp>
      <p:sp>
        <p:nvSpPr>
          <p:cNvPr id="3" name="Content Placeholder 2"/>
          <p:cNvSpPr>
            <a:spLocks noGrp="1"/>
          </p:cNvSpPr>
          <p:nvPr>
            <p:ph sz="half" idx="1"/>
          </p:nvPr>
        </p:nvSpPr>
        <p:spPr/>
        <p:txBody>
          <a:bodyPr>
            <a:noAutofit/>
          </a:bodyPr>
          <a:lstStyle/>
          <a:p>
            <a:r>
              <a:rPr lang="en-US" dirty="0" smtClean="0"/>
              <a:t>A special method used to create an object of the class</a:t>
            </a:r>
          </a:p>
          <a:p>
            <a:r>
              <a:rPr lang="en-US" dirty="0" smtClean="0"/>
              <a:t>The name of a constructor is the same as the class name</a:t>
            </a:r>
          </a:p>
          <a:p>
            <a:r>
              <a:rPr lang="en-US" dirty="0" smtClean="0"/>
              <a:t>Storage is allocated (object is created) when the constructor is called</a:t>
            </a:r>
          </a:p>
          <a:p>
            <a:r>
              <a:rPr lang="en-US" dirty="0" smtClean="0"/>
              <a:t>A constructor has no return value</a:t>
            </a:r>
          </a:p>
        </p:txBody>
      </p:sp>
      <p:sp>
        <p:nvSpPr>
          <p:cNvPr id="4" name="Content Placeholder 3"/>
          <p:cNvSpPr>
            <a:spLocks noGrp="1"/>
          </p:cNvSpPr>
          <p:nvPr>
            <p:ph sz="half" idx="2"/>
          </p:nvPr>
        </p:nvSpPr>
        <p:spPr>
          <a:xfrm>
            <a:off x="6172200" y="778933"/>
            <a:ext cx="5181600" cy="5398030"/>
          </a:xfrm>
        </p:spPr>
        <p:txBody>
          <a:bodyPr>
            <a:normAutofit fontScale="77500" lnSpcReduction="20000"/>
          </a:bodyPr>
          <a:lstStyle/>
          <a:p>
            <a:pPr marL="0" indent="0">
              <a:buNone/>
            </a:pPr>
            <a:r>
              <a:rPr lang="en-US" dirty="0" smtClean="0">
                <a:solidFill>
                  <a:schemeClr val="accent5"/>
                </a:solidFill>
              </a:rPr>
              <a:t>class Rock {</a:t>
            </a:r>
          </a:p>
          <a:p>
            <a:pPr marL="0" indent="0">
              <a:buNone/>
            </a:pPr>
            <a:r>
              <a:rPr lang="en-US" dirty="0" smtClean="0">
                <a:solidFill>
                  <a:schemeClr val="accent5"/>
                </a:solidFill>
              </a:rPr>
              <a:t>  Rock(</a:t>
            </a:r>
            <a:r>
              <a:rPr lang="en-US" dirty="0" err="1" smtClean="0">
                <a:solidFill>
                  <a:schemeClr val="accent5"/>
                </a:solidFill>
              </a:rPr>
              <a:t>int</a:t>
            </a:r>
            <a:r>
              <a:rPr lang="en-US" dirty="0" smtClean="0">
                <a:solidFill>
                  <a:schemeClr val="accent5"/>
                </a:solidFill>
              </a:rPr>
              <a:t> </a:t>
            </a:r>
            <a:r>
              <a:rPr lang="en-US" dirty="0" err="1" smtClean="0">
                <a:solidFill>
                  <a:schemeClr val="accent5"/>
                </a:solidFill>
              </a:rPr>
              <a:t>i</a:t>
            </a:r>
            <a:r>
              <a:rPr lang="en-US" dirty="0" smtClean="0">
                <a:solidFill>
                  <a:schemeClr val="accent5"/>
                </a:solidFill>
              </a:rPr>
              <a:t>) {</a:t>
            </a:r>
          </a:p>
          <a:p>
            <a:pPr marL="0" indent="0">
              <a:buNone/>
            </a:pPr>
            <a:r>
              <a:rPr lang="en-US" dirty="0" smtClean="0">
                <a:solidFill>
                  <a:schemeClr val="accent5"/>
                </a:solidFill>
              </a:rPr>
              <a:t>    </a:t>
            </a:r>
            <a:r>
              <a:rPr lang="en-US" dirty="0" err="1" smtClean="0">
                <a:solidFill>
                  <a:schemeClr val="accent5"/>
                </a:solidFill>
              </a:rPr>
              <a:t>System.out.print</a:t>
            </a:r>
            <a:r>
              <a:rPr lang="en-US" dirty="0" smtClean="0">
                <a:solidFill>
                  <a:schemeClr val="accent5"/>
                </a:solidFill>
              </a:rPr>
              <a:t>("Rock " + </a:t>
            </a:r>
            <a:r>
              <a:rPr lang="en-US" dirty="0" err="1" smtClean="0">
                <a:solidFill>
                  <a:schemeClr val="accent5"/>
                </a:solidFill>
              </a:rPr>
              <a:t>i</a:t>
            </a:r>
            <a:r>
              <a:rPr lang="en-US" dirty="0" smtClean="0">
                <a:solidFill>
                  <a:schemeClr val="accent5"/>
                </a:solidFill>
              </a:rPr>
              <a:t> + " ");</a:t>
            </a:r>
          </a:p>
          <a:p>
            <a:pPr marL="0" indent="0">
              <a:buNone/>
            </a:pPr>
            <a:r>
              <a:rPr lang="en-US" dirty="0" smtClean="0">
                <a:solidFill>
                  <a:schemeClr val="accent5"/>
                </a:solidFill>
              </a:rPr>
              <a:t>  }</a:t>
            </a:r>
          </a:p>
          <a:p>
            <a:pPr marL="0" indent="0">
              <a:buNone/>
            </a:pPr>
            <a:r>
              <a:rPr lang="en-US" dirty="0" smtClean="0">
                <a:solidFill>
                  <a:schemeClr val="accent5"/>
                </a:solidFill>
              </a:rPr>
              <a:t>}</a:t>
            </a:r>
          </a:p>
          <a:p>
            <a:pPr marL="0" indent="0">
              <a:buNone/>
            </a:pPr>
            <a:endParaRPr lang="en-US" dirty="0" smtClean="0">
              <a:solidFill>
                <a:schemeClr val="accent5"/>
              </a:solidFill>
            </a:endParaRPr>
          </a:p>
          <a:p>
            <a:pPr marL="0" indent="0">
              <a:buNone/>
            </a:pPr>
            <a:r>
              <a:rPr lang="en-US" dirty="0" smtClean="0">
                <a:solidFill>
                  <a:schemeClr val="accent5"/>
                </a:solidFill>
              </a:rPr>
              <a:t>public class </a:t>
            </a:r>
            <a:r>
              <a:rPr lang="en-US" dirty="0" err="1" smtClean="0">
                <a:solidFill>
                  <a:schemeClr val="accent5"/>
                </a:solidFill>
              </a:rPr>
              <a:t>SimpleConstructor</a:t>
            </a:r>
            <a:r>
              <a:rPr lang="en-US" dirty="0" smtClean="0">
                <a:solidFill>
                  <a:schemeClr val="accent5"/>
                </a:solidFill>
              </a:rPr>
              <a:t> {</a:t>
            </a:r>
          </a:p>
          <a:p>
            <a:pPr marL="0" indent="0">
              <a:buNone/>
            </a:pPr>
            <a:r>
              <a:rPr lang="en-US" dirty="0" smtClean="0">
                <a:solidFill>
                  <a:schemeClr val="accent5"/>
                </a:solidFill>
              </a:rPr>
              <a:t>  public static void main(String[] </a:t>
            </a:r>
            <a:r>
              <a:rPr lang="en-US" dirty="0" err="1" smtClean="0">
                <a:solidFill>
                  <a:schemeClr val="accent5"/>
                </a:solidFill>
              </a:rPr>
              <a:t>args</a:t>
            </a:r>
            <a:r>
              <a:rPr lang="en-US" dirty="0" smtClean="0">
                <a:solidFill>
                  <a:schemeClr val="accent5"/>
                </a:solidFill>
              </a:rPr>
              <a:t>) {</a:t>
            </a:r>
          </a:p>
          <a:p>
            <a:pPr marL="0" indent="0">
              <a:buNone/>
            </a:pPr>
            <a:r>
              <a:rPr lang="en-US" dirty="0" smtClean="0">
                <a:solidFill>
                  <a:schemeClr val="accent5"/>
                </a:solidFill>
              </a:rPr>
              <a:t>    for(</a:t>
            </a:r>
            <a:r>
              <a:rPr lang="en-US" dirty="0" err="1" smtClean="0">
                <a:solidFill>
                  <a:schemeClr val="accent5"/>
                </a:solidFill>
              </a:rPr>
              <a:t>int</a:t>
            </a:r>
            <a:r>
              <a:rPr lang="en-US" dirty="0" smtClean="0">
                <a:solidFill>
                  <a:schemeClr val="accent5"/>
                </a:solidFill>
              </a:rPr>
              <a:t> </a:t>
            </a:r>
            <a:r>
              <a:rPr lang="en-US" dirty="0" err="1" smtClean="0">
                <a:solidFill>
                  <a:schemeClr val="accent5"/>
                </a:solidFill>
              </a:rPr>
              <a:t>i</a:t>
            </a:r>
            <a:r>
              <a:rPr lang="en-US" dirty="0" smtClean="0">
                <a:solidFill>
                  <a:schemeClr val="accent5"/>
                </a:solidFill>
              </a:rPr>
              <a:t> = 0; </a:t>
            </a:r>
            <a:r>
              <a:rPr lang="en-US" dirty="0" err="1" smtClean="0">
                <a:solidFill>
                  <a:schemeClr val="accent5"/>
                </a:solidFill>
              </a:rPr>
              <a:t>i</a:t>
            </a:r>
            <a:r>
              <a:rPr lang="en-US" dirty="0" smtClean="0">
                <a:solidFill>
                  <a:schemeClr val="accent5"/>
                </a:solidFill>
              </a:rPr>
              <a:t> &lt; 8; </a:t>
            </a:r>
            <a:r>
              <a:rPr lang="en-US" dirty="0" err="1" smtClean="0">
                <a:solidFill>
                  <a:schemeClr val="accent5"/>
                </a:solidFill>
              </a:rPr>
              <a:t>i</a:t>
            </a:r>
            <a:r>
              <a:rPr lang="en-US" dirty="0" smtClean="0">
                <a:solidFill>
                  <a:schemeClr val="accent5"/>
                </a:solidFill>
              </a:rPr>
              <a:t>++)</a:t>
            </a:r>
          </a:p>
          <a:p>
            <a:pPr marL="0" indent="0">
              <a:buNone/>
            </a:pPr>
            <a:r>
              <a:rPr lang="en-US" dirty="0" smtClean="0">
                <a:solidFill>
                  <a:schemeClr val="accent5"/>
                </a:solidFill>
              </a:rPr>
              <a:t>      new Rock(</a:t>
            </a:r>
            <a:r>
              <a:rPr lang="en-US" dirty="0" err="1" smtClean="0">
                <a:solidFill>
                  <a:schemeClr val="accent5"/>
                </a:solidFill>
              </a:rPr>
              <a:t>i</a:t>
            </a:r>
            <a:r>
              <a:rPr lang="en-US" dirty="0" smtClean="0">
                <a:solidFill>
                  <a:schemeClr val="accent5"/>
                </a:solidFill>
              </a:rPr>
              <a:t>);</a:t>
            </a:r>
          </a:p>
          <a:p>
            <a:pPr marL="0" indent="0">
              <a:buNone/>
            </a:pPr>
            <a:r>
              <a:rPr lang="en-US" dirty="0" smtClean="0">
                <a:solidFill>
                  <a:schemeClr val="accent5"/>
                </a:solidFill>
              </a:rPr>
              <a:t>  }</a:t>
            </a:r>
          </a:p>
          <a:p>
            <a:pPr marL="0" indent="0">
              <a:buNone/>
            </a:pPr>
            <a:r>
              <a:rPr lang="en-US" dirty="0" smtClean="0">
                <a:solidFill>
                  <a:schemeClr val="accent5"/>
                </a:solidFill>
              </a:rPr>
              <a:t>} /* Output:</a:t>
            </a:r>
          </a:p>
          <a:p>
            <a:pPr marL="0" indent="0">
              <a:buNone/>
            </a:pPr>
            <a:r>
              <a:rPr lang="en-US" dirty="0" smtClean="0">
                <a:solidFill>
                  <a:schemeClr val="accent5"/>
                </a:solidFill>
              </a:rPr>
              <a:t>Rock 0 Rock 1 Rock 2 Rock 3 Rock 4 Rock 5 Rock 6 Rock 7</a:t>
            </a:r>
          </a:p>
          <a:p>
            <a:pPr marL="0" indent="0">
              <a:buNone/>
            </a:pPr>
            <a:r>
              <a:rPr lang="en-US" dirty="0" smtClean="0">
                <a:solidFill>
                  <a:schemeClr val="accent5"/>
                </a:solidFill>
              </a:rPr>
              <a:t>*///</a:t>
            </a:r>
            <a:endParaRPr lang="en-US"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14</a:t>
            </a:fld>
            <a:endParaRPr lang="en-US"/>
          </a:p>
        </p:txBody>
      </p:sp>
    </p:spTree>
    <p:extLst>
      <p:ext uri="{BB962C8B-B14F-4D97-AF65-F5344CB8AC3E}">
        <p14:creationId xmlns:p14="http://schemas.microsoft.com/office/powerpoint/2010/main" val="3089967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Default Constructor</a:t>
            </a:r>
            <a:endParaRPr lang="en-US" dirty="0"/>
          </a:p>
        </p:txBody>
      </p:sp>
      <p:sp>
        <p:nvSpPr>
          <p:cNvPr id="3" name="Content Placeholder 2"/>
          <p:cNvSpPr>
            <a:spLocks noGrp="1"/>
          </p:cNvSpPr>
          <p:nvPr>
            <p:ph sz="half" idx="1"/>
          </p:nvPr>
        </p:nvSpPr>
        <p:spPr/>
        <p:txBody>
          <a:bodyPr>
            <a:normAutofit lnSpcReduction="10000"/>
          </a:bodyPr>
          <a:lstStyle/>
          <a:p>
            <a:r>
              <a:rPr lang="en-US" dirty="0" smtClean="0"/>
              <a:t>The constructor without arguments</a:t>
            </a:r>
          </a:p>
          <a:p>
            <a:pPr lvl="1"/>
            <a:r>
              <a:rPr lang="en-US" dirty="0" smtClean="0"/>
              <a:t>i.e. </a:t>
            </a:r>
            <a:r>
              <a:rPr lang="en-US" i="1" dirty="0" smtClean="0"/>
              <a:t>no-</a:t>
            </a:r>
            <a:r>
              <a:rPr lang="en-US" i="1" dirty="0" err="1" smtClean="0"/>
              <a:t>arg</a:t>
            </a:r>
            <a:r>
              <a:rPr lang="en-US" i="1" dirty="0" smtClean="0"/>
              <a:t> constructor</a:t>
            </a:r>
          </a:p>
          <a:p>
            <a:pPr marL="0" indent="0">
              <a:buNone/>
            </a:pPr>
            <a:endParaRPr lang="en-US" sz="2200" dirty="0" smtClean="0">
              <a:solidFill>
                <a:schemeClr val="accent5"/>
              </a:solidFill>
            </a:endParaRPr>
          </a:p>
          <a:p>
            <a:pPr marL="0" indent="0">
              <a:buNone/>
            </a:pPr>
            <a:r>
              <a:rPr lang="en-US" sz="2200" dirty="0" smtClean="0">
                <a:solidFill>
                  <a:schemeClr val="accent5"/>
                </a:solidFill>
              </a:rPr>
              <a:t>class Bird {}</a:t>
            </a:r>
          </a:p>
          <a:p>
            <a:pPr marL="0" indent="0">
              <a:buNone/>
            </a:pPr>
            <a:endParaRPr lang="en-US" sz="2200" dirty="0" smtClean="0">
              <a:solidFill>
                <a:schemeClr val="accent5"/>
              </a:solidFill>
            </a:endParaRPr>
          </a:p>
          <a:p>
            <a:pPr marL="0" indent="0">
              <a:buNone/>
            </a:pPr>
            <a:r>
              <a:rPr lang="en-US" sz="2200" dirty="0" smtClean="0">
                <a:solidFill>
                  <a:schemeClr val="accent5"/>
                </a:solidFill>
              </a:rPr>
              <a:t>public class </a:t>
            </a:r>
            <a:r>
              <a:rPr lang="en-US" sz="2200" dirty="0" err="1" smtClean="0">
                <a:solidFill>
                  <a:schemeClr val="accent5"/>
                </a:solidFill>
              </a:rPr>
              <a:t>DefaultConstructor</a:t>
            </a:r>
            <a:r>
              <a:rPr lang="en-US" sz="2200" dirty="0" smtClean="0">
                <a:solidFill>
                  <a:schemeClr val="accent5"/>
                </a:solidFill>
              </a:rPr>
              <a:t> {</a:t>
            </a:r>
          </a:p>
          <a:p>
            <a:pPr marL="0" indent="0">
              <a:buNone/>
            </a:pPr>
            <a:r>
              <a:rPr lang="en-US" sz="2200" dirty="0" smtClean="0">
                <a:solidFill>
                  <a:schemeClr val="accent5"/>
                </a:solidFill>
              </a:rPr>
              <a:t>  public static void main(String[] </a:t>
            </a:r>
            <a:r>
              <a:rPr lang="en-US" sz="2200" dirty="0" err="1" smtClean="0">
                <a:solidFill>
                  <a:schemeClr val="accent5"/>
                </a:solidFill>
              </a:rPr>
              <a:t>args</a:t>
            </a:r>
            <a:r>
              <a:rPr lang="en-US" sz="2200" dirty="0" smtClean="0">
                <a:solidFill>
                  <a:schemeClr val="accent5"/>
                </a:solidFill>
              </a:rPr>
              <a:t>) {</a:t>
            </a:r>
          </a:p>
          <a:p>
            <a:pPr marL="0" indent="0">
              <a:buNone/>
            </a:pPr>
            <a:r>
              <a:rPr lang="en-US" sz="2200" dirty="0" smtClean="0">
                <a:solidFill>
                  <a:schemeClr val="accent5"/>
                </a:solidFill>
              </a:rPr>
              <a:t>    Bird b = new Bird(); // Default!</a:t>
            </a:r>
          </a:p>
          <a:p>
            <a:pPr marL="0" indent="0">
              <a:buNone/>
            </a:pPr>
            <a:r>
              <a:rPr lang="en-US" sz="2200" dirty="0" smtClean="0">
                <a:solidFill>
                  <a:schemeClr val="accent5"/>
                </a:solidFill>
              </a:rPr>
              <a:t>  }</a:t>
            </a:r>
          </a:p>
          <a:p>
            <a:pPr marL="0" indent="0">
              <a:buNone/>
            </a:pPr>
            <a:r>
              <a:rPr lang="en-US" sz="2200" dirty="0" smtClean="0">
                <a:solidFill>
                  <a:schemeClr val="accent5"/>
                </a:solidFill>
              </a:rPr>
              <a:t>} </a:t>
            </a:r>
            <a:endParaRPr lang="en-US" sz="2200" dirty="0">
              <a:solidFill>
                <a:schemeClr val="accent5"/>
              </a:solidFill>
            </a:endParaRPr>
          </a:p>
        </p:txBody>
      </p:sp>
      <p:sp>
        <p:nvSpPr>
          <p:cNvPr id="4" name="Content Placeholder 3"/>
          <p:cNvSpPr>
            <a:spLocks noGrp="1"/>
          </p:cNvSpPr>
          <p:nvPr>
            <p:ph sz="half" idx="2"/>
          </p:nvPr>
        </p:nvSpPr>
        <p:spPr/>
        <p:txBody>
          <a:bodyPr>
            <a:normAutofit lnSpcReduction="10000"/>
          </a:bodyPr>
          <a:lstStyle/>
          <a:p>
            <a:r>
              <a:rPr lang="en-US" dirty="0" smtClean="0"/>
              <a:t>If no constructor is defined for the class, the compiler will automatically create a default constructor for it.</a:t>
            </a:r>
          </a:p>
          <a:p>
            <a:pPr lvl="1"/>
            <a:r>
              <a:rPr lang="en-US" dirty="0" smtClean="0"/>
              <a:t>This default constructor just calls </a:t>
            </a:r>
            <a:r>
              <a:rPr lang="en-US" dirty="0" smtClean="0">
                <a:solidFill>
                  <a:schemeClr val="accent5"/>
                </a:solidFill>
              </a:rPr>
              <a:t>super()</a:t>
            </a:r>
            <a:r>
              <a:rPr lang="en-US" dirty="0" smtClean="0"/>
              <a:t>, i.e. the no-</a:t>
            </a:r>
            <a:r>
              <a:rPr lang="en-US" dirty="0" err="1" smtClean="0"/>
              <a:t>arg</a:t>
            </a:r>
            <a:r>
              <a:rPr lang="en-US" dirty="0" smtClean="0"/>
              <a:t> constructor of its superclass.</a:t>
            </a:r>
            <a:endParaRPr lang="en-US" dirty="0"/>
          </a:p>
        </p:txBody>
      </p:sp>
      <p:sp>
        <p:nvSpPr>
          <p:cNvPr id="5" name="Slide Number Placeholder 4"/>
          <p:cNvSpPr>
            <a:spLocks noGrp="1"/>
          </p:cNvSpPr>
          <p:nvPr>
            <p:ph type="sldNum" sz="quarter" idx="12"/>
          </p:nvPr>
        </p:nvSpPr>
        <p:spPr/>
        <p:txBody>
          <a:bodyPr/>
          <a:lstStyle/>
          <a:p>
            <a:fld id="{965D6772-41C1-4987-827C-16EA866C2326}" type="slidenum">
              <a:rPr lang="en-US" smtClean="0"/>
              <a:t>15</a:t>
            </a:fld>
            <a:endParaRPr lang="en-US"/>
          </a:p>
        </p:txBody>
      </p:sp>
    </p:spTree>
    <p:extLst>
      <p:ext uri="{BB962C8B-B14F-4D97-AF65-F5344CB8AC3E}">
        <p14:creationId xmlns:p14="http://schemas.microsoft.com/office/powerpoint/2010/main" val="575428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Default Constructor (Cont.)</a:t>
            </a:r>
            <a:endParaRPr lang="en-US" dirty="0"/>
          </a:p>
        </p:txBody>
      </p:sp>
      <p:sp>
        <p:nvSpPr>
          <p:cNvPr id="3" name="Content Placeholder 2"/>
          <p:cNvSpPr>
            <a:spLocks noGrp="1"/>
          </p:cNvSpPr>
          <p:nvPr>
            <p:ph sz="half" idx="1"/>
          </p:nvPr>
        </p:nvSpPr>
        <p:spPr/>
        <p:txBody>
          <a:bodyPr>
            <a:normAutofit lnSpcReduction="10000"/>
          </a:bodyPr>
          <a:lstStyle/>
          <a:p>
            <a:r>
              <a:rPr lang="en-US" dirty="0" smtClean="0"/>
              <a:t>However, if you define any constructors (with or without arguments), the compiler will not create the default one for you!</a:t>
            </a:r>
          </a:p>
          <a:p>
            <a:endParaRPr lang="en-US" dirty="0" smtClean="0"/>
          </a:p>
        </p:txBody>
      </p:sp>
      <p:sp>
        <p:nvSpPr>
          <p:cNvPr id="4" name="Content Placeholder 3"/>
          <p:cNvSpPr>
            <a:spLocks noGrp="1"/>
          </p:cNvSpPr>
          <p:nvPr>
            <p:ph sz="half" idx="2"/>
          </p:nvPr>
        </p:nvSpPr>
        <p:spPr>
          <a:xfrm>
            <a:off x="6172200" y="1825625"/>
            <a:ext cx="5181600" cy="4710642"/>
          </a:xfrm>
        </p:spPr>
        <p:txBody>
          <a:bodyPr>
            <a:normAutofit lnSpcReduction="10000"/>
          </a:bodyPr>
          <a:lstStyle/>
          <a:p>
            <a:pPr marL="0" indent="0">
              <a:buNone/>
            </a:pPr>
            <a:r>
              <a:rPr lang="en-US" sz="2000" dirty="0" smtClean="0">
                <a:solidFill>
                  <a:schemeClr val="accent5"/>
                </a:solidFill>
              </a:rPr>
              <a:t>class Bird {</a:t>
            </a:r>
          </a:p>
          <a:p>
            <a:pPr marL="0" indent="0">
              <a:buNone/>
            </a:pPr>
            <a:r>
              <a:rPr lang="en-US" sz="2000" dirty="0" smtClean="0">
                <a:solidFill>
                  <a:schemeClr val="accent5"/>
                </a:solidFill>
              </a:rPr>
              <a:t>  Bird(</a:t>
            </a:r>
            <a:r>
              <a:rPr lang="en-US" sz="2000" dirty="0" err="1" smtClean="0">
                <a:solidFill>
                  <a:schemeClr val="accent5"/>
                </a:solidFill>
              </a:rPr>
              <a:t>int</a:t>
            </a:r>
            <a:r>
              <a:rPr lang="en-US" sz="2000" dirty="0" smtClean="0">
                <a:solidFill>
                  <a:schemeClr val="accent5"/>
                </a:solidFill>
              </a:rPr>
              <a:t> </a:t>
            </a:r>
            <a:r>
              <a:rPr lang="en-US" sz="2000" dirty="0" err="1" smtClean="0">
                <a:solidFill>
                  <a:schemeClr val="accent5"/>
                </a:solidFill>
              </a:rPr>
              <a:t>i</a:t>
            </a:r>
            <a:r>
              <a:rPr lang="en-US" sz="2000" dirty="0" smtClean="0">
                <a:solidFill>
                  <a:schemeClr val="accent5"/>
                </a:solidFill>
              </a:rPr>
              <a:t>) {}</a:t>
            </a:r>
          </a:p>
          <a:p>
            <a:pPr marL="0" indent="0">
              <a:buNone/>
            </a:pPr>
            <a:r>
              <a:rPr lang="en-US" sz="2000" dirty="0" smtClean="0">
                <a:solidFill>
                  <a:schemeClr val="accent5"/>
                </a:solidFill>
              </a:rPr>
              <a:t>  Bird(double d) {}</a:t>
            </a:r>
          </a:p>
          <a:p>
            <a:pPr marL="0" indent="0">
              <a:buNone/>
            </a:pPr>
            <a:r>
              <a:rPr lang="en-US" sz="2000" dirty="0" smtClean="0">
                <a:solidFill>
                  <a:schemeClr val="accent5"/>
                </a:solidFill>
              </a:rPr>
              <a:t>}</a:t>
            </a:r>
          </a:p>
          <a:p>
            <a:pPr marL="0" indent="0">
              <a:buNone/>
            </a:pPr>
            <a:endParaRPr lang="en-US" sz="2000" dirty="0" smtClean="0">
              <a:solidFill>
                <a:schemeClr val="accent5"/>
              </a:solidFill>
            </a:endParaRPr>
          </a:p>
          <a:p>
            <a:pPr marL="0" indent="0">
              <a:buNone/>
            </a:pPr>
            <a:r>
              <a:rPr lang="en-US" sz="2000" dirty="0" smtClean="0">
                <a:solidFill>
                  <a:schemeClr val="accent5"/>
                </a:solidFill>
              </a:rPr>
              <a:t>public class </a:t>
            </a:r>
            <a:r>
              <a:rPr lang="en-US" sz="2000" dirty="0" err="1" smtClean="0">
                <a:solidFill>
                  <a:schemeClr val="accent5"/>
                </a:solidFill>
              </a:rPr>
              <a:t>NoSynthesis</a:t>
            </a:r>
            <a:r>
              <a:rPr lang="en-US" sz="2000" dirty="0" smtClean="0">
                <a:solidFill>
                  <a:schemeClr val="accent5"/>
                </a:solidFill>
              </a:rPr>
              <a:t> {</a:t>
            </a:r>
          </a:p>
          <a:p>
            <a:pPr marL="0" indent="0">
              <a:buNone/>
            </a:pPr>
            <a:r>
              <a:rPr lang="en-US" sz="2000" dirty="0" smtClean="0">
                <a:solidFill>
                  <a:schemeClr val="accent5"/>
                </a:solidFill>
              </a:rPr>
              <a:t>  public static void main(String[] </a:t>
            </a:r>
            <a:r>
              <a:rPr lang="en-US" sz="2000" dirty="0" err="1" smtClean="0">
                <a:solidFill>
                  <a:schemeClr val="accent5"/>
                </a:solidFill>
              </a:rPr>
              <a:t>args</a:t>
            </a:r>
            <a:r>
              <a:rPr lang="en-US" sz="2000" dirty="0" smtClean="0">
                <a:solidFill>
                  <a:schemeClr val="accent5"/>
                </a:solidFill>
              </a:rPr>
              <a:t>) {</a:t>
            </a:r>
          </a:p>
          <a:p>
            <a:pPr marL="0" indent="0">
              <a:buNone/>
            </a:pPr>
            <a:r>
              <a:rPr lang="en-US" sz="2000" dirty="0" smtClean="0">
                <a:solidFill>
                  <a:schemeClr val="accent5"/>
                </a:solidFill>
              </a:rPr>
              <a:t>    //! Bird b = new Bird(); // No default</a:t>
            </a:r>
          </a:p>
          <a:p>
            <a:pPr marL="0" indent="0">
              <a:buNone/>
            </a:pPr>
            <a:r>
              <a:rPr lang="en-US" sz="2000" dirty="0" smtClean="0">
                <a:solidFill>
                  <a:schemeClr val="accent5"/>
                </a:solidFill>
              </a:rPr>
              <a:t>    Bird b2 = new Bird(1);</a:t>
            </a:r>
          </a:p>
          <a:p>
            <a:pPr marL="0" indent="0">
              <a:buNone/>
            </a:pPr>
            <a:r>
              <a:rPr lang="en-US" sz="2000" dirty="0" smtClean="0">
                <a:solidFill>
                  <a:schemeClr val="accent5"/>
                </a:solidFill>
              </a:rPr>
              <a:t>    Bird b3 = new Bird(1.0);</a:t>
            </a:r>
          </a:p>
          <a:p>
            <a:pPr marL="0" indent="0">
              <a:buNone/>
            </a:pPr>
            <a:r>
              <a:rPr lang="en-US" sz="2000" dirty="0" smtClean="0">
                <a:solidFill>
                  <a:schemeClr val="accent5"/>
                </a:solidFill>
              </a:rPr>
              <a:t>  }</a:t>
            </a:r>
          </a:p>
          <a:p>
            <a:pPr marL="0" indent="0">
              <a:buNone/>
            </a:pPr>
            <a:r>
              <a:rPr lang="en-US" sz="2000" dirty="0" smtClean="0">
                <a:solidFill>
                  <a:schemeClr val="accent5"/>
                </a:solidFill>
              </a:rPr>
              <a:t>}</a:t>
            </a:r>
            <a:endParaRPr lang="en-US" sz="2000"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16</a:t>
            </a:fld>
            <a:endParaRPr lang="en-US"/>
          </a:p>
        </p:txBody>
      </p:sp>
    </p:spTree>
    <p:extLst>
      <p:ext uri="{BB962C8B-B14F-4D97-AF65-F5344CB8AC3E}">
        <p14:creationId xmlns:p14="http://schemas.microsoft.com/office/powerpoint/2010/main" val="3733335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solidFill>
                  <a:schemeClr val="accent5"/>
                </a:solidFill>
              </a:rPr>
              <a:t>this</a:t>
            </a:r>
            <a:r>
              <a:rPr lang="en-US" dirty="0" smtClean="0"/>
              <a:t> Keyword</a:t>
            </a:r>
            <a:endParaRPr lang="en-US" dirty="0"/>
          </a:p>
        </p:txBody>
      </p:sp>
      <p:sp>
        <p:nvSpPr>
          <p:cNvPr id="3" name="Content Placeholder 2"/>
          <p:cNvSpPr>
            <a:spLocks noGrp="1"/>
          </p:cNvSpPr>
          <p:nvPr>
            <p:ph sz="half" idx="1"/>
          </p:nvPr>
        </p:nvSpPr>
        <p:spPr/>
        <p:txBody>
          <a:bodyPr>
            <a:normAutofit/>
          </a:bodyPr>
          <a:lstStyle/>
          <a:p>
            <a:r>
              <a:rPr lang="en-US" dirty="0" smtClean="0"/>
              <a:t>In a class, </a:t>
            </a:r>
            <a:r>
              <a:rPr lang="en-US" dirty="0" smtClean="0">
                <a:solidFill>
                  <a:schemeClr val="accent5"/>
                </a:solidFill>
              </a:rPr>
              <a:t>this</a:t>
            </a:r>
            <a:r>
              <a:rPr lang="en-US" dirty="0" smtClean="0"/>
              <a:t> produces the reference to the object that the method has been called for.</a:t>
            </a:r>
          </a:p>
          <a:p>
            <a:pPr lvl="1"/>
            <a:r>
              <a:rPr lang="en-US" dirty="0" smtClean="0"/>
              <a:t>Primarily used for </a:t>
            </a:r>
            <a:r>
              <a:rPr lang="en-US" i="1" dirty="0" smtClean="0"/>
              <a:t>shadowing</a:t>
            </a:r>
            <a:r>
              <a:rPr lang="en-US" dirty="0"/>
              <a:t> </a:t>
            </a:r>
            <a:r>
              <a:rPr lang="en-US" dirty="0" smtClean="0"/>
              <a:t>(which should be generally avoided)</a:t>
            </a:r>
            <a:endParaRPr lang="en-US" i="1" dirty="0" smtClean="0"/>
          </a:p>
        </p:txBody>
      </p:sp>
      <p:sp>
        <p:nvSpPr>
          <p:cNvPr id="4" name="Content Placeholder 3"/>
          <p:cNvSpPr>
            <a:spLocks noGrp="1"/>
          </p:cNvSpPr>
          <p:nvPr>
            <p:ph sz="half" idx="2"/>
          </p:nvPr>
        </p:nvSpPr>
        <p:spPr>
          <a:xfrm>
            <a:off x="6172200" y="1241778"/>
            <a:ext cx="5181600" cy="5192889"/>
          </a:xfrm>
        </p:spPr>
        <p:txBody>
          <a:bodyPr>
            <a:normAutofit/>
          </a:bodyPr>
          <a:lstStyle/>
          <a:p>
            <a:pPr marL="0" indent="0">
              <a:buNone/>
            </a:pPr>
            <a:r>
              <a:rPr lang="en-US" sz="2000" dirty="0" smtClean="0">
                <a:solidFill>
                  <a:schemeClr val="accent5"/>
                </a:solidFill>
              </a:rPr>
              <a:t>class Point {</a:t>
            </a:r>
          </a:p>
          <a:p>
            <a:pPr marL="0" indent="0">
              <a:buNone/>
            </a:pPr>
            <a:r>
              <a:rPr lang="en-US" sz="2000" dirty="0" smtClean="0">
                <a:solidFill>
                  <a:schemeClr val="accent5"/>
                </a:solidFill>
              </a:rPr>
              <a:t>    public </a:t>
            </a:r>
            <a:r>
              <a:rPr lang="en-US" sz="2000" dirty="0" err="1" smtClean="0">
                <a:solidFill>
                  <a:schemeClr val="accent5"/>
                </a:solidFill>
              </a:rPr>
              <a:t>int</a:t>
            </a:r>
            <a:r>
              <a:rPr lang="en-US" sz="2000" dirty="0" smtClean="0">
                <a:solidFill>
                  <a:schemeClr val="accent5"/>
                </a:solidFill>
              </a:rPr>
              <a:t> x = 0;</a:t>
            </a:r>
          </a:p>
          <a:p>
            <a:pPr marL="0" indent="0">
              <a:buNone/>
            </a:pPr>
            <a:r>
              <a:rPr lang="en-US" sz="2000" dirty="0" smtClean="0">
                <a:solidFill>
                  <a:schemeClr val="accent5"/>
                </a:solidFill>
              </a:rPr>
              <a:t>    public </a:t>
            </a:r>
            <a:r>
              <a:rPr lang="en-US" sz="2000" dirty="0" err="1" smtClean="0">
                <a:solidFill>
                  <a:schemeClr val="accent5"/>
                </a:solidFill>
              </a:rPr>
              <a:t>int</a:t>
            </a:r>
            <a:r>
              <a:rPr lang="en-US" sz="2000" dirty="0" smtClean="0">
                <a:solidFill>
                  <a:schemeClr val="accent5"/>
                </a:solidFill>
              </a:rPr>
              <a:t> y = 0;</a:t>
            </a:r>
          </a:p>
          <a:p>
            <a:pPr marL="0" indent="0">
              <a:buNone/>
            </a:pPr>
            <a:r>
              <a:rPr lang="en-US" sz="2000" dirty="0" smtClean="0">
                <a:solidFill>
                  <a:schemeClr val="accent5"/>
                </a:solidFill>
              </a:rPr>
              <a:t>    public Point(</a:t>
            </a:r>
            <a:r>
              <a:rPr lang="en-US" sz="2000" dirty="0" err="1" smtClean="0">
                <a:solidFill>
                  <a:schemeClr val="accent5"/>
                </a:solidFill>
              </a:rPr>
              <a:t>int</a:t>
            </a:r>
            <a:r>
              <a:rPr lang="en-US" sz="2000" dirty="0" smtClean="0">
                <a:solidFill>
                  <a:schemeClr val="accent5"/>
                </a:solidFill>
              </a:rPr>
              <a:t> a, </a:t>
            </a:r>
            <a:r>
              <a:rPr lang="en-US" sz="2000" dirty="0" err="1" smtClean="0">
                <a:solidFill>
                  <a:schemeClr val="accent5"/>
                </a:solidFill>
              </a:rPr>
              <a:t>int</a:t>
            </a:r>
            <a:r>
              <a:rPr lang="en-US" sz="2000" dirty="0" smtClean="0">
                <a:solidFill>
                  <a:schemeClr val="accent5"/>
                </a:solidFill>
              </a:rPr>
              <a:t> b) {</a:t>
            </a:r>
          </a:p>
          <a:p>
            <a:pPr marL="0" indent="0">
              <a:buNone/>
            </a:pPr>
            <a:r>
              <a:rPr lang="en-US" sz="2000" dirty="0" smtClean="0">
                <a:solidFill>
                  <a:schemeClr val="accent5"/>
                </a:solidFill>
              </a:rPr>
              <a:t>        x = a; y = b;</a:t>
            </a:r>
          </a:p>
          <a:p>
            <a:pPr marL="0" indent="0">
              <a:buNone/>
            </a:pP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public move(</a:t>
            </a:r>
            <a:r>
              <a:rPr lang="en-US" sz="2000" dirty="0" err="1" smtClean="0">
                <a:solidFill>
                  <a:schemeClr val="accent5"/>
                </a:solidFill>
              </a:rPr>
              <a:t>int</a:t>
            </a:r>
            <a:r>
              <a:rPr lang="en-US" sz="2000" dirty="0" smtClean="0">
                <a:solidFill>
                  <a:schemeClr val="accent5"/>
                </a:solidFill>
              </a:rPr>
              <a:t> x, </a:t>
            </a:r>
            <a:r>
              <a:rPr lang="en-US" sz="2000" dirty="0" err="1" smtClean="0">
                <a:solidFill>
                  <a:schemeClr val="accent5"/>
                </a:solidFill>
              </a:rPr>
              <a:t>int</a:t>
            </a:r>
            <a:r>
              <a:rPr lang="en-US" sz="2000" dirty="0" smtClean="0">
                <a:solidFill>
                  <a:schemeClr val="accent5"/>
                </a:solidFill>
              </a:rPr>
              <a:t> y) {</a:t>
            </a:r>
          </a:p>
          <a:p>
            <a:pPr marL="0" indent="0">
              <a:buNone/>
            </a:pPr>
            <a:r>
              <a:rPr lang="en-US" sz="2000" dirty="0">
                <a:solidFill>
                  <a:schemeClr val="accent5"/>
                </a:solidFill>
              </a:rPr>
              <a:t> </a:t>
            </a:r>
            <a:r>
              <a:rPr lang="en-US" sz="2000" dirty="0" smtClean="0">
                <a:solidFill>
                  <a:schemeClr val="accent5"/>
                </a:solidFill>
              </a:rPr>
              <a:t>     //parameters shadow the fields!</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this.x</a:t>
            </a:r>
            <a:r>
              <a:rPr lang="en-US" sz="2000" dirty="0" smtClean="0">
                <a:solidFill>
                  <a:schemeClr val="accent5"/>
                </a:solidFill>
              </a:rPr>
              <a:t> = x;</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this.y</a:t>
            </a:r>
            <a:r>
              <a:rPr lang="en-US" sz="2000" dirty="0" smtClean="0">
                <a:solidFill>
                  <a:schemeClr val="accent5"/>
                </a:solidFill>
              </a:rPr>
              <a:t> = y;</a:t>
            </a:r>
          </a:p>
          <a:p>
            <a:pPr marL="0" indent="0">
              <a:buNone/>
            </a:pPr>
            <a:r>
              <a:rPr lang="en-US" sz="2000" dirty="0">
                <a:solidFill>
                  <a:schemeClr val="accent5"/>
                </a:solidFill>
              </a:rPr>
              <a:t> </a:t>
            </a:r>
            <a:r>
              <a:rPr lang="en-US" sz="2000" dirty="0" smtClean="0">
                <a:solidFill>
                  <a:schemeClr val="accent5"/>
                </a:solidFill>
              </a:rPr>
              <a:t>   }</a:t>
            </a:r>
          </a:p>
          <a:p>
            <a:pPr marL="0" indent="0">
              <a:buNone/>
            </a:pPr>
            <a:r>
              <a:rPr lang="en-US" sz="2000" dirty="0" smtClean="0">
                <a:solidFill>
                  <a:schemeClr val="accent5"/>
                </a:solidFill>
              </a:rPr>
              <a:t>}</a:t>
            </a:r>
          </a:p>
          <a:p>
            <a:pPr marL="0" indent="0">
              <a:buNone/>
            </a:pPr>
            <a:endParaRPr lang="en-US" sz="2000" dirty="0"/>
          </a:p>
        </p:txBody>
      </p:sp>
      <p:sp>
        <p:nvSpPr>
          <p:cNvPr id="5" name="Slide Number Placeholder 4"/>
          <p:cNvSpPr>
            <a:spLocks noGrp="1"/>
          </p:cNvSpPr>
          <p:nvPr>
            <p:ph type="sldNum" sz="quarter" idx="12"/>
          </p:nvPr>
        </p:nvSpPr>
        <p:spPr/>
        <p:txBody>
          <a:bodyPr/>
          <a:lstStyle/>
          <a:p>
            <a:fld id="{965D6772-41C1-4987-827C-16EA866C2326}" type="slidenum">
              <a:rPr lang="en-US" smtClean="0"/>
              <a:t>17</a:t>
            </a:fld>
            <a:endParaRPr lang="en-US"/>
          </a:p>
        </p:txBody>
      </p:sp>
    </p:spTree>
    <p:extLst>
      <p:ext uri="{BB962C8B-B14F-4D97-AF65-F5344CB8AC3E}">
        <p14:creationId xmlns:p14="http://schemas.microsoft.com/office/powerpoint/2010/main" val="3971390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solidFill>
                  <a:schemeClr val="accent5"/>
                </a:solidFill>
              </a:rPr>
              <a:t>this</a:t>
            </a:r>
            <a:r>
              <a:rPr lang="en-US" dirty="0" smtClean="0"/>
              <a:t> Keyword (Cont.)</a:t>
            </a:r>
            <a:endParaRPr lang="en-US" dirty="0"/>
          </a:p>
        </p:txBody>
      </p:sp>
      <p:sp>
        <p:nvSpPr>
          <p:cNvPr id="3" name="Content Placeholder 2"/>
          <p:cNvSpPr>
            <a:spLocks noGrp="1"/>
          </p:cNvSpPr>
          <p:nvPr>
            <p:ph sz="half" idx="1"/>
          </p:nvPr>
        </p:nvSpPr>
        <p:spPr/>
        <p:txBody>
          <a:bodyPr>
            <a:normAutofit fontScale="62500" lnSpcReduction="20000"/>
          </a:bodyPr>
          <a:lstStyle/>
          <a:p>
            <a:r>
              <a:rPr lang="en-US" sz="4500" dirty="0" smtClean="0"/>
              <a:t>Also useful for passing the current object to a foreign method:</a:t>
            </a:r>
          </a:p>
          <a:p>
            <a:pPr marL="0" indent="0">
              <a:buNone/>
            </a:pPr>
            <a:endParaRPr lang="en-US" sz="2000" dirty="0" smtClean="0"/>
          </a:p>
          <a:p>
            <a:pPr marL="0" indent="0">
              <a:buNone/>
            </a:pPr>
            <a:r>
              <a:rPr lang="en-US" sz="2900" dirty="0" smtClean="0">
                <a:solidFill>
                  <a:schemeClr val="accent5"/>
                </a:solidFill>
              </a:rPr>
              <a:t>class Person {</a:t>
            </a:r>
          </a:p>
          <a:p>
            <a:pPr marL="0" indent="0">
              <a:buNone/>
            </a:pPr>
            <a:r>
              <a:rPr lang="en-US" sz="2900" dirty="0" smtClean="0">
                <a:solidFill>
                  <a:schemeClr val="accent5"/>
                </a:solidFill>
              </a:rPr>
              <a:t>  public void eat(Apple apple) {</a:t>
            </a:r>
          </a:p>
          <a:p>
            <a:pPr marL="0" indent="0">
              <a:buNone/>
            </a:pPr>
            <a:r>
              <a:rPr lang="en-US" sz="2900" dirty="0" smtClean="0">
                <a:solidFill>
                  <a:schemeClr val="accent5"/>
                </a:solidFill>
              </a:rPr>
              <a:t>    Apple peeled = </a:t>
            </a:r>
            <a:r>
              <a:rPr lang="en-US" sz="2900" dirty="0" err="1" smtClean="0">
                <a:solidFill>
                  <a:schemeClr val="accent5"/>
                </a:solidFill>
              </a:rPr>
              <a:t>apple.getPeeled</a:t>
            </a:r>
            <a:r>
              <a:rPr lang="en-US" sz="2900" dirty="0" smtClean="0">
                <a:solidFill>
                  <a:schemeClr val="accent5"/>
                </a:solidFill>
              </a:rPr>
              <a:t>();</a:t>
            </a:r>
          </a:p>
          <a:p>
            <a:pPr marL="0" indent="0">
              <a:buNone/>
            </a:pPr>
            <a:r>
              <a:rPr lang="en-US" sz="2900" dirty="0" smtClean="0">
                <a:solidFill>
                  <a:schemeClr val="accent5"/>
                </a:solidFill>
              </a:rPr>
              <a:t>    </a:t>
            </a:r>
            <a:r>
              <a:rPr lang="en-US" sz="2900" dirty="0" err="1" smtClean="0">
                <a:solidFill>
                  <a:schemeClr val="accent5"/>
                </a:solidFill>
              </a:rPr>
              <a:t>System.out.println</a:t>
            </a:r>
            <a:r>
              <a:rPr lang="en-US" sz="2900" dirty="0" smtClean="0">
                <a:solidFill>
                  <a:schemeClr val="accent5"/>
                </a:solidFill>
              </a:rPr>
              <a:t>("Yummy");</a:t>
            </a:r>
          </a:p>
          <a:p>
            <a:pPr marL="0" indent="0">
              <a:buNone/>
            </a:pPr>
            <a:r>
              <a:rPr lang="en-US" sz="2900" dirty="0" smtClean="0">
                <a:solidFill>
                  <a:schemeClr val="accent5"/>
                </a:solidFill>
              </a:rPr>
              <a:t>  }</a:t>
            </a:r>
          </a:p>
          <a:p>
            <a:pPr marL="0" indent="0">
              <a:buNone/>
            </a:pPr>
            <a:r>
              <a:rPr lang="en-US" sz="2900" dirty="0" smtClean="0">
                <a:solidFill>
                  <a:schemeClr val="accent5"/>
                </a:solidFill>
              </a:rPr>
              <a:t>}</a:t>
            </a:r>
            <a:endParaRPr lang="en-US" sz="2900" dirty="0">
              <a:solidFill>
                <a:schemeClr val="accent5"/>
              </a:solidFill>
            </a:endParaRPr>
          </a:p>
        </p:txBody>
      </p:sp>
      <p:sp>
        <p:nvSpPr>
          <p:cNvPr id="4" name="Content Placeholder 3"/>
          <p:cNvSpPr>
            <a:spLocks noGrp="1"/>
          </p:cNvSpPr>
          <p:nvPr>
            <p:ph sz="half" idx="2"/>
          </p:nvPr>
        </p:nvSpPr>
        <p:spPr>
          <a:xfrm>
            <a:off x="6172200" y="1253066"/>
            <a:ext cx="5181600" cy="5249333"/>
          </a:xfrm>
        </p:spPr>
        <p:txBody>
          <a:bodyPr>
            <a:normAutofit fontScale="62500" lnSpcReduction="20000"/>
          </a:bodyPr>
          <a:lstStyle/>
          <a:p>
            <a:pPr marL="0" indent="0">
              <a:buNone/>
            </a:pPr>
            <a:r>
              <a:rPr lang="en-US" dirty="0" smtClean="0">
                <a:solidFill>
                  <a:schemeClr val="accent5"/>
                </a:solidFill>
              </a:rPr>
              <a:t>class Peeler {</a:t>
            </a:r>
          </a:p>
          <a:p>
            <a:pPr marL="0" indent="0">
              <a:buNone/>
            </a:pPr>
            <a:r>
              <a:rPr lang="en-US" dirty="0" smtClean="0">
                <a:solidFill>
                  <a:schemeClr val="accent5"/>
                </a:solidFill>
              </a:rPr>
              <a:t>  static Apple peel(Apple apple) {</a:t>
            </a:r>
          </a:p>
          <a:p>
            <a:pPr marL="0" indent="0">
              <a:buNone/>
            </a:pPr>
            <a:r>
              <a:rPr lang="en-US" dirty="0" smtClean="0">
                <a:solidFill>
                  <a:schemeClr val="accent5"/>
                </a:solidFill>
              </a:rPr>
              <a:t>    // ... remove peel</a:t>
            </a:r>
          </a:p>
          <a:p>
            <a:pPr marL="0" indent="0">
              <a:buNone/>
            </a:pPr>
            <a:r>
              <a:rPr lang="en-US" dirty="0" smtClean="0">
                <a:solidFill>
                  <a:schemeClr val="accent5"/>
                </a:solidFill>
              </a:rPr>
              <a:t>    return apple; // Peeled</a:t>
            </a:r>
          </a:p>
          <a:p>
            <a:pPr marL="0" indent="0">
              <a:buNone/>
            </a:pPr>
            <a:r>
              <a:rPr lang="en-US" dirty="0" smtClean="0">
                <a:solidFill>
                  <a:schemeClr val="accent5"/>
                </a:solidFill>
              </a:rPr>
              <a:t>  }</a:t>
            </a:r>
          </a:p>
          <a:p>
            <a:pPr marL="0" indent="0">
              <a:buNone/>
            </a:pPr>
            <a:r>
              <a:rPr lang="en-US" dirty="0" smtClean="0">
                <a:solidFill>
                  <a:schemeClr val="accent5"/>
                </a:solidFill>
              </a:rPr>
              <a:t>}</a:t>
            </a:r>
          </a:p>
          <a:p>
            <a:pPr marL="0" indent="0">
              <a:buNone/>
            </a:pPr>
            <a:r>
              <a:rPr lang="en-US" dirty="0" smtClean="0">
                <a:solidFill>
                  <a:schemeClr val="accent5"/>
                </a:solidFill>
              </a:rPr>
              <a:t>class Apple {</a:t>
            </a:r>
          </a:p>
          <a:p>
            <a:pPr marL="0" indent="0">
              <a:buNone/>
            </a:pPr>
            <a:r>
              <a:rPr lang="en-US" dirty="0" smtClean="0">
                <a:solidFill>
                  <a:schemeClr val="accent5"/>
                </a:solidFill>
              </a:rPr>
              <a:t>  Apple </a:t>
            </a:r>
            <a:r>
              <a:rPr lang="en-US" dirty="0" err="1" smtClean="0">
                <a:solidFill>
                  <a:schemeClr val="accent5"/>
                </a:solidFill>
              </a:rPr>
              <a:t>getPeeled</a:t>
            </a:r>
            <a:r>
              <a:rPr lang="en-US" dirty="0" smtClean="0">
                <a:solidFill>
                  <a:schemeClr val="accent5"/>
                </a:solidFill>
              </a:rPr>
              <a:t>() { return </a:t>
            </a:r>
            <a:r>
              <a:rPr lang="en-US" dirty="0" err="1" smtClean="0">
                <a:solidFill>
                  <a:schemeClr val="accent5"/>
                </a:solidFill>
              </a:rPr>
              <a:t>Peeler.peel</a:t>
            </a:r>
            <a:r>
              <a:rPr lang="en-US" dirty="0" smtClean="0">
                <a:solidFill>
                  <a:schemeClr val="accent5"/>
                </a:solidFill>
              </a:rPr>
              <a:t>(this); }</a:t>
            </a:r>
          </a:p>
          <a:p>
            <a:pPr marL="0" indent="0">
              <a:buNone/>
            </a:pPr>
            <a:r>
              <a:rPr lang="en-US" dirty="0" smtClean="0">
                <a:solidFill>
                  <a:schemeClr val="accent5"/>
                </a:solidFill>
              </a:rPr>
              <a:t>}</a:t>
            </a:r>
          </a:p>
          <a:p>
            <a:pPr marL="0" indent="0">
              <a:buNone/>
            </a:pPr>
            <a:r>
              <a:rPr lang="en-US" dirty="0" smtClean="0">
                <a:solidFill>
                  <a:schemeClr val="accent5"/>
                </a:solidFill>
              </a:rPr>
              <a:t>public class </a:t>
            </a:r>
            <a:r>
              <a:rPr lang="en-US" dirty="0" err="1" smtClean="0">
                <a:solidFill>
                  <a:schemeClr val="accent5"/>
                </a:solidFill>
              </a:rPr>
              <a:t>PassingThis</a:t>
            </a:r>
            <a:r>
              <a:rPr lang="en-US" dirty="0" smtClean="0">
                <a:solidFill>
                  <a:schemeClr val="accent5"/>
                </a:solidFill>
              </a:rPr>
              <a:t> {</a:t>
            </a:r>
          </a:p>
          <a:p>
            <a:pPr marL="0" indent="0">
              <a:buNone/>
            </a:pPr>
            <a:r>
              <a:rPr lang="en-US" dirty="0" smtClean="0">
                <a:solidFill>
                  <a:schemeClr val="accent5"/>
                </a:solidFill>
              </a:rPr>
              <a:t>  public static void main(String[] </a:t>
            </a:r>
            <a:r>
              <a:rPr lang="en-US" dirty="0" err="1" smtClean="0">
                <a:solidFill>
                  <a:schemeClr val="accent5"/>
                </a:solidFill>
              </a:rPr>
              <a:t>args</a:t>
            </a:r>
            <a:r>
              <a:rPr lang="en-US" dirty="0" smtClean="0">
                <a:solidFill>
                  <a:schemeClr val="accent5"/>
                </a:solidFill>
              </a:rPr>
              <a:t>) {</a:t>
            </a:r>
          </a:p>
          <a:p>
            <a:pPr marL="0" indent="0">
              <a:buNone/>
            </a:pPr>
            <a:r>
              <a:rPr lang="en-US" dirty="0" smtClean="0">
                <a:solidFill>
                  <a:schemeClr val="accent5"/>
                </a:solidFill>
              </a:rPr>
              <a:t>    new Person().eat(new Apple());</a:t>
            </a:r>
          </a:p>
          <a:p>
            <a:pPr marL="0" indent="0">
              <a:buNone/>
            </a:pPr>
            <a:r>
              <a:rPr lang="en-US" dirty="0" smtClean="0">
                <a:solidFill>
                  <a:schemeClr val="accent5"/>
                </a:solidFill>
              </a:rPr>
              <a:t>  }</a:t>
            </a:r>
          </a:p>
          <a:p>
            <a:pPr marL="0" indent="0">
              <a:buNone/>
            </a:pPr>
            <a:r>
              <a:rPr lang="en-US" dirty="0" smtClean="0">
                <a:solidFill>
                  <a:schemeClr val="accent5"/>
                </a:solidFill>
              </a:rPr>
              <a:t>} /* Output:</a:t>
            </a:r>
          </a:p>
          <a:p>
            <a:pPr marL="0" indent="0">
              <a:buNone/>
            </a:pPr>
            <a:r>
              <a:rPr lang="en-US" dirty="0" smtClean="0">
                <a:solidFill>
                  <a:schemeClr val="accent5"/>
                </a:solidFill>
              </a:rPr>
              <a:t>Yummy</a:t>
            </a:r>
          </a:p>
          <a:p>
            <a:pPr marL="0" indent="0">
              <a:buNone/>
            </a:pPr>
            <a:r>
              <a:rPr lang="en-US" dirty="0" smtClean="0">
                <a:solidFill>
                  <a:schemeClr val="accent5"/>
                </a:solidFill>
              </a:rPr>
              <a:t>*/</a:t>
            </a:r>
            <a:endParaRPr lang="en-US"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18</a:t>
            </a:fld>
            <a:endParaRPr lang="en-US"/>
          </a:p>
        </p:txBody>
      </p:sp>
    </p:spTree>
    <p:extLst>
      <p:ext uri="{BB962C8B-B14F-4D97-AF65-F5344CB8AC3E}">
        <p14:creationId xmlns:p14="http://schemas.microsoft.com/office/powerpoint/2010/main" val="3818161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5"/>
                </a:solidFill>
              </a:rPr>
              <a:t>t</a:t>
            </a:r>
            <a:r>
              <a:rPr lang="en-US" dirty="0" smtClean="0">
                <a:solidFill>
                  <a:schemeClr val="accent5"/>
                </a:solidFill>
              </a:rPr>
              <a:t>his</a:t>
            </a:r>
            <a:r>
              <a:rPr lang="en-US" dirty="0" smtClean="0"/>
              <a:t> Used For Constructors</a:t>
            </a:r>
            <a:endParaRPr lang="en-US" dirty="0"/>
          </a:p>
        </p:txBody>
      </p:sp>
      <p:sp>
        <p:nvSpPr>
          <p:cNvPr id="3" name="Content Placeholder 2"/>
          <p:cNvSpPr>
            <a:spLocks noGrp="1"/>
          </p:cNvSpPr>
          <p:nvPr>
            <p:ph idx="1"/>
          </p:nvPr>
        </p:nvSpPr>
        <p:spPr/>
        <p:txBody>
          <a:bodyPr/>
          <a:lstStyle/>
          <a:p>
            <a:r>
              <a:rPr lang="en-US" dirty="0" smtClean="0"/>
              <a:t>In a constructor, </a:t>
            </a:r>
            <a:r>
              <a:rPr lang="en-US" dirty="0" smtClean="0">
                <a:solidFill>
                  <a:schemeClr val="accent5"/>
                </a:solidFill>
              </a:rPr>
              <a:t>this(…) </a:t>
            </a:r>
            <a:r>
              <a:rPr lang="en-US" dirty="0" smtClean="0"/>
              <a:t>makes an explicit call to the constructor that matches that argument list.</a:t>
            </a:r>
          </a:p>
          <a:p>
            <a:pPr lvl="1"/>
            <a:r>
              <a:rPr lang="en-US" dirty="0">
                <a:solidFill>
                  <a:schemeClr val="accent5"/>
                </a:solidFill>
              </a:rPr>
              <a:t>t</a:t>
            </a:r>
            <a:r>
              <a:rPr lang="en-US" dirty="0" smtClean="0">
                <a:solidFill>
                  <a:schemeClr val="accent5"/>
                </a:solidFill>
              </a:rPr>
              <a:t>his(…) </a:t>
            </a:r>
            <a:r>
              <a:rPr lang="en-US" dirty="0" smtClean="0"/>
              <a:t>cannot be called inside a non-constructor</a:t>
            </a:r>
          </a:p>
          <a:p>
            <a:pPr lvl="1"/>
            <a:r>
              <a:rPr lang="en-US" dirty="0" smtClean="0"/>
              <a:t>Can only be used once in the same constructor</a:t>
            </a:r>
          </a:p>
          <a:p>
            <a:pPr lvl="1"/>
            <a:r>
              <a:rPr lang="en-US" dirty="0" smtClean="0"/>
              <a:t>Must be the first thing to do in the constructor</a:t>
            </a:r>
            <a:endParaRPr lang="en-US" dirty="0"/>
          </a:p>
        </p:txBody>
      </p:sp>
      <p:sp>
        <p:nvSpPr>
          <p:cNvPr id="4" name="Slide Number Placeholder 3"/>
          <p:cNvSpPr>
            <a:spLocks noGrp="1"/>
          </p:cNvSpPr>
          <p:nvPr>
            <p:ph type="sldNum" sz="quarter" idx="12"/>
          </p:nvPr>
        </p:nvSpPr>
        <p:spPr/>
        <p:txBody>
          <a:bodyPr/>
          <a:lstStyle/>
          <a:p>
            <a:fld id="{965D6772-41C1-4987-827C-16EA866C2326}" type="slidenum">
              <a:rPr lang="en-US" smtClean="0"/>
              <a:t>19</a:t>
            </a:fld>
            <a:endParaRPr lang="en-US"/>
          </a:p>
        </p:txBody>
      </p:sp>
    </p:spTree>
    <p:extLst>
      <p:ext uri="{BB962C8B-B14F-4D97-AF65-F5344CB8AC3E}">
        <p14:creationId xmlns:p14="http://schemas.microsoft.com/office/powerpoint/2010/main" val="266993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 Example</a:t>
            </a:r>
            <a:endParaRPr lang="en-US" dirty="0"/>
          </a:p>
        </p:txBody>
      </p:sp>
      <p:sp>
        <p:nvSpPr>
          <p:cNvPr id="3" name="Content Placeholder 2"/>
          <p:cNvSpPr>
            <a:spLocks noGrp="1"/>
          </p:cNvSpPr>
          <p:nvPr>
            <p:ph sz="half" idx="1"/>
          </p:nvPr>
        </p:nvSpPr>
        <p:spPr/>
        <p:txBody>
          <a:bodyPr>
            <a:normAutofit fontScale="70000" lnSpcReduction="20000"/>
          </a:bodyPr>
          <a:lstStyle/>
          <a:p>
            <a:pPr marL="0" indent="0">
              <a:buNone/>
            </a:pPr>
            <a:r>
              <a:rPr lang="en-US" dirty="0" smtClean="0">
                <a:solidFill>
                  <a:schemeClr val="accent5"/>
                </a:solidFill>
              </a:rPr>
              <a:t>public class Flower {</a:t>
            </a:r>
          </a:p>
          <a:p>
            <a:pPr marL="0" indent="0">
              <a:buNone/>
            </a:pPr>
            <a:endParaRPr lang="en-US" dirty="0" smtClean="0">
              <a:solidFill>
                <a:schemeClr val="accent5"/>
              </a:solidFill>
            </a:endParaRPr>
          </a:p>
          <a:p>
            <a:pPr marL="0" indent="0">
              <a:buNone/>
            </a:pPr>
            <a:r>
              <a:rPr lang="en-US" dirty="0" smtClean="0">
                <a:solidFill>
                  <a:schemeClr val="accent5"/>
                </a:solidFill>
              </a:rPr>
              <a:t>  </a:t>
            </a:r>
            <a:r>
              <a:rPr lang="en-US" dirty="0" err="1" smtClean="0">
                <a:solidFill>
                  <a:schemeClr val="accent5"/>
                </a:solidFill>
              </a:rPr>
              <a:t>int</a:t>
            </a:r>
            <a:r>
              <a:rPr lang="en-US" dirty="0" smtClean="0">
                <a:solidFill>
                  <a:schemeClr val="accent5"/>
                </a:solidFill>
              </a:rPr>
              <a:t> </a:t>
            </a:r>
            <a:r>
              <a:rPr lang="en-US" dirty="0" err="1" smtClean="0">
                <a:solidFill>
                  <a:schemeClr val="accent5"/>
                </a:solidFill>
              </a:rPr>
              <a:t>petalCount</a:t>
            </a:r>
            <a:r>
              <a:rPr lang="en-US" dirty="0" smtClean="0">
                <a:solidFill>
                  <a:schemeClr val="accent5"/>
                </a:solidFill>
              </a:rPr>
              <a:t> = 0;</a:t>
            </a:r>
          </a:p>
          <a:p>
            <a:pPr marL="0" indent="0">
              <a:buNone/>
            </a:pPr>
            <a:r>
              <a:rPr lang="en-US" dirty="0" smtClean="0">
                <a:solidFill>
                  <a:schemeClr val="accent5"/>
                </a:solidFill>
              </a:rPr>
              <a:t>  String s = "initial value";</a:t>
            </a:r>
          </a:p>
          <a:p>
            <a:pPr marL="0" indent="0">
              <a:buNone/>
            </a:pPr>
            <a:endParaRPr lang="en-US" dirty="0" smtClean="0">
              <a:solidFill>
                <a:schemeClr val="accent5"/>
              </a:solidFill>
            </a:endParaRPr>
          </a:p>
          <a:p>
            <a:pPr marL="0" indent="0">
              <a:buNone/>
            </a:pPr>
            <a:r>
              <a:rPr lang="en-US" dirty="0" smtClean="0">
                <a:solidFill>
                  <a:schemeClr val="accent5"/>
                </a:solidFill>
              </a:rPr>
              <a:t>  Flower(</a:t>
            </a:r>
            <a:r>
              <a:rPr lang="en-US" dirty="0" err="1" smtClean="0">
                <a:solidFill>
                  <a:schemeClr val="accent5"/>
                </a:solidFill>
              </a:rPr>
              <a:t>int</a:t>
            </a:r>
            <a:r>
              <a:rPr lang="en-US" dirty="0" smtClean="0">
                <a:solidFill>
                  <a:schemeClr val="accent5"/>
                </a:solidFill>
              </a:rPr>
              <a:t> petals) {</a:t>
            </a:r>
          </a:p>
          <a:p>
            <a:pPr marL="0" indent="0">
              <a:buNone/>
            </a:pPr>
            <a:r>
              <a:rPr lang="en-US" dirty="0" smtClean="0">
                <a:solidFill>
                  <a:schemeClr val="accent5"/>
                </a:solidFill>
              </a:rPr>
              <a:t>    </a:t>
            </a:r>
            <a:r>
              <a:rPr lang="en-US" dirty="0" err="1" smtClean="0">
                <a:solidFill>
                  <a:schemeClr val="accent5"/>
                </a:solidFill>
              </a:rPr>
              <a:t>petalCount</a:t>
            </a:r>
            <a:r>
              <a:rPr lang="en-US" dirty="0" smtClean="0">
                <a:solidFill>
                  <a:schemeClr val="accent5"/>
                </a:solidFill>
              </a:rPr>
              <a:t> = petals;</a:t>
            </a:r>
          </a:p>
          <a:p>
            <a:pPr marL="0" indent="0">
              <a:buNone/>
            </a:pPr>
            <a:r>
              <a:rPr lang="en-US" dirty="0" smtClean="0">
                <a:solidFill>
                  <a:schemeClr val="accent5"/>
                </a:solidFill>
              </a:rPr>
              <a:t>  }</a:t>
            </a:r>
          </a:p>
          <a:p>
            <a:pPr marL="0" indent="0">
              <a:buNone/>
            </a:pPr>
            <a:r>
              <a:rPr lang="en-US" dirty="0" smtClean="0">
                <a:solidFill>
                  <a:schemeClr val="accent5"/>
                </a:solidFill>
              </a:rPr>
              <a:t>  Flower(String </a:t>
            </a:r>
            <a:r>
              <a:rPr lang="en-US" dirty="0" err="1" smtClean="0">
                <a:solidFill>
                  <a:schemeClr val="accent5"/>
                </a:solidFill>
              </a:rPr>
              <a:t>ss</a:t>
            </a:r>
            <a:r>
              <a:rPr lang="en-US" dirty="0" smtClean="0">
                <a:solidFill>
                  <a:schemeClr val="accent5"/>
                </a:solidFill>
              </a:rPr>
              <a:t>) {</a:t>
            </a:r>
          </a:p>
          <a:p>
            <a:pPr marL="0" indent="0">
              <a:buNone/>
            </a:pPr>
            <a:r>
              <a:rPr lang="en-US" dirty="0" smtClean="0">
                <a:solidFill>
                  <a:schemeClr val="accent5"/>
                </a:solidFill>
              </a:rPr>
              <a:t>    s = </a:t>
            </a:r>
            <a:r>
              <a:rPr lang="en-US" dirty="0" err="1" smtClean="0">
                <a:solidFill>
                  <a:schemeClr val="accent5"/>
                </a:solidFill>
              </a:rPr>
              <a:t>ss</a:t>
            </a:r>
            <a:r>
              <a:rPr lang="en-US" dirty="0" smtClean="0">
                <a:solidFill>
                  <a:schemeClr val="accent5"/>
                </a:solidFill>
              </a:rPr>
              <a:t>;</a:t>
            </a:r>
          </a:p>
          <a:p>
            <a:pPr marL="0" indent="0">
              <a:buNone/>
            </a:pPr>
            <a:r>
              <a:rPr lang="en-US" dirty="0" smtClean="0">
                <a:solidFill>
                  <a:schemeClr val="accent5"/>
                </a:solidFill>
              </a:rPr>
              <a:t>  }</a:t>
            </a:r>
            <a:endParaRPr lang="en-US" dirty="0">
              <a:solidFill>
                <a:schemeClr val="accent5"/>
              </a:solidFill>
            </a:endParaRPr>
          </a:p>
        </p:txBody>
      </p:sp>
      <p:sp>
        <p:nvSpPr>
          <p:cNvPr id="4" name="Content Placeholder 3"/>
          <p:cNvSpPr>
            <a:spLocks noGrp="1"/>
          </p:cNvSpPr>
          <p:nvPr>
            <p:ph sz="half" idx="2"/>
          </p:nvPr>
        </p:nvSpPr>
        <p:spPr>
          <a:xfrm>
            <a:off x="6172200" y="365125"/>
            <a:ext cx="5181600" cy="6001808"/>
          </a:xfrm>
        </p:spPr>
        <p:txBody>
          <a:bodyPr>
            <a:normAutofit fontScale="70000" lnSpcReduction="20000"/>
          </a:bodyPr>
          <a:lstStyle/>
          <a:p>
            <a:pPr marL="0" indent="0">
              <a:buNone/>
            </a:pPr>
            <a:r>
              <a:rPr lang="en-US" dirty="0" smtClean="0">
                <a:solidFill>
                  <a:schemeClr val="accent5"/>
                </a:solidFill>
              </a:rPr>
              <a:t> Flower(String s, </a:t>
            </a:r>
            <a:r>
              <a:rPr lang="en-US" dirty="0" err="1" smtClean="0">
                <a:solidFill>
                  <a:schemeClr val="accent5"/>
                </a:solidFill>
              </a:rPr>
              <a:t>int</a:t>
            </a:r>
            <a:r>
              <a:rPr lang="en-US" dirty="0" smtClean="0">
                <a:solidFill>
                  <a:schemeClr val="accent5"/>
                </a:solidFill>
              </a:rPr>
              <a:t> petals) {</a:t>
            </a:r>
          </a:p>
          <a:p>
            <a:pPr marL="0" indent="0">
              <a:buNone/>
            </a:pPr>
            <a:r>
              <a:rPr lang="en-US" dirty="0" smtClean="0">
                <a:solidFill>
                  <a:schemeClr val="accent5"/>
                </a:solidFill>
              </a:rPr>
              <a:t>    this(petals);</a:t>
            </a:r>
          </a:p>
          <a:p>
            <a:pPr marL="0" indent="0">
              <a:buNone/>
            </a:pPr>
            <a:r>
              <a:rPr lang="en-US" dirty="0" smtClean="0">
                <a:solidFill>
                  <a:schemeClr val="accent5"/>
                </a:solidFill>
              </a:rPr>
              <a:t>    //!    this(s); // Can't call two!</a:t>
            </a:r>
          </a:p>
          <a:p>
            <a:pPr marL="0" indent="0">
              <a:buNone/>
            </a:pPr>
            <a:r>
              <a:rPr lang="en-US" dirty="0" smtClean="0">
                <a:solidFill>
                  <a:schemeClr val="accent5"/>
                </a:solidFill>
              </a:rPr>
              <a:t>    </a:t>
            </a:r>
            <a:r>
              <a:rPr lang="en-US" dirty="0" err="1" smtClean="0">
                <a:solidFill>
                  <a:schemeClr val="accent5"/>
                </a:solidFill>
              </a:rPr>
              <a:t>this.s</a:t>
            </a:r>
            <a:r>
              <a:rPr lang="en-US" dirty="0" smtClean="0">
                <a:solidFill>
                  <a:schemeClr val="accent5"/>
                </a:solidFill>
              </a:rPr>
              <a:t> = s; // Another use of "this"</a:t>
            </a:r>
          </a:p>
          <a:p>
            <a:pPr marL="0" indent="0">
              <a:buNone/>
            </a:pPr>
            <a:r>
              <a:rPr lang="en-US" dirty="0" smtClean="0">
                <a:solidFill>
                  <a:schemeClr val="accent5"/>
                </a:solidFill>
              </a:rPr>
              <a:t>  }</a:t>
            </a:r>
          </a:p>
          <a:p>
            <a:pPr marL="0" indent="0">
              <a:buNone/>
            </a:pPr>
            <a:r>
              <a:rPr lang="en-US" dirty="0" smtClean="0">
                <a:solidFill>
                  <a:schemeClr val="accent5"/>
                </a:solidFill>
              </a:rPr>
              <a:t>  Flower() {</a:t>
            </a:r>
          </a:p>
          <a:p>
            <a:pPr marL="0" indent="0">
              <a:buNone/>
            </a:pPr>
            <a:r>
              <a:rPr lang="en-US" dirty="0" smtClean="0">
                <a:solidFill>
                  <a:schemeClr val="accent5"/>
                </a:solidFill>
              </a:rPr>
              <a:t>    this("hi", 47);</a:t>
            </a:r>
          </a:p>
          <a:p>
            <a:pPr marL="0" indent="0">
              <a:buNone/>
            </a:pPr>
            <a:r>
              <a:rPr lang="en-US" dirty="0" smtClean="0">
                <a:solidFill>
                  <a:schemeClr val="accent5"/>
                </a:solidFill>
              </a:rPr>
              <a:t>  }</a:t>
            </a:r>
          </a:p>
          <a:p>
            <a:pPr marL="0" indent="0">
              <a:buNone/>
            </a:pPr>
            <a:r>
              <a:rPr lang="en-US" dirty="0" smtClean="0">
                <a:solidFill>
                  <a:schemeClr val="accent5"/>
                </a:solidFill>
              </a:rPr>
              <a:t>  void </a:t>
            </a:r>
            <a:r>
              <a:rPr lang="en-US" dirty="0" err="1" smtClean="0">
                <a:solidFill>
                  <a:schemeClr val="accent5"/>
                </a:solidFill>
              </a:rPr>
              <a:t>printPetalCount</a:t>
            </a:r>
            <a:r>
              <a:rPr lang="en-US" dirty="0" smtClean="0">
                <a:solidFill>
                  <a:schemeClr val="accent5"/>
                </a:solidFill>
              </a:rPr>
              <a:t>() {</a:t>
            </a:r>
          </a:p>
          <a:p>
            <a:pPr marL="0" indent="0">
              <a:buNone/>
            </a:pPr>
            <a:r>
              <a:rPr lang="en-US" dirty="0" smtClean="0">
                <a:solidFill>
                  <a:schemeClr val="accent5"/>
                </a:solidFill>
              </a:rPr>
              <a:t>    //! this(11); // Not inside a non-constructor!</a:t>
            </a:r>
          </a:p>
          <a:p>
            <a:pPr marL="0" indent="0">
              <a:buNone/>
            </a:pPr>
            <a:r>
              <a:rPr lang="en-US" dirty="0" smtClean="0">
                <a:solidFill>
                  <a:schemeClr val="accent5"/>
                </a:solidFill>
              </a:rPr>
              <a:t>    </a:t>
            </a:r>
            <a:r>
              <a:rPr lang="en-US" dirty="0" err="1" smtClean="0">
                <a:solidFill>
                  <a:schemeClr val="accent5"/>
                </a:solidFill>
              </a:rPr>
              <a:t>System.out.println</a:t>
            </a:r>
            <a:r>
              <a:rPr lang="en-US" dirty="0" smtClean="0">
                <a:solidFill>
                  <a:schemeClr val="accent5"/>
                </a:solidFill>
              </a:rPr>
              <a:t>("</a:t>
            </a:r>
            <a:r>
              <a:rPr lang="en-US" dirty="0" err="1" smtClean="0">
                <a:solidFill>
                  <a:schemeClr val="accent5"/>
                </a:solidFill>
              </a:rPr>
              <a:t>petalCount</a:t>
            </a:r>
            <a:r>
              <a:rPr lang="en-US" dirty="0" smtClean="0">
                <a:solidFill>
                  <a:schemeClr val="accent5"/>
                </a:solidFill>
              </a:rPr>
              <a:t> = " + </a:t>
            </a:r>
            <a:r>
              <a:rPr lang="en-US" dirty="0" err="1" smtClean="0">
                <a:solidFill>
                  <a:schemeClr val="accent5"/>
                </a:solidFill>
              </a:rPr>
              <a:t>petalCount</a:t>
            </a:r>
            <a:r>
              <a:rPr lang="en-US" dirty="0" smtClean="0">
                <a:solidFill>
                  <a:schemeClr val="accent5"/>
                </a:solidFill>
              </a:rPr>
              <a:t> + " s = "+ s);</a:t>
            </a:r>
          </a:p>
          <a:p>
            <a:pPr marL="0" indent="0">
              <a:buNone/>
            </a:pPr>
            <a:r>
              <a:rPr lang="en-US" dirty="0" smtClean="0">
                <a:solidFill>
                  <a:schemeClr val="accent5"/>
                </a:solidFill>
              </a:rPr>
              <a:t>  }</a:t>
            </a:r>
          </a:p>
          <a:p>
            <a:pPr marL="0" indent="0">
              <a:buNone/>
            </a:pPr>
            <a:r>
              <a:rPr lang="en-US" dirty="0" smtClean="0">
                <a:solidFill>
                  <a:schemeClr val="accent5"/>
                </a:solidFill>
              </a:rPr>
              <a:t>  public static void main(String[] </a:t>
            </a:r>
            <a:r>
              <a:rPr lang="en-US" dirty="0" err="1" smtClean="0">
                <a:solidFill>
                  <a:schemeClr val="accent5"/>
                </a:solidFill>
              </a:rPr>
              <a:t>args</a:t>
            </a:r>
            <a:r>
              <a:rPr lang="en-US" dirty="0" smtClean="0">
                <a:solidFill>
                  <a:schemeClr val="accent5"/>
                </a:solidFill>
              </a:rPr>
              <a:t>) {</a:t>
            </a:r>
          </a:p>
          <a:p>
            <a:pPr marL="0" indent="0">
              <a:buNone/>
            </a:pPr>
            <a:r>
              <a:rPr lang="en-US" dirty="0" smtClean="0">
                <a:solidFill>
                  <a:schemeClr val="accent5"/>
                </a:solidFill>
              </a:rPr>
              <a:t>    Flower x = new Flower();</a:t>
            </a:r>
          </a:p>
          <a:p>
            <a:pPr marL="0" indent="0">
              <a:buNone/>
            </a:pPr>
            <a:r>
              <a:rPr lang="en-US" dirty="0" smtClean="0">
                <a:solidFill>
                  <a:schemeClr val="accent5"/>
                </a:solidFill>
              </a:rPr>
              <a:t>    </a:t>
            </a:r>
            <a:r>
              <a:rPr lang="en-US" dirty="0" err="1" smtClean="0">
                <a:solidFill>
                  <a:schemeClr val="accent5"/>
                </a:solidFill>
              </a:rPr>
              <a:t>x.printPetalCount</a:t>
            </a:r>
            <a:r>
              <a:rPr lang="en-US" dirty="0" smtClean="0">
                <a:solidFill>
                  <a:schemeClr val="accent5"/>
                </a:solidFill>
              </a:rPr>
              <a:t>();</a:t>
            </a:r>
          </a:p>
          <a:p>
            <a:pPr marL="0" indent="0">
              <a:buNone/>
            </a:pPr>
            <a:r>
              <a:rPr lang="en-US" dirty="0" smtClean="0">
                <a:solidFill>
                  <a:schemeClr val="accent5"/>
                </a:solidFill>
              </a:rPr>
              <a:t>  }</a:t>
            </a:r>
          </a:p>
          <a:p>
            <a:pPr marL="0" indent="0">
              <a:buNone/>
            </a:pPr>
            <a:r>
              <a:rPr lang="en-US" dirty="0" smtClean="0">
                <a:solidFill>
                  <a:schemeClr val="accent5"/>
                </a:solidFill>
              </a:rPr>
              <a:t>}</a:t>
            </a:r>
            <a:endParaRPr lang="en-US"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20</a:t>
            </a:fld>
            <a:endParaRPr lang="en-US"/>
          </a:p>
        </p:txBody>
      </p:sp>
    </p:spTree>
    <p:extLst>
      <p:ext uri="{BB962C8B-B14F-4D97-AF65-F5344CB8AC3E}">
        <p14:creationId xmlns:p14="http://schemas.microsoft.com/office/powerpoint/2010/main" val="4206362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 Overloading</a:t>
            </a:r>
            <a:endParaRPr lang="en-US" dirty="0"/>
          </a:p>
        </p:txBody>
      </p:sp>
      <p:sp>
        <p:nvSpPr>
          <p:cNvPr id="5" name="Content Placeholder 4"/>
          <p:cNvSpPr>
            <a:spLocks noGrp="1"/>
          </p:cNvSpPr>
          <p:nvPr>
            <p:ph idx="1"/>
          </p:nvPr>
        </p:nvSpPr>
        <p:spPr/>
        <p:txBody>
          <a:bodyPr>
            <a:normAutofit/>
          </a:bodyPr>
          <a:lstStyle/>
          <a:p>
            <a:r>
              <a:rPr lang="en-US" dirty="0" smtClean="0"/>
              <a:t>Method overloading: methods within the same class have the same name but different parameter lists.</a:t>
            </a:r>
          </a:p>
          <a:p>
            <a:pPr marL="0" indent="0">
              <a:buNone/>
            </a:pPr>
            <a:r>
              <a:rPr lang="en-US" sz="2000" dirty="0" smtClean="0">
                <a:solidFill>
                  <a:schemeClr val="accent5"/>
                </a:solidFill>
              </a:rPr>
              <a:t>	void f(String s) { </a:t>
            </a:r>
            <a:r>
              <a:rPr lang="en-US" sz="2000" dirty="0" err="1" smtClean="0">
                <a:solidFill>
                  <a:schemeClr val="accent5"/>
                </a:solidFill>
              </a:rPr>
              <a:t>System.out.println</a:t>
            </a:r>
            <a:r>
              <a:rPr lang="en-US" sz="2000" dirty="0" smtClean="0">
                <a:solidFill>
                  <a:schemeClr val="accent5"/>
                </a:solidFill>
              </a:rPr>
              <a:t>(s); }</a:t>
            </a:r>
          </a:p>
          <a:p>
            <a:pPr marL="0" indent="0">
              <a:buNone/>
            </a:pPr>
            <a:r>
              <a:rPr lang="en-US" sz="2000" dirty="0" smtClean="0">
                <a:solidFill>
                  <a:schemeClr val="accent5"/>
                </a:solidFill>
              </a:rPr>
              <a:t>	void f(String s, </a:t>
            </a:r>
            <a:r>
              <a:rPr lang="en-US" sz="2000" dirty="0" err="1" smtClean="0">
                <a:solidFill>
                  <a:schemeClr val="accent5"/>
                </a:solidFill>
              </a:rPr>
              <a:t>int</a:t>
            </a:r>
            <a:r>
              <a:rPr lang="en-US" sz="2000" dirty="0" smtClean="0">
                <a:solidFill>
                  <a:schemeClr val="accent5"/>
                </a:solidFill>
              </a:rPr>
              <a:t> </a:t>
            </a:r>
            <a:r>
              <a:rPr lang="en-US" sz="2000" dirty="0" err="1" smtClean="0">
                <a:solidFill>
                  <a:schemeClr val="accent5"/>
                </a:solidFill>
              </a:rPr>
              <a:t>i</a:t>
            </a:r>
            <a:r>
              <a:rPr lang="en-US" sz="2000" dirty="0" smtClean="0">
                <a:solidFill>
                  <a:schemeClr val="accent5"/>
                </a:solidFill>
              </a:rPr>
              <a:t>) </a:t>
            </a:r>
            <a:r>
              <a:rPr lang="en-US" sz="2000" dirty="0">
                <a:solidFill>
                  <a:schemeClr val="accent5"/>
                </a:solidFill>
              </a:rPr>
              <a:t>{ </a:t>
            </a:r>
            <a:r>
              <a:rPr lang="en-US" sz="2000" dirty="0" err="1" smtClean="0">
                <a:solidFill>
                  <a:schemeClr val="accent5"/>
                </a:solidFill>
              </a:rPr>
              <a:t>System.out.println</a:t>
            </a:r>
            <a:r>
              <a:rPr lang="en-US" sz="2000" dirty="0" smtClean="0">
                <a:solidFill>
                  <a:schemeClr val="accent5"/>
                </a:solidFill>
              </a:rPr>
              <a:t>(s + “ ” + </a:t>
            </a:r>
            <a:r>
              <a:rPr lang="en-US" sz="2000" dirty="0" err="1" smtClean="0">
                <a:solidFill>
                  <a:schemeClr val="accent5"/>
                </a:solidFill>
              </a:rPr>
              <a:t>i</a:t>
            </a:r>
            <a:r>
              <a:rPr lang="en-US" sz="2000" dirty="0" smtClean="0">
                <a:solidFill>
                  <a:schemeClr val="accent5"/>
                </a:solidFill>
              </a:rPr>
              <a:t>); }</a:t>
            </a:r>
          </a:p>
          <a:p>
            <a:pPr marL="0" indent="0">
              <a:buNone/>
            </a:pPr>
            <a:r>
              <a:rPr lang="en-US" sz="2000" dirty="0" smtClean="0">
                <a:solidFill>
                  <a:schemeClr val="accent5"/>
                </a:solidFill>
              </a:rPr>
              <a:t>	void f(</a:t>
            </a:r>
            <a:r>
              <a:rPr lang="en-US" sz="2000" dirty="0" err="1" smtClean="0">
                <a:solidFill>
                  <a:schemeClr val="accent5"/>
                </a:solidFill>
              </a:rPr>
              <a:t>int</a:t>
            </a:r>
            <a:r>
              <a:rPr lang="en-US" sz="2000" dirty="0" smtClean="0">
                <a:solidFill>
                  <a:schemeClr val="accent5"/>
                </a:solidFill>
              </a:rPr>
              <a:t> </a:t>
            </a:r>
            <a:r>
              <a:rPr lang="en-US" sz="2000" dirty="0" err="1" smtClean="0">
                <a:solidFill>
                  <a:schemeClr val="accent5"/>
                </a:solidFill>
              </a:rPr>
              <a:t>i</a:t>
            </a:r>
            <a:r>
              <a:rPr lang="en-US" sz="2000" dirty="0" smtClean="0">
                <a:solidFill>
                  <a:schemeClr val="accent5"/>
                </a:solidFill>
              </a:rPr>
              <a:t>, String s) </a:t>
            </a:r>
            <a:r>
              <a:rPr lang="en-US" sz="2000" dirty="0">
                <a:solidFill>
                  <a:schemeClr val="accent5"/>
                </a:solidFill>
              </a:rPr>
              <a:t>{ </a:t>
            </a:r>
            <a:r>
              <a:rPr lang="en-US" sz="2000" dirty="0" err="1" smtClean="0">
                <a:solidFill>
                  <a:schemeClr val="accent5"/>
                </a:solidFill>
              </a:rPr>
              <a:t>System.out.println</a:t>
            </a:r>
            <a:r>
              <a:rPr lang="en-US" sz="2000" dirty="0" smtClean="0">
                <a:solidFill>
                  <a:schemeClr val="accent5"/>
                </a:solidFill>
              </a:rPr>
              <a:t>(</a:t>
            </a:r>
            <a:r>
              <a:rPr lang="en-US" sz="2000" dirty="0" err="1" smtClean="0">
                <a:solidFill>
                  <a:schemeClr val="accent5"/>
                </a:solidFill>
              </a:rPr>
              <a:t>i</a:t>
            </a:r>
            <a:r>
              <a:rPr lang="en-US" sz="2000" dirty="0" smtClean="0">
                <a:solidFill>
                  <a:schemeClr val="accent5"/>
                </a:solidFill>
              </a:rPr>
              <a:t> </a:t>
            </a:r>
            <a:r>
              <a:rPr lang="en-US" sz="2000" dirty="0">
                <a:solidFill>
                  <a:schemeClr val="accent5"/>
                </a:solidFill>
              </a:rPr>
              <a:t>+ “ ” + </a:t>
            </a:r>
            <a:r>
              <a:rPr lang="en-US" sz="2000" dirty="0" smtClean="0">
                <a:solidFill>
                  <a:schemeClr val="accent5"/>
                </a:solidFill>
              </a:rPr>
              <a:t>s); </a:t>
            </a:r>
            <a:r>
              <a:rPr lang="en-US" sz="2000" dirty="0">
                <a:solidFill>
                  <a:schemeClr val="accent5"/>
                </a:solidFill>
              </a:rPr>
              <a:t>}</a:t>
            </a:r>
            <a:endParaRPr lang="en-US" sz="2000" dirty="0" smtClean="0">
              <a:solidFill>
                <a:schemeClr val="accent5"/>
              </a:solidFill>
            </a:endParaRPr>
          </a:p>
          <a:p>
            <a:r>
              <a:rPr lang="en-US" dirty="0" smtClean="0"/>
              <a:t>Constructors are often overloaded</a:t>
            </a:r>
          </a:p>
          <a:p>
            <a:r>
              <a:rPr lang="en-US" dirty="0" smtClean="0"/>
              <a:t>Overloading just on return types are not allowed!</a:t>
            </a:r>
          </a:p>
          <a:p>
            <a:pPr lvl="1"/>
            <a:r>
              <a:rPr lang="en-US" dirty="0" smtClean="0"/>
              <a:t>Method signatures have to be different</a:t>
            </a:r>
          </a:p>
          <a:p>
            <a:pPr marL="0" indent="0">
              <a:buNone/>
            </a:pPr>
            <a:r>
              <a:rPr lang="en-US" sz="2000" dirty="0">
                <a:solidFill>
                  <a:schemeClr val="accent5"/>
                </a:solidFill>
              </a:rPr>
              <a:t>	void f(String s) { </a:t>
            </a:r>
            <a:r>
              <a:rPr lang="en-US" sz="2000" dirty="0" err="1">
                <a:solidFill>
                  <a:schemeClr val="accent5"/>
                </a:solidFill>
              </a:rPr>
              <a:t>System.out.println</a:t>
            </a:r>
            <a:r>
              <a:rPr lang="en-US" sz="2000" dirty="0">
                <a:solidFill>
                  <a:schemeClr val="accent5"/>
                </a:solidFill>
              </a:rPr>
              <a:t>(s); </a:t>
            </a:r>
            <a:r>
              <a:rPr lang="en-US" sz="2000" dirty="0" smtClean="0">
                <a:solidFill>
                  <a:schemeClr val="accent5"/>
                </a:solidFill>
              </a:rPr>
              <a:t>}</a:t>
            </a:r>
          </a:p>
          <a:p>
            <a:pPr marL="0" indent="0">
              <a:buNone/>
            </a:pPr>
            <a:r>
              <a:rPr lang="en-US" sz="2000" dirty="0">
                <a:solidFill>
                  <a:schemeClr val="accent5"/>
                </a:solidFill>
              </a:rPr>
              <a:t>	</a:t>
            </a:r>
            <a:r>
              <a:rPr lang="en-US" sz="2000" dirty="0" smtClean="0">
                <a:solidFill>
                  <a:schemeClr val="accent5"/>
                </a:solidFill>
              </a:rPr>
              <a:t>//</a:t>
            </a:r>
            <a:r>
              <a:rPr lang="en-US" sz="2000" dirty="0" err="1" smtClean="0">
                <a:solidFill>
                  <a:schemeClr val="accent5"/>
                </a:solidFill>
              </a:rPr>
              <a:t>int</a:t>
            </a:r>
            <a:r>
              <a:rPr lang="en-US" sz="2000" dirty="0" smtClean="0">
                <a:solidFill>
                  <a:schemeClr val="accent5"/>
                </a:solidFill>
              </a:rPr>
              <a:t> </a:t>
            </a:r>
            <a:r>
              <a:rPr lang="en-US" sz="2000" dirty="0">
                <a:solidFill>
                  <a:schemeClr val="accent5"/>
                </a:solidFill>
              </a:rPr>
              <a:t>f(String s) { </a:t>
            </a:r>
            <a:r>
              <a:rPr lang="en-US" sz="2000" dirty="0" err="1">
                <a:solidFill>
                  <a:schemeClr val="accent5"/>
                </a:solidFill>
              </a:rPr>
              <a:t>System.out.println</a:t>
            </a:r>
            <a:r>
              <a:rPr lang="en-US" sz="2000" dirty="0">
                <a:solidFill>
                  <a:schemeClr val="accent5"/>
                </a:solidFill>
              </a:rPr>
              <a:t>(s); </a:t>
            </a:r>
            <a:r>
              <a:rPr lang="en-US" sz="2000" dirty="0" smtClean="0">
                <a:solidFill>
                  <a:schemeClr val="accent5"/>
                </a:solidFill>
              </a:rPr>
              <a:t>return 0; }</a:t>
            </a:r>
            <a:endParaRPr lang="en-US" sz="2000" dirty="0">
              <a:solidFill>
                <a:schemeClr val="accent5"/>
              </a:solidFill>
            </a:endParaRPr>
          </a:p>
          <a:p>
            <a:pPr marL="0" indent="0">
              <a:buNone/>
            </a:pPr>
            <a:endParaRPr lang="en-US" sz="2000" dirty="0">
              <a:solidFill>
                <a:schemeClr val="accent5"/>
              </a:solidFill>
            </a:endParaRPr>
          </a:p>
        </p:txBody>
      </p:sp>
      <p:sp>
        <p:nvSpPr>
          <p:cNvPr id="3" name="Slide Number Placeholder 2"/>
          <p:cNvSpPr>
            <a:spLocks noGrp="1"/>
          </p:cNvSpPr>
          <p:nvPr>
            <p:ph type="sldNum" sz="quarter" idx="12"/>
          </p:nvPr>
        </p:nvSpPr>
        <p:spPr/>
        <p:txBody>
          <a:bodyPr/>
          <a:lstStyle/>
          <a:p>
            <a:fld id="{965D6772-41C1-4987-827C-16EA866C2326}" type="slidenum">
              <a:rPr lang="en-US" smtClean="0"/>
              <a:t>21</a:t>
            </a:fld>
            <a:endParaRPr lang="en-US"/>
          </a:p>
        </p:txBody>
      </p:sp>
    </p:spTree>
    <p:extLst>
      <p:ext uri="{BB962C8B-B14F-4D97-AF65-F5344CB8AC3E}">
        <p14:creationId xmlns:p14="http://schemas.microsoft.com/office/powerpoint/2010/main" val="1774280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1911"/>
            <a:ext cx="10515600" cy="866599"/>
          </a:xfrm>
        </p:spPr>
        <p:txBody>
          <a:bodyPr/>
          <a:lstStyle/>
          <a:p>
            <a:r>
              <a:rPr lang="en-US" dirty="0" smtClean="0"/>
              <a:t>Method Overloading Example</a:t>
            </a:r>
            <a:endParaRPr lang="en-US" dirty="0"/>
          </a:p>
        </p:txBody>
      </p:sp>
      <p:sp>
        <p:nvSpPr>
          <p:cNvPr id="3" name="Content Placeholder 2"/>
          <p:cNvSpPr>
            <a:spLocks noGrp="1"/>
          </p:cNvSpPr>
          <p:nvPr>
            <p:ph sz="half" idx="1"/>
          </p:nvPr>
        </p:nvSpPr>
        <p:spPr>
          <a:xfrm>
            <a:off x="838200" y="1058510"/>
            <a:ext cx="5181600" cy="5477757"/>
          </a:xfrm>
        </p:spPr>
        <p:txBody>
          <a:bodyPr>
            <a:noAutofit/>
          </a:bodyPr>
          <a:lstStyle/>
          <a:p>
            <a:pPr marL="0" indent="0">
              <a:buNone/>
            </a:pPr>
            <a:r>
              <a:rPr lang="en-US" sz="1700" dirty="0">
                <a:solidFill>
                  <a:schemeClr val="accent5"/>
                </a:solidFill>
              </a:rPr>
              <a:t>class Tree {</a:t>
            </a:r>
          </a:p>
          <a:p>
            <a:pPr marL="0" indent="0">
              <a:buNone/>
            </a:pPr>
            <a:r>
              <a:rPr lang="en-US" sz="1700" dirty="0">
                <a:solidFill>
                  <a:schemeClr val="accent5"/>
                </a:solidFill>
              </a:rPr>
              <a:t>  </a:t>
            </a:r>
            <a:r>
              <a:rPr lang="en-US" sz="1700" dirty="0" err="1">
                <a:solidFill>
                  <a:schemeClr val="accent5"/>
                </a:solidFill>
              </a:rPr>
              <a:t>int</a:t>
            </a:r>
            <a:r>
              <a:rPr lang="en-US" sz="1700" dirty="0">
                <a:solidFill>
                  <a:schemeClr val="accent5"/>
                </a:solidFill>
              </a:rPr>
              <a:t> height;</a:t>
            </a:r>
          </a:p>
          <a:p>
            <a:pPr marL="0" indent="0">
              <a:buNone/>
            </a:pPr>
            <a:r>
              <a:rPr lang="en-US" sz="1700" dirty="0">
                <a:solidFill>
                  <a:schemeClr val="accent5"/>
                </a:solidFill>
              </a:rPr>
              <a:t>  Tree() {</a:t>
            </a:r>
          </a:p>
          <a:p>
            <a:pPr marL="0" indent="0">
              <a:buNone/>
            </a:pPr>
            <a:r>
              <a:rPr lang="en-US" sz="1700" dirty="0">
                <a:solidFill>
                  <a:schemeClr val="accent5"/>
                </a:solidFill>
              </a:rPr>
              <a:t>    </a:t>
            </a:r>
            <a:r>
              <a:rPr lang="en-US" sz="1700" dirty="0" err="1">
                <a:solidFill>
                  <a:schemeClr val="accent5"/>
                </a:solidFill>
              </a:rPr>
              <a:t>System.out.println</a:t>
            </a:r>
            <a:r>
              <a:rPr lang="en-US" sz="1700" dirty="0">
                <a:solidFill>
                  <a:schemeClr val="accent5"/>
                </a:solidFill>
              </a:rPr>
              <a:t>("Planting a seedling");</a:t>
            </a:r>
          </a:p>
          <a:p>
            <a:pPr marL="0" indent="0">
              <a:buNone/>
            </a:pPr>
            <a:r>
              <a:rPr lang="en-US" sz="1700" dirty="0">
                <a:solidFill>
                  <a:schemeClr val="accent5"/>
                </a:solidFill>
              </a:rPr>
              <a:t>    height = 0;</a:t>
            </a:r>
          </a:p>
          <a:p>
            <a:pPr marL="0" indent="0">
              <a:buNone/>
            </a:pPr>
            <a:r>
              <a:rPr lang="en-US" sz="1700" dirty="0">
                <a:solidFill>
                  <a:schemeClr val="accent5"/>
                </a:solidFill>
              </a:rPr>
              <a:t>  }</a:t>
            </a:r>
          </a:p>
          <a:p>
            <a:pPr marL="0" indent="0">
              <a:buNone/>
            </a:pPr>
            <a:r>
              <a:rPr lang="en-US" sz="1700" dirty="0">
                <a:solidFill>
                  <a:schemeClr val="accent5"/>
                </a:solidFill>
              </a:rPr>
              <a:t>  Tree(</a:t>
            </a:r>
            <a:r>
              <a:rPr lang="en-US" sz="1700" dirty="0" err="1">
                <a:solidFill>
                  <a:schemeClr val="accent5"/>
                </a:solidFill>
              </a:rPr>
              <a:t>int</a:t>
            </a:r>
            <a:r>
              <a:rPr lang="en-US" sz="1700" dirty="0">
                <a:solidFill>
                  <a:schemeClr val="accent5"/>
                </a:solidFill>
              </a:rPr>
              <a:t> </a:t>
            </a:r>
            <a:r>
              <a:rPr lang="en-US" sz="1700" dirty="0" err="1">
                <a:solidFill>
                  <a:schemeClr val="accent5"/>
                </a:solidFill>
              </a:rPr>
              <a:t>initialHeight</a:t>
            </a:r>
            <a:r>
              <a:rPr lang="en-US" sz="1700" dirty="0">
                <a:solidFill>
                  <a:schemeClr val="accent5"/>
                </a:solidFill>
              </a:rPr>
              <a:t>) {</a:t>
            </a:r>
          </a:p>
          <a:p>
            <a:pPr marL="0" indent="0">
              <a:buNone/>
            </a:pPr>
            <a:r>
              <a:rPr lang="en-US" sz="1700" dirty="0">
                <a:solidFill>
                  <a:schemeClr val="accent5"/>
                </a:solidFill>
              </a:rPr>
              <a:t>    height = </a:t>
            </a:r>
            <a:r>
              <a:rPr lang="en-US" sz="1700" dirty="0" err="1">
                <a:solidFill>
                  <a:schemeClr val="accent5"/>
                </a:solidFill>
              </a:rPr>
              <a:t>initialHeight</a:t>
            </a:r>
            <a:r>
              <a:rPr lang="en-US" sz="1700" dirty="0">
                <a:solidFill>
                  <a:schemeClr val="accent5"/>
                </a:solidFill>
              </a:rPr>
              <a:t>;</a:t>
            </a:r>
          </a:p>
          <a:p>
            <a:pPr marL="0" indent="0">
              <a:buNone/>
            </a:pPr>
            <a:r>
              <a:rPr lang="en-US" sz="1700" dirty="0">
                <a:solidFill>
                  <a:schemeClr val="accent5"/>
                </a:solidFill>
              </a:rPr>
              <a:t>    </a:t>
            </a:r>
            <a:r>
              <a:rPr lang="en-US" sz="1700" dirty="0" err="1">
                <a:solidFill>
                  <a:schemeClr val="accent5"/>
                </a:solidFill>
              </a:rPr>
              <a:t>System.out.println</a:t>
            </a:r>
            <a:r>
              <a:rPr lang="en-US" sz="1700" dirty="0">
                <a:solidFill>
                  <a:schemeClr val="accent5"/>
                </a:solidFill>
              </a:rPr>
              <a:t>("Creating new Tree that is " +</a:t>
            </a:r>
          </a:p>
          <a:p>
            <a:pPr marL="0" indent="0">
              <a:buNone/>
            </a:pPr>
            <a:r>
              <a:rPr lang="en-US" sz="1700" dirty="0">
                <a:solidFill>
                  <a:schemeClr val="accent5"/>
                </a:solidFill>
              </a:rPr>
              <a:t>      height + " feet tall");</a:t>
            </a:r>
          </a:p>
          <a:p>
            <a:pPr marL="0" indent="0">
              <a:buNone/>
            </a:pPr>
            <a:r>
              <a:rPr lang="en-US" sz="1700" dirty="0">
                <a:solidFill>
                  <a:schemeClr val="accent5"/>
                </a:solidFill>
              </a:rPr>
              <a:t>  }</a:t>
            </a:r>
          </a:p>
          <a:p>
            <a:pPr marL="0" indent="0">
              <a:buNone/>
            </a:pPr>
            <a:r>
              <a:rPr lang="en-US" sz="1700" dirty="0">
                <a:solidFill>
                  <a:schemeClr val="accent5"/>
                </a:solidFill>
              </a:rPr>
              <a:t>  void info() </a:t>
            </a:r>
            <a:r>
              <a:rPr lang="en-US" sz="1700" dirty="0" smtClean="0">
                <a:solidFill>
                  <a:schemeClr val="accent5"/>
                </a:solidFill>
              </a:rPr>
              <a:t>{ </a:t>
            </a:r>
            <a:r>
              <a:rPr lang="en-US" sz="1700" dirty="0" err="1" smtClean="0">
                <a:solidFill>
                  <a:schemeClr val="accent5"/>
                </a:solidFill>
              </a:rPr>
              <a:t>System.out.println</a:t>
            </a:r>
            <a:r>
              <a:rPr lang="en-US" sz="1700" dirty="0">
                <a:solidFill>
                  <a:schemeClr val="accent5"/>
                </a:solidFill>
              </a:rPr>
              <a:t>("Tree is " + height + " feet tall</a:t>
            </a:r>
            <a:r>
              <a:rPr lang="en-US" sz="1700" dirty="0" smtClean="0">
                <a:solidFill>
                  <a:schemeClr val="accent5"/>
                </a:solidFill>
              </a:rPr>
              <a:t>"); }</a:t>
            </a:r>
            <a:endParaRPr lang="en-US" sz="1700" dirty="0">
              <a:solidFill>
                <a:schemeClr val="accent5"/>
              </a:solidFill>
            </a:endParaRPr>
          </a:p>
          <a:p>
            <a:pPr marL="0" indent="0">
              <a:buNone/>
            </a:pPr>
            <a:r>
              <a:rPr lang="en-US" sz="1700" dirty="0">
                <a:solidFill>
                  <a:schemeClr val="accent5"/>
                </a:solidFill>
              </a:rPr>
              <a:t>  void info(String s) </a:t>
            </a:r>
            <a:r>
              <a:rPr lang="en-US" sz="1700" dirty="0" smtClean="0">
                <a:solidFill>
                  <a:schemeClr val="accent5"/>
                </a:solidFill>
              </a:rPr>
              <a:t>{ </a:t>
            </a:r>
            <a:r>
              <a:rPr lang="en-US" sz="1700" dirty="0" err="1" smtClean="0">
                <a:solidFill>
                  <a:schemeClr val="accent5"/>
                </a:solidFill>
              </a:rPr>
              <a:t>System.out.println</a:t>
            </a:r>
            <a:r>
              <a:rPr lang="en-US" sz="1700" dirty="0" smtClean="0">
                <a:solidFill>
                  <a:schemeClr val="accent5"/>
                </a:solidFill>
              </a:rPr>
              <a:t>(s </a:t>
            </a:r>
            <a:r>
              <a:rPr lang="en-US" sz="1700" dirty="0">
                <a:solidFill>
                  <a:schemeClr val="accent5"/>
                </a:solidFill>
              </a:rPr>
              <a:t>+ ": Tree is " + height + " feet tall</a:t>
            </a:r>
            <a:r>
              <a:rPr lang="en-US" sz="1700" dirty="0" smtClean="0">
                <a:solidFill>
                  <a:schemeClr val="accent5"/>
                </a:solidFill>
              </a:rPr>
              <a:t>"); }</a:t>
            </a:r>
            <a:endParaRPr lang="en-US" sz="1700" dirty="0">
              <a:solidFill>
                <a:schemeClr val="accent5"/>
              </a:solidFill>
            </a:endParaRPr>
          </a:p>
          <a:p>
            <a:pPr marL="0" indent="0">
              <a:buNone/>
            </a:pPr>
            <a:r>
              <a:rPr lang="en-US" sz="1700" dirty="0">
                <a:solidFill>
                  <a:schemeClr val="accent5"/>
                </a:solidFill>
              </a:rPr>
              <a:t>}</a:t>
            </a:r>
          </a:p>
        </p:txBody>
      </p:sp>
      <p:sp>
        <p:nvSpPr>
          <p:cNvPr id="4" name="Content Placeholder 3"/>
          <p:cNvSpPr>
            <a:spLocks noGrp="1"/>
          </p:cNvSpPr>
          <p:nvPr>
            <p:ph sz="half" idx="2"/>
          </p:nvPr>
        </p:nvSpPr>
        <p:spPr>
          <a:xfrm>
            <a:off x="6172200" y="1058510"/>
            <a:ext cx="5181600" cy="5118453"/>
          </a:xfrm>
        </p:spPr>
        <p:txBody>
          <a:bodyPr>
            <a:noAutofit/>
          </a:bodyPr>
          <a:lstStyle/>
          <a:p>
            <a:pPr marL="0" indent="0">
              <a:buNone/>
            </a:pPr>
            <a:r>
              <a:rPr lang="en-US" sz="1800" dirty="0">
                <a:solidFill>
                  <a:schemeClr val="accent5"/>
                </a:solidFill>
              </a:rPr>
              <a:t>public class </a:t>
            </a:r>
            <a:r>
              <a:rPr lang="en-US" sz="1800" dirty="0" err="1">
                <a:solidFill>
                  <a:schemeClr val="accent5"/>
                </a:solidFill>
              </a:rPr>
              <a:t>OverloadingDemo</a:t>
            </a:r>
            <a:r>
              <a:rPr lang="en-US" sz="1800" dirty="0">
                <a:solidFill>
                  <a:schemeClr val="accent5"/>
                </a:solidFill>
              </a:rPr>
              <a:t> {</a:t>
            </a:r>
          </a:p>
          <a:p>
            <a:pPr marL="0" indent="0">
              <a:buNone/>
            </a:pPr>
            <a:r>
              <a:rPr lang="en-US" sz="1800" dirty="0">
                <a:solidFill>
                  <a:schemeClr val="accent5"/>
                </a:solidFill>
              </a:rPr>
              <a:t>  public static void main(String[] </a:t>
            </a:r>
            <a:r>
              <a:rPr lang="en-US" sz="1800" dirty="0" err="1">
                <a:solidFill>
                  <a:schemeClr val="accent5"/>
                </a:solidFill>
              </a:rPr>
              <a:t>args</a:t>
            </a:r>
            <a:r>
              <a:rPr lang="en-US" sz="1800" dirty="0">
                <a:solidFill>
                  <a:schemeClr val="accent5"/>
                </a:solidFill>
              </a:rPr>
              <a:t>) {</a:t>
            </a:r>
          </a:p>
          <a:p>
            <a:pPr marL="0" indent="0">
              <a:buNone/>
            </a:pPr>
            <a:r>
              <a:rPr lang="en-US" sz="1800" dirty="0">
                <a:solidFill>
                  <a:schemeClr val="accent5"/>
                </a:solidFill>
              </a:rPr>
              <a:t>    Tree t = new Tree(3);</a:t>
            </a:r>
          </a:p>
          <a:p>
            <a:pPr marL="0" indent="0">
              <a:buNone/>
            </a:pPr>
            <a:r>
              <a:rPr lang="en-US" sz="1800" dirty="0">
                <a:solidFill>
                  <a:schemeClr val="accent5"/>
                </a:solidFill>
              </a:rPr>
              <a:t>    t.info();</a:t>
            </a:r>
          </a:p>
          <a:p>
            <a:pPr marL="0" indent="0">
              <a:buNone/>
            </a:pPr>
            <a:r>
              <a:rPr lang="en-US" sz="1800" dirty="0">
                <a:solidFill>
                  <a:schemeClr val="accent5"/>
                </a:solidFill>
              </a:rPr>
              <a:t>    t.info("Overloaded method");</a:t>
            </a:r>
          </a:p>
          <a:p>
            <a:pPr marL="0" indent="0">
              <a:buNone/>
            </a:pPr>
            <a:r>
              <a:rPr lang="en-US" sz="1800" dirty="0">
                <a:solidFill>
                  <a:schemeClr val="accent5"/>
                </a:solidFill>
              </a:rPr>
              <a:t>    // Overloaded constructor:</a:t>
            </a:r>
          </a:p>
          <a:p>
            <a:pPr marL="0" indent="0">
              <a:buNone/>
            </a:pPr>
            <a:r>
              <a:rPr lang="en-US" sz="1800" dirty="0">
                <a:solidFill>
                  <a:schemeClr val="accent5"/>
                </a:solidFill>
              </a:rPr>
              <a:t>    new Tree();</a:t>
            </a:r>
          </a:p>
          <a:p>
            <a:pPr marL="0" indent="0">
              <a:buNone/>
            </a:pPr>
            <a:r>
              <a:rPr lang="en-US" sz="1800" dirty="0">
                <a:solidFill>
                  <a:schemeClr val="accent5"/>
                </a:solidFill>
              </a:rPr>
              <a:t>  }</a:t>
            </a:r>
          </a:p>
          <a:p>
            <a:pPr marL="0" indent="0">
              <a:buNone/>
            </a:pPr>
            <a:r>
              <a:rPr lang="en-US" sz="1800" dirty="0">
                <a:solidFill>
                  <a:schemeClr val="accent5"/>
                </a:solidFill>
              </a:rPr>
              <a:t>} /* Output:</a:t>
            </a:r>
          </a:p>
          <a:p>
            <a:pPr marL="0" indent="0">
              <a:buNone/>
            </a:pPr>
            <a:r>
              <a:rPr lang="en-US" sz="1800" dirty="0">
                <a:solidFill>
                  <a:schemeClr val="accent5"/>
                </a:solidFill>
              </a:rPr>
              <a:t>Creating new Tree that is 3 feet tall</a:t>
            </a:r>
          </a:p>
          <a:p>
            <a:pPr marL="0" indent="0">
              <a:buNone/>
            </a:pPr>
            <a:r>
              <a:rPr lang="en-US" sz="1800" dirty="0">
                <a:solidFill>
                  <a:schemeClr val="accent5"/>
                </a:solidFill>
              </a:rPr>
              <a:t>Tree is 3 feet tall</a:t>
            </a:r>
          </a:p>
          <a:p>
            <a:pPr marL="0" indent="0">
              <a:buNone/>
            </a:pPr>
            <a:r>
              <a:rPr lang="en-US" sz="1800" dirty="0">
                <a:solidFill>
                  <a:schemeClr val="accent5"/>
                </a:solidFill>
              </a:rPr>
              <a:t>Overloaded method: Tree is 3 feet tall</a:t>
            </a:r>
          </a:p>
          <a:p>
            <a:pPr marL="0" indent="0">
              <a:buNone/>
            </a:pPr>
            <a:r>
              <a:rPr lang="en-US" sz="1800" dirty="0">
                <a:solidFill>
                  <a:schemeClr val="accent5"/>
                </a:solidFill>
              </a:rPr>
              <a:t>Planting a seedling</a:t>
            </a:r>
          </a:p>
          <a:p>
            <a:pPr marL="0" indent="0">
              <a:buNone/>
            </a:pPr>
            <a:r>
              <a:rPr lang="en-US" sz="1800" dirty="0">
                <a:solidFill>
                  <a:schemeClr val="accent5"/>
                </a:solidFill>
              </a:rPr>
              <a:t>*/</a:t>
            </a:r>
          </a:p>
        </p:txBody>
      </p:sp>
      <p:sp>
        <p:nvSpPr>
          <p:cNvPr id="5" name="Slide Number Placeholder 4"/>
          <p:cNvSpPr>
            <a:spLocks noGrp="1"/>
          </p:cNvSpPr>
          <p:nvPr>
            <p:ph type="sldNum" sz="quarter" idx="12"/>
          </p:nvPr>
        </p:nvSpPr>
        <p:spPr/>
        <p:txBody>
          <a:bodyPr/>
          <a:lstStyle/>
          <a:p>
            <a:fld id="{965D6772-41C1-4987-827C-16EA866C2326}" type="slidenum">
              <a:rPr lang="en-US" smtClean="0"/>
              <a:t>22</a:t>
            </a:fld>
            <a:endParaRPr lang="en-US"/>
          </a:p>
        </p:txBody>
      </p:sp>
    </p:spTree>
    <p:extLst>
      <p:ext uri="{BB962C8B-B14F-4D97-AF65-F5344CB8AC3E}">
        <p14:creationId xmlns:p14="http://schemas.microsoft.com/office/powerpoint/2010/main" val="21431605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Overloading With Primitives</a:t>
            </a:r>
            <a:endParaRPr lang="en-US" dirty="0"/>
          </a:p>
        </p:txBody>
      </p:sp>
      <p:sp>
        <p:nvSpPr>
          <p:cNvPr id="3" name="Content Placeholder 2"/>
          <p:cNvSpPr>
            <a:spLocks noGrp="1"/>
          </p:cNvSpPr>
          <p:nvPr>
            <p:ph sz="half" idx="1"/>
          </p:nvPr>
        </p:nvSpPr>
        <p:spPr>
          <a:xfrm>
            <a:off x="564444" y="1825625"/>
            <a:ext cx="5455356" cy="4351338"/>
          </a:xfrm>
        </p:spPr>
        <p:txBody>
          <a:bodyPr>
            <a:normAutofit/>
          </a:bodyPr>
          <a:lstStyle/>
          <a:p>
            <a:pPr marL="0" indent="0">
              <a:buNone/>
            </a:pPr>
            <a:r>
              <a:rPr lang="en-US" sz="2000" dirty="0">
                <a:solidFill>
                  <a:schemeClr val="accent5"/>
                </a:solidFill>
              </a:rPr>
              <a:t>p</a:t>
            </a:r>
            <a:r>
              <a:rPr lang="en-US" sz="2000" dirty="0" smtClean="0">
                <a:solidFill>
                  <a:schemeClr val="accent5"/>
                </a:solidFill>
              </a:rPr>
              <a:t>ublic class </a:t>
            </a:r>
            <a:r>
              <a:rPr lang="en-US" sz="2000" dirty="0" err="1" smtClean="0">
                <a:solidFill>
                  <a:schemeClr val="accent5"/>
                </a:solidFill>
              </a:rPr>
              <a:t>PrimitiveOverloading</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//void f(char x) {</a:t>
            </a:r>
            <a:r>
              <a:rPr lang="en-US" sz="2000" dirty="0" err="1" smtClean="0">
                <a:solidFill>
                  <a:schemeClr val="accent5"/>
                </a:solidFill>
              </a:rPr>
              <a:t>System.out.println</a:t>
            </a:r>
            <a:r>
              <a:rPr lang="en-US" sz="2000" dirty="0" smtClean="0">
                <a:solidFill>
                  <a:schemeClr val="accent5"/>
                </a:solidFill>
              </a:rPr>
              <a:t>(“f(char)”);}</a:t>
            </a:r>
          </a:p>
          <a:p>
            <a:pPr marL="0" indent="0">
              <a:buNone/>
            </a:pPr>
            <a:r>
              <a:rPr lang="en-US" sz="2000" dirty="0">
                <a:solidFill>
                  <a:schemeClr val="accent5"/>
                </a:solidFill>
              </a:rPr>
              <a:t> </a:t>
            </a:r>
            <a:r>
              <a:rPr lang="en-US" sz="2000" dirty="0" smtClean="0">
                <a:solidFill>
                  <a:schemeClr val="accent5"/>
                </a:solidFill>
              </a:rPr>
              <a:t> //void f(byte </a:t>
            </a:r>
            <a:r>
              <a:rPr lang="en-US" sz="2000" dirty="0">
                <a:solidFill>
                  <a:schemeClr val="accent5"/>
                </a:solidFill>
              </a:rPr>
              <a:t>x) {</a:t>
            </a:r>
            <a:r>
              <a:rPr lang="en-US" sz="2000" dirty="0" err="1">
                <a:solidFill>
                  <a:schemeClr val="accent5"/>
                </a:solidFill>
              </a:rPr>
              <a:t>System.out.println</a:t>
            </a:r>
            <a:r>
              <a:rPr lang="en-US" sz="2000" dirty="0">
                <a:solidFill>
                  <a:schemeClr val="accent5"/>
                </a:solidFill>
              </a:rPr>
              <a:t>(“</a:t>
            </a:r>
            <a:r>
              <a:rPr lang="en-US" sz="2000" dirty="0" smtClean="0">
                <a:solidFill>
                  <a:schemeClr val="accent5"/>
                </a:solidFill>
              </a:rPr>
              <a:t>f(byte)”);}</a:t>
            </a:r>
          </a:p>
          <a:p>
            <a:pPr marL="0" indent="0">
              <a:buNone/>
            </a:pPr>
            <a:r>
              <a:rPr lang="en-US" sz="2000" dirty="0">
                <a:solidFill>
                  <a:schemeClr val="accent5"/>
                </a:solidFill>
              </a:rPr>
              <a:t> </a:t>
            </a:r>
            <a:r>
              <a:rPr lang="en-US" sz="2000" dirty="0" smtClean="0">
                <a:solidFill>
                  <a:schemeClr val="accent5"/>
                </a:solidFill>
              </a:rPr>
              <a:t> void f(short </a:t>
            </a:r>
            <a:r>
              <a:rPr lang="en-US" sz="2000" dirty="0">
                <a:solidFill>
                  <a:schemeClr val="accent5"/>
                </a:solidFill>
              </a:rPr>
              <a:t>x) {</a:t>
            </a:r>
            <a:r>
              <a:rPr lang="en-US" sz="2000" dirty="0" err="1">
                <a:solidFill>
                  <a:schemeClr val="accent5"/>
                </a:solidFill>
              </a:rPr>
              <a:t>System.out.println</a:t>
            </a:r>
            <a:r>
              <a:rPr lang="en-US" sz="2000" dirty="0">
                <a:solidFill>
                  <a:schemeClr val="accent5"/>
                </a:solidFill>
              </a:rPr>
              <a:t>(“</a:t>
            </a:r>
            <a:r>
              <a:rPr lang="en-US" sz="2000" dirty="0" smtClean="0">
                <a:solidFill>
                  <a:schemeClr val="accent5"/>
                </a:solidFill>
              </a:rPr>
              <a:t>f(short)”);}</a:t>
            </a:r>
          </a:p>
          <a:p>
            <a:pPr marL="0" indent="0">
              <a:buNone/>
            </a:pPr>
            <a:r>
              <a:rPr lang="en-US" sz="2000" dirty="0" smtClean="0">
                <a:solidFill>
                  <a:schemeClr val="accent5"/>
                </a:solidFill>
              </a:rPr>
              <a:t>  //void f(</a:t>
            </a:r>
            <a:r>
              <a:rPr lang="en-US" sz="2000" dirty="0" err="1" smtClean="0">
                <a:solidFill>
                  <a:schemeClr val="accent5"/>
                </a:solidFill>
              </a:rPr>
              <a:t>int</a:t>
            </a:r>
            <a:r>
              <a:rPr lang="en-US" sz="2000" dirty="0" smtClean="0">
                <a:solidFill>
                  <a:schemeClr val="accent5"/>
                </a:solidFill>
              </a:rPr>
              <a:t> </a:t>
            </a:r>
            <a:r>
              <a:rPr lang="en-US" sz="2000" dirty="0">
                <a:solidFill>
                  <a:schemeClr val="accent5"/>
                </a:solidFill>
              </a:rPr>
              <a:t>x) {</a:t>
            </a:r>
            <a:r>
              <a:rPr lang="en-US" sz="2000" dirty="0" err="1">
                <a:solidFill>
                  <a:schemeClr val="accent5"/>
                </a:solidFill>
              </a:rPr>
              <a:t>System.out.println</a:t>
            </a:r>
            <a:r>
              <a:rPr lang="en-US" sz="2000" dirty="0">
                <a:solidFill>
                  <a:schemeClr val="accent5"/>
                </a:solidFill>
              </a:rPr>
              <a:t>(“</a:t>
            </a:r>
            <a:r>
              <a:rPr lang="en-US" sz="2000" dirty="0" smtClean="0">
                <a:solidFill>
                  <a:schemeClr val="accent5"/>
                </a:solidFill>
              </a:rPr>
              <a:t>f(</a:t>
            </a:r>
            <a:r>
              <a:rPr lang="en-US" sz="2000" dirty="0" err="1" smtClean="0">
                <a:solidFill>
                  <a:schemeClr val="accent5"/>
                </a:solidFill>
              </a:rPr>
              <a:t>int</a:t>
            </a:r>
            <a:r>
              <a:rPr lang="en-US" sz="2000" dirty="0" smtClean="0">
                <a:solidFill>
                  <a:schemeClr val="accent5"/>
                </a:solidFill>
              </a:rPr>
              <a:t>)”);}</a:t>
            </a:r>
          </a:p>
          <a:p>
            <a:pPr marL="0" indent="0">
              <a:buNone/>
            </a:pPr>
            <a:r>
              <a:rPr lang="en-US" sz="2000" dirty="0" smtClean="0">
                <a:solidFill>
                  <a:schemeClr val="accent5"/>
                </a:solidFill>
              </a:rPr>
              <a:t>  </a:t>
            </a:r>
            <a:r>
              <a:rPr lang="en-US" sz="2000" dirty="0">
                <a:solidFill>
                  <a:schemeClr val="accent5"/>
                </a:solidFill>
              </a:rPr>
              <a:t>void </a:t>
            </a:r>
            <a:r>
              <a:rPr lang="en-US" sz="2000" dirty="0" smtClean="0">
                <a:solidFill>
                  <a:schemeClr val="accent5"/>
                </a:solidFill>
              </a:rPr>
              <a:t>f(long </a:t>
            </a:r>
            <a:r>
              <a:rPr lang="en-US" sz="2000" dirty="0">
                <a:solidFill>
                  <a:schemeClr val="accent5"/>
                </a:solidFill>
              </a:rPr>
              <a:t>x) {</a:t>
            </a:r>
            <a:r>
              <a:rPr lang="en-US" sz="2000" dirty="0" err="1">
                <a:solidFill>
                  <a:schemeClr val="accent5"/>
                </a:solidFill>
              </a:rPr>
              <a:t>System.out.println</a:t>
            </a:r>
            <a:r>
              <a:rPr lang="en-US" sz="2000" dirty="0">
                <a:solidFill>
                  <a:schemeClr val="accent5"/>
                </a:solidFill>
              </a:rPr>
              <a:t>(“</a:t>
            </a:r>
            <a:r>
              <a:rPr lang="en-US" sz="2000" dirty="0" smtClean="0">
                <a:solidFill>
                  <a:schemeClr val="accent5"/>
                </a:solidFill>
              </a:rPr>
              <a:t>f(long)”);}</a:t>
            </a:r>
          </a:p>
          <a:p>
            <a:pPr marL="0" indent="0">
              <a:buNone/>
            </a:pPr>
            <a:r>
              <a:rPr lang="en-US" sz="2000" dirty="0" smtClean="0">
                <a:solidFill>
                  <a:schemeClr val="accent5"/>
                </a:solidFill>
              </a:rPr>
              <a:t>  //void f(float </a:t>
            </a:r>
            <a:r>
              <a:rPr lang="en-US" sz="2000" dirty="0">
                <a:solidFill>
                  <a:schemeClr val="accent5"/>
                </a:solidFill>
              </a:rPr>
              <a:t>x) {</a:t>
            </a:r>
            <a:r>
              <a:rPr lang="en-US" sz="2000" dirty="0" err="1">
                <a:solidFill>
                  <a:schemeClr val="accent5"/>
                </a:solidFill>
              </a:rPr>
              <a:t>System.out.println</a:t>
            </a:r>
            <a:r>
              <a:rPr lang="en-US" sz="2000" dirty="0">
                <a:solidFill>
                  <a:schemeClr val="accent5"/>
                </a:solidFill>
              </a:rPr>
              <a:t>(“</a:t>
            </a:r>
            <a:r>
              <a:rPr lang="en-US" sz="2000" dirty="0" smtClean="0">
                <a:solidFill>
                  <a:schemeClr val="accent5"/>
                </a:solidFill>
              </a:rPr>
              <a:t>f(float)”);}</a:t>
            </a:r>
          </a:p>
          <a:p>
            <a:pPr marL="0" indent="0">
              <a:buNone/>
            </a:pPr>
            <a:r>
              <a:rPr lang="en-US" sz="2000" dirty="0" smtClean="0">
                <a:solidFill>
                  <a:schemeClr val="accent5"/>
                </a:solidFill>
              </a:rPr>
              <a:t>  </a:t>
            </a:r>
            <a:r>
              <a:rPr lang="en-US" sz="2000" dirty="0">
                <a:solidFill>
                  <a:schemeClr val="accent5"/>
                </a:solidFill>
              </a:rPr>
              <a:t>void </a:t>
            </a:r>
            <a:r>
              <a:rPr lang="en-US" sz="2000" dirty="0" smtClean="0">
                <a:solidFill>
                  <a:schemeClr val="accent5"/>
                </a:solidFill>
              </a:rPr>
              <a:t>f(double </a:t>
            </a:r>
            <a:r>
              <a:rPr lang="en-US" sz="2000" dirty="0">
                <a:solidFill>
                  <a:schemeClr val="accent5"/>
                </a:solidFill>
              </a:rPr>
              <a:t>x) {</a:t>
            </a:r>
            <a:r>
              <a:rPr lang="en-US" sz="2000" dirty="0" err="1">
                <a:solidFill>
                  <a:schemeClr val="accent5"/>
                </a:solidFill>
              </a:rPr>
              <a:t>System.out.println</a:t>
            </a:r>
            <a:r>
              <a:rPr lang="en-US" sz="2000" dirty="0">
                <a:solidFill>
                  <a:schemeClr val="accent5"/>
                </a:solidFill>
              </a:rPr>
              <a:t>(“</a:t>
            </a:r>
            <a:r>
              <a:rPr lang="en-US" sz="2000" dirty="0" smtClean="0">
                <a:solidFill>
                  <a:schemeClr val="accent5"/>
                </a:solidFill>
              </a:rPr>
              <a:t>f(double)”);}</a:t>
            </a:r>
          </a:p>
          <a:p>
            <a:pPr marL="0" indent="0">
              <a:buNone/>
            </a:pPr>
            <a:r>
              <a:rPr lang="en-US" sz="2000" dirty="0">
                <a:solidFill>
                  <a:schemeClr val="accent5"/>
                </a:solidFill>
              </a:rPr>
              <a:t>}</a:t>
            </a:r>
          </a:p>
        </p:txBody>
      </p:sp>
      <p:sp>
        <p:nvSpPr>
          <p:cNvPr id="4" name="Content Placeholder 3"/>
          <p:cNvSpPr>
            <a:spLocks noGrp="1"/>
          </p:cNvSpPr>
          <p:nvPr>
            <p:ph sz="half" idx="2"/>
          </p:nvPr>
        </p:nvSpPr>
        <p:spPr>
          <a:xfrm>
            <a:off x="6544733" y="1811161"/>
            <a:ext cx="5181600" cy="4351338"/>
          </a:xfrm>
        </p:spPr>
        <p:txBody>
          <a:bodyPr>
            <a:normAutofit/>
          </a:bodyPr>
          <a:lstStyle/>
          <a:p>
            <a:pPr marL="0" indent="0">
              <a:buNone/>
            </a:pPr>
            <a:r>
              <a:rPr lang="en-US" sz="2000" dirty="0" smtClean="0">
                <a:solidFill>
                  <a:schemeClr val="accent5"/>
                </a:solidFill>
              </a:rPr>
              <a:t>  //in main method:</a:t>
            </a:r>
          </a:p>
          <a:p>
            <a:pPr marL="0" indent="0">
              <a:buNone/>
            </a:pPr>
            <a:r>
              <a:rPr lang="en-US" sz="2000" dirty="0">
                <a:solidFill>
                  <a:schemeClr val="accent5"/>
                </a:solidFill>
              </a:rPr>
              <a:t> </a:t>
            </a:r>
            <a:r>
              <a:rPr lang="en-US" sz="2000" dirty="0" smtClean="0">
                <a:solidFill>
                  <a:schemeClr val="accent5"/>
                </a:solidFill>
              </a:rPr>
              <a:t> f(5); //f(long)</a:t>
            </a:r>
          </a:p>
          <a:p>
            <a:pPr marL="0" indent="0">
              <a:buNone/>
            </a:pPr>
            <a:r>
              <a:rPr lang="en-US" sz="2000" dirty="0">
                <a:solidFill>
                  <a:schemeClr val="accent5"/>
                </a:solidFill>
              </a:rPr>
              <a:t> </a:t>
            </a:r>
            <a:r>
              <a:rPr lang="en-US" sz="2000" dirty="0" smtClean="0">
                <a:solidFill>
                  <a:schemeClr val="accent5"/>
                </a:solidFill>
              </a:rPr>
              <a:t> byte b=0; f(b); //f(short)</a:t>
            </a:r>
          </a:p>
          <a:p>
            <a:pPr marL="0" indent="0">
              <a:buNone/>
            </a:pPr>
            <a:r>
              <a:rPr lang="en-US" sz="2000" dirty="0">
                <a:solidFill>
                  <a:schemeClr val="accent5"/>
                </a:solidFill>
              </a:rPr>
              <a:t> </a:t>
            </a:r>
            <a:r>
              <a:rPr lang="en-US" sz="2000" dirty="0" smtClean="0">
                <a:solidFill>
                  <a:schemeClr val="accent5"/>
                </a:solidFill>
              </a:rPr>
              <a:t> float </a:t>
            </a:r>
            <a:r>
              <a:rPr lang="en-US" sz="2000" dirty="0" err="1" smtClean="0">
                <a:solidFill>
                  <a:schemeClr val="accent5"/>
                </a:solidFill>
              </a:rPr>
              <a:t>fl</a:t>
            </a:r>
            <a:r>
              <a:rPr lang="en-US" sz="2000" dirty="0" smtClean="0">
                <a:solidFill>
                  <a:schemeClr val="accent5"/>
                </a:solidFill>
              </a:rPr>
              <a:t>=0; f(</a:t>
            </a:r>
            <a:r>
              <a:rPr lang="en-US" sz="2000" dirty="0" err="1" smtClean="0">
                <a:solidFill>
                  <a:schemeClr val="accent5"/>
                </a:solidFill>
              </a:rPr>
              <a:t>fl</a:t>
            </a:r>
            <a:r>
              <a:rPr lang="en-US" sz="2000" dirty="0" smtClean="0">
                <a:solidFill>
                  <a:schemeClr val="accent5"/>
                </a:solidFill>
              </a:rPr>
              <a:t>); //f(double)</a:t>
            </a:r>
          </a:p>
          <a:p>
            <a:pPr marL="0" indent="0">
              <a:buNone/>
            </a:pPr>
            <a:r>
              <a:rPr lang="en-US" sz="2000" dirty="0">
                <a:solidFill>
                  <a:schemeClr val="accent5"/>
                </a:solidFill>
              </a:rPr>
              <a:t> </a:t>
            </a:r>
            <a:r>
              <a:rPr lang="en-US" sz="2000" dirty="0" smtClean="0">
                <a:solidFill>
                  <a:schemeClr val="accent5"/>
                </a:solidFill>
              </a:rPr>
              <a:t> char c=‘t’; f(c); //f(long)</a:t>
            </a:r>
          </a:p>
          <a:p>
            <a:pPr marL="0" indent="0">
              <a:buNone/>
            </a:pPr>
            <a:r>
              <a:rPr lang="en-US" sz="2000" dirty="0">
                <a:solidFill>
                  <a:schemeClr val="accent5"/>
                </a:solidFill>
              </a:rPr>
              <a:t> </a:t>
            </a:r>
            <a:r>
              <a:rPr lang="en-US" sz="2000" dirty="0" smtClean="0">
                <a:solidFill>
                  <a:schemeClr val="accent5"/>
                </a:solidFill>
              </a:rPr>
              <a:t> f(2.3); //f(double)</a:t>
            </a:r>
            <a:endParaRPr lang="en-US" sz="2000"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23</a:t>
            </a:fld>
            <a:endParaRPr lang="en-US"/>
          </a:p>
        </p:txBody>
      </p:sp>
    </p:spTree>
    <p:extLst>
      <p:ext uri="{BB962C8B-B14F-4D97-AF65-F5344CB8AC3E}">
        <p14:creationId xmlns:p14="http://schemas.microsoft.com/office/powerpoint/2010/main" val="828532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 Promotion Of Primitives</a:t>
            </a:r>
            <a:endParaRPr lang="en-US" dirty="0"/>
          </a:p>
        </p:txBody>
      </p:sp>
      <p:sp>
        <p:nvSpPr>
          <p:cNvPr id="5" name="Content Placeholder 4"/>
          <p:cNvSpPr>
            <a:spLocks noGrp="1"/>
          </p:cNvSpPr>
          <p:nvPr>
            <p:ph idx="1"/>
          </p:nvPr>
        </p:nvSpPr>
        <p:spPr/>
        <p:txBody>
          <a:bodyPr/>
          <a:lstStyle/>
          <a:p>
            <a:r>
              <a:rPr lang="en-US" dirty="0" smtClean="0"/>
              <a:t>Auto promotion is allowed on primitives:</a:t>
            </a:r>
          </a:p>
          <a:p>
            <a:pPr lvl="1"/>
            <a:r>
              <a:rPr lang="en-US" dirty="0" smtClean="0"/>
              <a:t>A constant integer value is by default </a:t>
            </a:r>
            <a:r>
              <a:rPr lang="en-US" dirty="0" err="1" smtClean="0">
                <a:solidFill>
                  <a:schemeClr val="accent5"/>
                </a:solidFill>
              </a:rPr>
              <a:t>int</a:t>
            </a:r>
            <a:endParaRPr lang="en-US" dirty="0">
              <a:solidFill>
                <a:schemeClr val="accent5"/>
              </a:solidFill>
            </a:endParaRPr>
          </a:p>
          <a:p>
            <a:pPr lvl="1"/>
            <a:r>
              <a:rPr lang="en-US" dirty="0" smtClean="0"/>
              <a:t>A constant floating point value is by default </a:t>
            </a:r>
            <a:r>
              <a:rPr lang="en-US" dirty="0" smtClean="0">
                <a:solidFill>
                  <a:schemeClr val="accent5"/>
                </a:solidFill>
              </a:rPr>
              <a:t>double</a:t>
            </a:r>
          </a:p>
          <a:p>
            <a:pPr lvl="1"/>
            <a:r>
              <a:rPr lang="en-US" dirty="0">
                <a:solidFill>
                  <a:schemeClr val="accent5"/>
                </a:solidFill>
              </a:rPr>
              <a:t>b</a:t>
            </a:r>
            <a:r>
              <a:rPr lang="en-US" dirty="0" smtClean="0">
                <a:solidFill>
                  <a:schemeClr val="accent5"/>
                </a:solidFill>
              </a:rPr>
              <a:t>yte</a:t>
            </a:r>
            <a:r>
              <a:rPr lang="en-US" dirty="0" smtClean="0"/>
              <a:t> -&gt; </a:t>
            </a:r>
            <a:r>
              <a:rPr lang="en-US" dirty="0" smtClean="0">
                <a:solidFill>
                  <a:schemeClr val="accent5"/>
                </a:solidFill>
              </a:rPr>
              <a:t>short</a:t>
            </a:r>
            <a:r>
              <a:rPr lang="en-US" dirty="0" smtClean="0"/>
              <a:t> -&gt; </a:t>
            </a:r>
            <a:r>
              <a:rPr lang="en-US" dirty="0" err="1" smtClean="0">
                <a:solidFill>
                  <a:schemeClr val="accent5"/>
                </a:solidFill>
              </a:rPr>
              <a:t>int</a:t>
            </a:r>
            <a:r>
              <a:rPr lang="en-US" dirty="0" smtClean="0">
                <a:solidFill>
                  <a:schemeClr val="accent5"/>
                </a:solidFill>
              </a:rPr>
              <a:t> </a:t>
            </a:r>
            <a:r>
              <a:rPr lang="en-US" dirty="0" smtClean="0"/>
              <a:t>-&gt; </a:t>
            </a:r>
            <a:r>
              <a:rPr lang="en-US" dirty="0" smtClean="0">
                <a:solidFill>
                  <a:schemeClr val="accent5"/>
                </a:solidFill>
              </a:rPr>
              <a:t>long</a:t>
            </a:r>
            <a:r>
              <a:rPr lang="en-US" dirty="0" smtClean="0"/>
              <a:t> -&gt; </a:t>
            </a:r>
            <a:r>
              <a:rPr lang="en-US" dirty="0" smtClean="0">
                <a:solidFill>
                  <a:schemeClr val="accent5"/>
                </a:solidFill>
              </a:rPr>
              <a:t>float</a:t>
            </a:r>
            <a:r>
              <a:rPr lang="en-US" dirty="0" smtClean="0"/>
              <a:t> -&gt; </a:t>
            </a:r>
            <a:r>
              <a:rPr lang="en-US" dirty="0" smtClean="0">
                <a:solidFill>
                  <a:schemeClr val="accent5"/>
                </a:solidFill>
              </a:rPr>
              <a:t>double</a:t>
            </a:r>
          </a:p>
          <a:p>
            <a:pPr lvl="1"/>
            <a:r>
              <a:rPr lang="en-US" dirty="0">
                <a:solidFill>
                  <a:schemeClr val="accent5"/>
                </a:solidFill>
              </a:rPr>
              <a:t>c</a:t>
            </a:r>
            <a:r>
              <a:rPr lang="en-US" dirty="0" smtClean="0">
                <a:solidFill>
                  <a:schemeClr val="accent5"/>
                </a:solidFill>
              </a:rPr>
              <a:t>har</a:t>
            </a:r>
            <a:r>
              <a:rPr lang="en-US" dirty="0" smtClean="0"/>
              <a:t> -&gt; </a:t>
            </a:r>
            <a:r>
              <a:rPr lang="en-US" dirty="0" err="1" smtClean="0">
                <a:solidFill>
                  <a:schemeClr val="accent5"/>
                </a:solidFill>
              </a:rPr>
              <a:t>int</a:t>
            </a:r>
            <a:r>
              <a:rPr lang="en-US" dirty="0" smtClean="0">
                <a:solidFill>
                  <a:schemeClr val="accent5"/>
                </a:solidFill>
              </a:rPr>
              <a:t> </a:t>
            </a:r>
            <a:r>
              <a:rPr lang="en-US" dirty="0" smtClean="0"/>
              <a:t>-&gt; </a:t>
            </a:r>
            <a:r>
              <a:rPr lang="en-US" dirty="0" smtClean="0">
                <a:solidFill>
                  <a:schemeClr val="accent5"/>
                </a:solidFill>
              </a:rPr>
              <a:t>long</a:t>
            </a:r>
            <a:r>
              <a:rPr lang="en-US" dirty="0" smtClean="0"/>
              <a:t> -&gt; </a:t>
            </a:r>
            <a:r>
              <a:rPr lang="en-US" dirty="0" smtClean="0">
                <a:solidFill>
                  <a:schemeClr val="accent5"/>
                </a:solidFill>
              </a:rPr>
              <a:t>float</a:t>
            </a:r>
            <a:r>
              <a:rPr lang="en-US" dirty="0" smtClean="0"/>
              <a:t> -&gt; </a:t>
            </a:r>
            <a:r>
              <a:rPr lang="en-US" dirty="0" smtClean="0">
                <a:solidFill>
                  <a:schemeClr val="accent5"/>
                </a:solidFill>
              </a:rPr>
              <a:t>double</a:t>
            </a:r>
          </a:p>
          <a:p>
            <a:r>
              <a:rPr lang="en-US" dirty="0" smtClean="0"/>
              <a:t>Demotion is not automatic</a:t>
            </a:r>
          </a:p>
          <a:p>
            <a:pPr lvl="1"/>
            <a:r>
              <a:rPr lang="en-US" dirty="0" smtClean="0"/>
              <a:t>Must perform a narrowing conversion with a cast:</a:t>
            </a:r>
          </a:p>
          <a:p>
            <a:pPr marL="0" indent="0">
              <a:buNone/>
            </a:pPr>
            <a:r>
              <a:rPr lang="en-US" sz="2000" dirty="0"/>
              <a:t>	</a:t>
            </a:r>
            <a:r>
              <a:rPr lang="en-US" sz="2000" dirty="0" smtClean="0">
                <a:solidFill>
                  <a:schemeClr val="accent5"/>
                </a:solidFill>
              </a:rPr>
              <a:t>double d = 3;</a:t>
            </a:r>
          </a:p>
          <a:p>
            <a:pPr marL="0" indent="0">
              <a:buNone/>
            </a:pPr>
            <a:r>
              <a:rPr lang="en-US" sz="2000" dirty="0">
                <a:solidFill>
                  <a:schemeClr val="accent5"/>
                </a:solidFill>
              </a:rPr>
              <a:t>	</a:t>
            </a:r>
            <a:r>
              <a:rPr lang="en-US" sz="2000" dirty="0" smtClean="0">
                <a:solidFill>
                  <a:schemeClr val="accent5"/>
                </a:solidFill>
              </a:rPr>
              <a:t>f(d); //f(double)</a:t>
            </a:r>
          </a:p>
          <a:p>
            <a:pPr marL="0" indent="0">
              <a:buNone/>
            </a:pPr>
            <a:r>
              <a:rPr lang="en-US" sz="2000" dirty="0">
                <a:solidFill>
                  <a:schemeClr val="accent5"/>
                </a:solidFill>
              </a:rPr>
              <a:t>	</a:t>
            </a:r>
            <a:r>
              <a:rPr lang="en-US" sz="2000" dirty="0" smtClean="0">
                <a:solidFill>
                  <a:schemeClr val="accent5"/>
                </a:solidFill>
              </a:rPr>
              <a:t>f((long)d); //f(long)</a:t>
            </a:r>
            <a:endParaRPr lang="en-US" sz="2000" dirty="0">
              <a:solidFill>
                <a:schemeClr val="accent5"/>
              </a:solidFill>
            </a:endParaRPr>
          </a:p>
        </p:txBody>
      </p:sp>
      <p:sp>
        <p:nvSpPr>
          <p:cNvPr id="3" name="Slide Number Placeholder 2"/>
          <p:cNvSpPr>
            <a:spLocks noGrp="1"/>
          </p:cNvSpPr>
          <p:nvPr>
            <p:ph type="sldNum" sz="quarter" idx="12"/>
          </p:nvPr>
        </p:nvSpPr>
        <p:spPr/>
        <p:txBody>
          <a:bodyPr/>
          <a:lstStyle/>
          <a:p>
            <a:fld id="{965D6772-41C1-4987-827C-16EA866C2326}" type="slidenum">
              <a:rPr lang="en-US" smtClean="0"/>
              <a:t>24</a:t>
            </a:fld>
            <a:endParaRPr lang="en-US"/>
          </a:p>
        </p:txBody>
      </p:sp>
    </p:spTree>
    <p:extLst>
      <p:ext uri="{BB962C8B-B14F-4D97-AF65-F5344CB8AC3E}">
        <p14:creationId xmlns:p14="http://schemas.microsoft.com/office/powerpoint/2010/main" val="1296575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Passing Information to A Method</a:t>
            </a:r>
            <a:endParaRPr lang="en-US" dirty="0"/>
          </a:p>
        </p:txBody>
      </p:sp>
      <p:sp>
        <p:nvSpPr>
          <p:cNvPr id="3" name="Content Placeholder 2"/>
          <p:cNvSpPr>
            <a:spLocks noGrp="1"/>
          </p:cNvSpPr>
          <p:nvPr>
            <p:ph sz="half" idx="1"/>
          </p:nvPr>
        </p:nvSpPr>
        <p:spPr/>
        <p:txBody>
          <a:bodyPr/>
          <a:lstStyle/>
          <a:p>
            <a:r>
              <a:rPr lang="en-US" dirty="0" smtClean="0"/>
              <a:t>In Java, arguments are passed to methods </a:t>
            </a:r>
            <a:r>
              <a:rPr lang="en-US" dirty="0" smtClean="0">
                <a:solidFill>
                  <a:srgbClr val="FF0000"/>
                </a:solidFill>
              </a:rPr>
              <a:t>by value</a:t>
            </a:r>
            <a:r>
              <a:rPr lang="en-US" dirty="0" smtClean="0"/>
              <a:t>!</a:t>
            </a:r>
          </a:p>
          <a:p>
            <a:pPr lvl="1"/>
            <a:r>
              <a:rPr lang="en-US" dirty="0" smtClean="0"/>
              <a:t>Any changes to the parameters of a method are gone when the method returns</a:t>
            </a:r>
            <a:endParaRPr lang="en-US" dirty="0"/>
          </a:p>
        </p:txBody>
      </p:sp>
      <p:sp>
        <p:nvSpPr>
          <p:cNvPr id="4" name="Content Placeholder 3"/>
          <p:cNvSpPr>
            <a:spLocks noGrp="1"/>
          </p:cNvSpPr>
          <p:nvPr>
            <p:ph sz="half" idx="2"/>
          </p:nvPr>
        </p:nvSpPr>
        <p:spPr/>
        <p:txBody>
          <a:bodyPr/>
          <a:lstStyle/>
          <a:p>
            <a:r>
              <a:rPr lang="en-US" dirty="0" smtClean="0"/>
              <a:t>Passing primitive data types</a:t>
            </a:r>
          </a:p>
          <a:p>
            <a:pPr marL="0" indent="0">
              <a:buNone/>
            </a:pPr>
            <a:r>
              <a:rPr lang="en-US" sz="2000" dirty="0">
                <a:solidFill>
                  <a:schemeClr val="accent5"/>
                </a:solidFill>
              </a:rPr>
              <a:t>p</a:t>
            </a:r>
            <a:r>
              <a:rPr lang="en-US" sz="2000" dirty="0" smtClean="0">
                <a:solidFill>
                  <a:schemeClr val="accent5"/>
                </a:solidFill>
              </a:rPr>
              <a:t>ublic class </a:t>
            </a:r>
            <a:r>
              <a:rPr lang="en-US" sz="2000" dirty="0" err="1" smtClean="0">
                <a:solidFill>
                  <a:schemeClr val="accent5"/>
                </a:solidFill>
              </a:rPr>
              <a:t>PassPrimitiveByValue</a:t>
            </a:r>
            <a:r>
              <a:rPr lang="en-US" sz="2000" dirty="0" smtClean="0">
                <a:solidFill>
                  <a:schemeClr val="accent5"/>
                </a:solidFill>
              </a:rPr>
              <a:t> {</a:t>
            </a:r>
          </a:p>
          <a:p>
            <a:pPr marL="0" indent="0">
              <a:buNone/>
            </a:pPr>
            <a:r>
              <a:rPr lang="en-US" sz="2000" dirty="0" smtClean="0">
                <a:solidFill>
                  <a:schemeClr val="accent5"/>
                </a:solidFill>
              </a:rPr>
              <a:t>  static void </a:t>
            </a:r>
            <a:r>
              <a:rPr lang="en-US" sz="2000" dirty="0" err="1" smtClean="0">
                <a:solidFill>
                  <a:schemeClr val="accent5"/>
                </a:solidFill>
              </a:rPr>
              <a:t>passMethod</a:t>
            </a:r>
            <a:r>
              <a:rPr lang="en-US" sz="2000" dirty="0" smtClean="0">
                <a:solidFill>
                  <a:schemeClr val="accent5"/>
                </a:solidFill>
              </a:rPr>
              <a:t>(</a:t>
            </a:r>
            <a:r>
              <a:rPr lang="en-US" sz="2000" dirty="0" err="1" smtClean="0">
                <a:solidFill>
                  <a:schemeClr val="accent5"/>
                </a:solidFill>
              </a:rPr>
              <a:t>int</a:t>
            </a:r>
            <a:r>
              <a:rPr lang="en-US" sz="2000" dirty="0" smtClean="0">
                <a:solidFill>
                  <a:schemeClr val="accent5"/>
                </a:solidFill>
              </a:rPr>
              <a:t> p) { p=10; }</a:t>
            </a:r>
          </a:p>
          <a:p>
            <a:pPr marL="0" indent="0">
              <a:buNone/>
            </a:pPr>
            <a:r>
              <a:rPr lang="en-US" sz="2000" dirty="0">
                <a:solidFill>
                  <a:schemeClr val="accent5"/>
                </a:solidFill>
              </a:rPr>
              <a:t> </a:t>
            </a:r>
            <a:r>
              <a:rPr lang="en-US" sz="2000" dirty="0" smtClean="0">
                <a:solidFill>
                  <a:schemeClr val="accent5"/>
                </a:solidFill>
              </a:rPr>
              <a:t> public static void main(String[] </a:t>
            </a:r>
            <a:r>
              <a:rPr lang="en-US" sz="2000" dirty="0" err="1" smtClean="0">
                <a:solidFill>
                  <a:schemeClr val="accent5"/>
                </a:solidFill>
              </a:rPr>
              <a:t>args</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int</a:t>
            </a:r>
            <a:r>
              <a:rPr lang="en-US" sz="2000" dirty="0" smtClean="0">
                <a:solidFill>
                  <a:schemeClr val="accent5"/>
                </a:solidFill>
              </a:rPr>
              <a:t> p = 3;</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passMethod</a:t>
            </a:r>
            <a:r>
              <a:rPr lang="en-US" sz="2000" dirty="0" smtClean="0">
                <a:solidFill>
                  <a:schemeClr val="accent5"/>
                </a:solidFill>
              </a:rPr>
              <a:t>(p);</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System.out.println</a:t>
            </a:r>
            <a:r>
              <a:rPr lang="en-US" sz="2000" dirty="0" smtClean="0">
                <a:solidFill>
                  <a:schemeClr val="accent5"/>
                </a:solidFill>
              </a:rPr>
              <a:t>(p); // 10 or 3?</a:t>
            </a:r>
          </a:p>
          <a:p>
            <a:pPr marL="0" indent="0">
              <a:buNone/>
            </a:pPr>
            <a:r>
              <a:rPr lang="en-US" sz="2000" dirty="0">
                <a:solidFill>
                  <a:schemeClr val="accent5"/>
                </a:solidFill>
              </a:rPr>
              <a:t> </a:t>
            </a:r>
            <a:r>
              <a:rPr lang="en-US" sz="2000" dirty="0" smtClean="0">
                <a:solidFill>
                  <a:schemeClr val="accent5"/>
                </a:solidFill>
              </a:rPr>
              <a:t> }</a:t>
            </a:r>
          </a:p>
          <a:p>
            <a:pPr marL="0" indent="0">
              <a:buNone/>
            </a:pPr>
            <a:r>
              <a:rPr lang="en-US" sz="2000" dirty="0" smtClean="0">
                <a:solidFill>
                  <a:schemeClr val="accent5"/>
                </a:solidFill>
              </a:rPr>
              <a:t>}</a:t>
            </a:r>
          </a:p>
          <a:p>
            <a:pPr marL="0" indent="0">
              <a:buNone/>
            </a:pPr>
            <a:r>
              <a:rPr lang="en-US" sz="2000" dirty="0" smtClean="0">
                <a:solidFill>
                  <a:schemeClr val="accent5"/>
                </a:solidFill>
              </a:rPr>
              <a:t>// this program prints out 3!</a:t>
            </a:r>
            <a:endParaRPr lang="en-US" sz="2000"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25</a:t>
            </a:fld>
            <a:endParaRPr lang="en-US"/>
          </a:p>
        </p:txBody>
      </p:sp>
    </p:spTree>
    <p:extLst>
      <p:ext uri="{BB962C8B-B14F-4D97-AF65-F5344CB8AC3E}">
        <p14:creationId xmlns:p14="http://schemas.microsoft.com/office/powerpoint/2010/main" val="3263741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Passing References</a:t>
            </a:r>
            <a:endParaRPr lang="en-US" dirty="0"/>
          </a:p>
        </p:txBody>
      </p:sp>
      <p:sp>
        <p:nvSpPr>
          <p:cNvPr id="3" name="Content Placeholder 2"/>
          <p:cNvSpPr>
            <a:spLocks noGrp="1"/>
          </p:cNvSpPr>
          <p:nvPr>
            <p:ph sz="half" idx="1"/>
          </p:nvPr>
        </p:nvSpPr>
        <p:spPr/>
        <p:txBody>
          <a:bodyPr>
            <a:normAutofit/>
          </a:bodyPr>
          <a:lstStyle/>
          <a:p>
            <a:r>
              <a:rPr lang="en-US" dirty="0" smtClean="0"/>
              <a:t>References are also passed to a method by value</a:t>
            </a:r>
          </a:p>
          <a:p>
            <a:pPr lvl="1"/>
            <a:r>
              <a:rPr lang="en-US" dirty="0" smtClean="0"/>
              <a:t>When the method returns, the passed-in reference still points to the same object as before</a:t>
            </a:r>
          </a:p>
          <a:p>
            <a:pPr lvl="1"/>
            <a:r>
              <a:rPr lang="en-US" dirty="0" smtClean="0"/>
              <a:t>However, the object’s fields can be changed in the method!</a:t>
            </a:r>
            <a:endParaRPr lang="en-US" dirty="0"/>
          </a:p>
        </p:txBody>
      </p:sp>
      <p:sp>
        <p:nvSpPr>
          <p:cNvPr id="4" name="Content Placeholder 3"/>
          <p:cNvSpPr>
            <a:spLocks noGrp="1"/>
          </p:cNvSpPr>
          <p:nvPr>
            <p:ph sz="half" idx="2"/>
          </p:nvPr>
        </p:nvSpPr>
        <p:spPr>
          <a:xfrm>
            <a:off x="6172200" y="903112"/>
            <a:ext cx="5181600" cy="5621866"/>
          </a:xfrm>
        </p:spPr>
        <p:txBody>
          <a:bodyPr>
            <a:noAutofit/>
          </a:bodyPr>
          <a:lstStyle/>
          <a:p>
            <a:pPr marL="0" indent="0">
              <a:buNone/>
            </a:pPr>
            <a:r>
              <a:rPr lang="en-US" sz="2000" dirty="0">
                <a:solidFill>
                  <a:schemeClr val="accent5"/>
                </a:solidFill>
              </a:rPr>
              <a:t>c</a:t>
            </a:r>
            <a:r>
              <a:rPr lang="en-US" sz="2000" dirty="0" smtClean="0">
                <a:solidFill>
                  <a:schemeClr val="accent5"/>
                </a:solidFill>
              </a:rPr>
              <a:t>lass </a:t>
            </a:r>
            <a:r>
              <a:rPr lang="en-US" sz="2000" dirty="0" err="1" smtClean="0">
                <a:solidFill>
                  <a:schemeClr val="accent5"/>
                </a:solidFill>
              </a:rPr>
              <a:t>IntegerValue</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int</a:t>
            </a:r>
            <a:r>
              <a:rPr lang="en-US" sz="2000" dirty="0" smtClean="0">
                <a:solidFill>
                  <a:schemeClr val="accent5"/>
                </a:solidFill>
              </a:rPr>
              <a:t> </a:t>
            </a:r>
            <a:r>
              <a:rPr lang="en-US" sz="2000" dirty="0" err="1" smtClean="0">
                <a:solidFill>
                  <a:schemeClr val="accent5"/>
                </a:solidFill>
              </a:rPr>
              <a:t>val</a:t>
            </a:r>
            <a:r>
              <a:rPr lang="en-US" sz="2000" dirty="0" smtClean="0">
                <a:solidFill>
                  <a:schemeClr val="accent5"/>
                </a:solidFill>
              </a:rPr>
              <a:t>;</a:t>
            </a:r>
          </a:p>
          <a:p>
            <a:pPr marL="0" indent="0">
              <a:buNone/>
            </a:pPr>
            <a:r>
              <a:rPr lang="en-US" sz="2000" dirty="0" smtClean="0">
                <a:solidFill>
                  <a:schemeClr val="accent5"/>
                </a:solidFill>
              </a:rPr>
              <a:t>}</a:t>
            </a:r>
          </a:p>
          <a:p>
            <a:pPr marL="0" indent="0">
              <a:buNone/>
            </a:pPr>
            <a:r>
              <a:rPr lang="en-US" sz="2000" dirty="0">
                <a:solidFill>
                  <a:schemeClr val="accent5"/>
                </a:solidFill>
              </a:rPr>
              <a:t>p</a:t>
            </a:r>
            <a:r>
              <a:rPr lang="en-US" sz="2000" dirty="0" smtClean="0">
                <a:solidFill>
                  <a:schemeClr val="accent5"/>
                </a:solidFill>
              </a:rPr>
              <a:t>ublic class </a:t>
            </a:r>
            <a:r>
              <a:rPr lang="en-US" sz="2000" dirty="0" err="1" smtClean="0">
                <a:solidFill>
                  <a:schemeClr val="accent5"/>
                </a:solidFill>
              </a:rPr>
              <a:t>PassObject</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static void f(</a:t>
            </a:r>
            <a:r>
              <a:rPr lang="en-US" sz="2000" dirty="0" err="1" smtClean="0">
                <a:solidFill>
                  <a:schemeClr val="accent5"/>
                </a:solidFill>
              </a:rPr>
              <a:t>IntegerValue</a:t>
            </a:r>
            <a:r>
              <a:rPr lang="en-US" sz="2000" dirty="0" smtClean="0">
                <a:solidFill>
                  <a:schemeClr val="accent5"/>
                </a:solidFill>
              </a:rPr>
              <a:t> </a:t>
            </a:r>
            <a:r>
              <a:rPr lang="en-US" sz="2000" dirty="0" err="1" smtClean="0">
                <a:solidFill>
                  <a:schemeClr val="accent5"/>
                </a:solidFill>
              </a:rPr>
              <a:t>obj</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obj.val</a:t>
            </a:r>
            <a:r>
              <a:rPr lang="en-US" sz="2000" dirty="0" smtClean="0">
                <a:solidFill>
                  <a:schemeClr val="accent5"/>
                </a:solidFill>
              </a:rPr>
              <a:t> = 10;</a:t>
            </a:r>
          </a:p>
          <a:p>
            <a:pPr marL="0" indent="0">
              <a:buNone/>
            </a:pPr>
            <a:r>
              <a:rPr lang="en-US" sz="2000" dirty="0">
                <a:solidFill>
                  <a:schemeClr val="accent5"/>
                </a:solidFill>
              </a:rPr>
              <a:t> </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public static void main(String[] </a:t>
            </a:r>
            <a:r>
              <a:rPr lang="en-US" sz="2000" dirty="0" err="1" smtClean="0">
                <a:solidFill>
                  <a:schemeClr val="accent5"/>
                </a:solidFill>
              </a:rPr>
              <a:t>args</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IntegerValue</a:t>
            </a:r>
            <a:r>
              <a:rPr lang="en-US" sz="2000" dirty="0" smtClean="0">
                <a:solidFill>
                  <a:schemeClr val="accent5"/>
                </a:solidFill>
              </a:rPr>
              <a:t> </a:t>
            </a:r>
            <a:r>
              <a:rPr lang="en-US" sz="2000" dirty="0" err="1" smtClean="0">
                <a:solidFill>
                  <a:schemeClr val="accent5"/>
                </a:solidFill>
              </a:rPr>
              <a:t>obj</a:t>
            </a:r>
            <a:r>
              <a:rPr lang="en-US" sz="2000" dirty="0" smtClean="0">
                <a:solidFill>
                  <a:schemeClr val="accent5"/>
                </a:solidFill>
              </a:rPr>
              <a:t> = new </a:t>
            </a:r>
            <a:r>
              <a:rPr lang="en-US" sz="2000" dirty="0" err="1" smtClean="0">
                <a:solidFill>
                  <a:schemeClr val="accent5"/>
                </a:solidFill>
              </a:rPr>
              <a:t>IntegerValue</a:t>
            </a:r>
            <a:r>
              <a:rPr lang="en-US" sz="2000" dirty="0" smtClean="0">
                <a:solidFill>
                  <a:schemeClr val="accent5"/>
                </a:solidFill>
              </a:rPr>
              <a:t>();</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obj.val</a:t>
            </a:r>
            <a:r>
              <a:rPr lang="en-US" sz="2000" dirty="0">
                <a:solidFill>
                  <a:schemeClr val="accent5"/>
                </a:solidFill>
              </a:rPr>
              <a:t> </a:t>
            </a:r>
            <a:r>
              <a:rPr lang="en-US" sz="2000" dirty="0" smtClean="0">
                <a:solidFill>
                  <a:schemeClr val="accent5"/>
                </a:solidFill>
              </a:rPr>
              <a:t>= 3;</a:t>
            </a:r>
          </a:p>
          <a:p>
            <a:pPr marL="0" indent="0">
              <a:buNone/>
            </a:pPr>
            <a:r>
              <a:rPr lang="en-US" sz="2000" dirty="0">
                <a:solidFill>
                  <a:schemeClr val="accent5"/>
                </a:solidFill>
              </a:rPr>
              <a:t> </a:t>
            </a:r>
            <a:r>
              <a:rPr lang="en-US" sz="2000" dirty="0" smtClean="0">
                <a:solidFill>
                  <a:schemeClr val="accent5"/>
                </a:solidFill>
              </a:rPr>
              <a:t>   f(</a:t>
            </a:r>
            <a:r>
              <a:rPr lang="en-US" sz="2000" dirty="0" err="1" smtClean="0">
                <a:solidFill>
                  <a:schemeClr val="accent5"/>
                </a:solidFill>
              </a:rPr>
              <a:t>obj</a:t>
            </a:r>
            <a:r>
              <a:rPr lang="en-US" sz="2000" dirty="0" smtClean="0">
                <a:solidFill>
                  <a:schemeClr val="accent5"/>
                </a:solidFill>
              </a:rPr>
              <a:t>);</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System.out.println</a:t>
            </a:r>
            <a:r>
              <a:rPr lang="en-US" sz="2000" dirty="0" smtClean="0">
                <a:solidFill>
                  <a:schemeClr val="accent5"/>
                </a:solidFill>
              </a:rPr>
              <a:t>(</a:t>
            </a:r>
            <a:r>
              <a:rPr lang="en-US" sz="2000" dirty="0" err="1" smtClean="0">
                <a:solidFill>
                  <a:schemeClr val="accent5"/>
                </a:solidFill>
              </a:rPr>
              <a:t>obj.val</a:t>
            </a:r>
            <a:r>
              <a:rPr lang="en-US" sz="2000" dirty="0" smtClean="0">
                <a:solidFill>
                  <a:schemeClr val="accent5"/>
                </a:solidFill>
              </a:rPr>
              <a:t>); // 10 or 3?</a:t>
            </a:r>
          </a:p>
          <a:p>
            <a:pPr marL="0" indent="0">
              <a:buNone/>
            </a:pPr>
            <a:r>
              <a:rPr lang="en-US" sz="2000" dirty="0">
                <a:solidFill>
                  <a:schemeClr val="accent5"/>
                </a:solidFill>
              </a:rPr>
              <a:t> </a:t>
            </a:r>
            <a:r>
              <a:rPr lang="en-US" sz="2000" dirty="0" smtClean="0">
                <a:solidFill>
                  <a:schemeClr val="accent5"/>
                </a:solidFill>
              </a:rPr>
              <a:t> }</a:t>
            </a:r>
          </a:p>
          <a:p>
            <a:pPr marL="0" indent="0">
              <a:buNone/>
            </a:pPr>
            <a:r>
              <a:rPr lang="en-US" sz="2000" dirty="0" smtClean="0">
                <a:solidFill>
                  <a:schemeClr val="accent5"/>
                </a:solidFill>
              </a:rPr>
              <a:t>} // this program prints out 10!</a:t>
            </a:r>
            <a:endParaRPr lang="en-US" sz="2000"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26</a:t>
            </a:fld>
            <a:endParaRPr lang="en-US"/>
          </a:p>
        </p:txBody>
      </p:sp>
    </p:spTree>
    <p:extLst>
      <p:ext uri="{BB962C8B-B14F-4D97-AF65-F5344CB8AC3E}">
        <p14:creationId xmlns:p14="http://schemas.microsoft.com/office/powerpoint/2010/main" val="3881019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Variables</a:t>
            </a:r>
            <a:endParaRPr lang="en-US" dirty="0"/>
          </a:p>
        </p:txBody>
      </p:sp>
      <p:sp>
        <p:nvSpPr>
          <p:cNvPr id="3" name="Content Placeholder 2"/>
          <p:cNvSpPr>
            <a:spLocks noGrp="1"/>
          </p:cNvSpPr>
          <p:nvPr>
            <p:ph sz="half" idx="1"/>
          </p:nvPr>
        </p:nvSpPr>
        <p:spPr/>
        <p:txBody>
          <a:bodyPr>
            <a:normAutofit fontScale="92500" lnSpcReduction="20000"/>
          </a:bodyPr>
          <a:lstStyle/>
          <a:p>
            <a:r>
              <a:rPr lang="en-US" dirty="0" smtClean="0"/>
              <a:t>With </a:t>
            </a:r>
            <a:r>
              <a:rPr lang="en-US" dirty="0" smtClean="0">
                <a:solidFill>
                  <a:schemeClr val="accent5"/>
                </a:solidFill>
              </a:rPr>
              <a:t>static</a:t>
            </a:r>
            <a:r>
              <a:rPr lang="en-US" dirty="0" smtClean="0"/>
              <a:t> keyword</a:t>
            </a:r>
          </a:p>
          <a:p>
            <a:r>
              <a:rPr lang="en-US" dirty="0" smtClean="0"/>
              <a:t>Associated with the class, rather than any object</a:t>
            </a:r>
          </a:p>
          <a:p>
            <a:pPr marL="0" indent="0">
              <a:buNone/>
            </a:pPr>
            <a:endParaRPr lang="en-US" sz="2000" dirty="0" smtClean="0"/>
          </a:p>
          <a:p>
            <a:pPr marL="0" indent="0">
              <a:buNone/>
            </a:pPr>
            <a:r>
              <a:rPr lang="en-US" sz="2000" dirty="0">
                <a:solidFill>
                  <a:schemeClr val="accent5"/>
                </a:solidFill>
              </a:rPr>
              <a:t>public class Bicycle {</a:t>
            </a:r>
          </a:p>
          <a:p>
            <a:pPr marL="0" indent="0">
              <a:buNone/>
            </a:pPr>
            <a:r>
              <a:rPr lang="en-US" sz="2000" dirty="0">
                <a:solidFill>
                  <a:schemeClr val="accent5"/>
                </a:solidFill>
              </a:rPr>
              <a:t>        </a:t>
            </a:r>
          </a:p>
          <a:p>
            <a:pPr marL="0" indent="0">
              <a:buNone/>
            </a:pPr>
            <a:r>
              <a:rPr lang="en-US" sz="2000" dirty="0">
                <a:solidFill>
                  <a:schemeClr val="accent5"/>
                </a:solidFill>
              </a:rPr>
              <a:t>    private </a:t>
            </a:r>
            <a:r>
              <a:rPr lang="en-US" sz="2000" dirty="0" err="1">
                <a:solidFill>
                  <a:schemeClr val="accent5"/>
                </a:solidFill>
              </a:rPr>
              <a:t>int</a:t>
            </a:r>
            <a:r>
              <a:rPr lang="en-US" sz="2000" dirty="0">
                <a:solidFill>
                  <a:schemeClr val="accent5"/>
                </a:solidFill>
              </a:rPr>
              <a:t> cadence;</a:t>
            </a:r>
          </a:p>
          <a:p>
            <a:pPr marL="0" indent="0">
              <a:buNone/>
            </a:pPr>
            <a:r>
              <a:rPr lang="en-US" sz="2000" dirty="0">
                <a:solidFill>
                  <a:schemeClr val="accent5"/>
                </a:solidFill>
              </a:rPr>
              <a:t>    private </a:t>
            </a:r>
            <a:r>
              <a:rPr lang="en-US" sz="2000" dirty="0" err="1">
                <a:solidFill>
                  <a:schemeClr val="accent5"/>
                </a:solidFill>
              </a:rPr>
              <a:t>int</a:t>
            </a:r>
            <a:r>
              <a:rPr lang="en-US" sz="2000" dirty="0">
                <a:solidFill>
                  <a:schemeClr val="accent5"/>
                </a:solidFill>
              </a:rPr>
              <a:t> gear;</a:t>
            </a:r>
          </a:p>
          <a:p>
            <a:pPr marL="0" indent="0">
              <a:buNone/>
            </a:pPr>
            <a:r>
              <a:rPr lang="en-US" sz="2000" dirty="0">
                <a:solidFill>
                  <a:schemeClr val="accent5"/>
                </a:solidFill>
              </a:rPr>
              <a:t>    private </a:t>
            </a:r>
            <a:r>
              <a:rPr lang="en-US" sz="2000" dirty="0" err="1">
                <a:solidFill>
                  <a:schemeClr val="accent5"/>
                </a:solidFill>
              </a:rPr>
              <a:t>int</a:t>
            </a:r>
            <a:r>
              <a:rPr lang="en-US" sz="2000" dirty="0">
                <a:solidFill>
                  <a:schemeClr val="accent5"/>
                </a:solidFill>
              </a:rPr>
              <a:t> speed</a:t>
            </a:r>
            <a:r>
              <a:rPr lang="en-US" sz="2000" dirty="0" smtClean="0">
                <a:solidFill>
                  <a:schemeClr val="accent5"/>
                </a:solidFill>
              </a:rPr>
              <a:t>;</a:t>
            </a:r>
          </a:p>
          <a:p>
            <a:pPr marL="0" indent="0">
              <a:buNone/>
            </a:pPr>
            <a:endParaRPr lang="en-US" sz="2000" dirty="0">
              <a:solidFill>
                <a:schemeClr val="accent5"/>
              </a:solidFill>
            </a:endParaRPr>
          </a:p>
          <a:p>
            <a:pPr marL="0" indent="0">
              <a:buNone/>
            </a:pPr>
            <a:r>
              <a:rPr lang="en-US" sz="2000" dirty="0">
                <a:solidFill>
                  <a:schemeClr val="accent5"/>
                </a:solidFill>
              </a:rPr>
              <a:t>    private </a:t>
            </a:r>
            <a:r>
              <a:rPr lang="en-US" sz="2000" dirty="0" err="1">
                <a:solidFill>
                  <a:schemeClr val="accent5"/>
                </a:solidFill>
              </a:rPr>
              <a:t>int</a:t>
            </a:r>
            <a:r>
              <a:rPr lang="en-US" sz="2000" dirty="0">
                <a:solidFill>
                  <a:schemeClr val="accent5"/>
                </a:solidFill>
              </a:rPr>
              <a:t> id;</a:t>
            </a:r>
          </a:p>
          <a:p>
            <a:pPr marL="0" indent="0">
              <a:buNone/>
            </a:pPr>
            <a:r>
              <a:rPr lang="en-US" sz="2000" dirty="0">
                <a:solidFill>
                  <a:schemeClr val="accent5"/>
                </a:solidFill>
              </a:rPr>
              <a:t>    private static </a:t>
            </a:r>
            <a:r>
              <a:rPr lang="en-US" sz="2000" dirty="0" err="1">
                <a:solidFill>
                  <a:schemeClr val="accent5"/>
                </a:solidFill>
              </a:rPr>
              <a:t>int</a:t>
            </a:r>
            <a:r>
              <a:rPr lang="en-US" sz="2000" dirty="0">
                <a:solidFill>
                  <a:schemeClr val="accent5"/>
                </a:solidFill>
              </a:rPr>
              <a:t> </a:t>
            </a:r>
            <a:r>
              <a:rPr lang="en-US" sz="2000" dirty="0" err="1">
                <a:solidFill>
                  <a:schemeClr val="accent5"/>
                </a:solidFill>
              </a:rPr>
              <a:t>numberOfBicycles</a:t>
            </a:r>
            <a:r>
              <a:rPr lang="en-US" sz="2000" dirty="0">
                <a:solidFill>
                  <a:schemeClr val="accent5"/>
                </a:solidFill>
              </a:rPr>
              <a:t> = 0;</a:t>
            </a:r>
          </a:p>
        </p:txBody>
      </p:sp>
      <p:sp>
        <p:nvSpPr>
          <p:cNvPr id="4" name="Content Placeholder 3"/>
          <p:cNvSpPr>
            <a:spLocks noGrp="1"/>
          </p:cNvSpPr>
          <p:nvPr>
            <p:ph sz="half" idx="2"/>
          </p:nvPr>
        </p:nvSpPr>
        <p:spPr>
          <a:xfrm>
            <a:off x="6172200" y="745067"/>
            <a:ext cx="5181600" cy="5431896"/>
          </a:xfrm>
        </p:spPr>
        <p:txBody>
          <a:bodyPr>
            <a:noAutofit/>
          </a:bodyPr>
          <a:lstStyle/>
          <a:p>
            <a:pPr marL="0" indent="0">
              <a:buNone/>
            </a:pPr>
            <a:r>
              <a:rPr lang="en-US" sz="1800" dirty="0" smtClean="0">
                <a:solidFill>
                  <a:schemeClr val="accent5"/>
                </a:solidFill>
              </a:rPr>
              <a:t>    public </a:t>
            </a:r>
            <a:r>
              <a:rPr lang="en-US" sz="1800" dirty="0">
                <a:solidFill>
                  <a:schemeClr val="accent5"/>
                </a:solidFill>
              </a:rPr>
              <a:t>Bicycle(</a:t>
            </a:r>
            <a:r>
              <a:rPr lang="en-US" sz="1800" dirty="0" err="1">
                <a:solidFill>
                  <a:schemeClr val="accent5"/>
                </a:solidFill>
              </a:rPr>
              <a:t>int</a:t>
            </a:r>
            <a:r>
              <a:rPr lang="en-US" sz="1800" dirty="0">
                <a:solidFill>
                  <a:schemeClr val="accent5"/>
                </a:solidFill>
              </a:rPr>
              <a:t> </a:t>
            </a:r>
            <a:r>
              <a:rPr lang="en-US" sz="1800" dirty="0" err="1">
                <a:solidFill>
                  <a:schemeClr val="accent5"/>
                </a:solidFill>
              </a:rPr>
              <a:t>startCadence</a:t>
            </a:r>
            <a:r>
              <a:rPr lang="en-US" sz="1800" dirty="0">
                <a:solidFill>
                  <a:schemeClr val="accent5"/>
                </a:solidFill>
              </a:rPr>
              <a:t>, </a:t>
            </a:r>
            <a:r>
              <a:rPr lang="en-US" sz="1800" dirty="0" err="1">
                <a:solidFill>
                  <a:schemeClr val="accent5"/>
                </a:solidFill>
              </a:rPr>
              <a:t>int</a:t>
            </a:r>
            <a:r>
              <a:rPr lang="en-US" sz="1800" dirty="0">
                <a:solidFill>
                  <a:schemeClr val="accent5"/>
                </a:solidFill>
              </a:rPr>
              <a:t> </a:t>
            </a:r>
            <a:r>
              <a:rPr lang="en-US" sz="1800" dirty="0" err="1">
                <a:solidFill>
                  <a:schemeClr val="accent5"/>
                </a:solidFill>
              </a:rPr>
              <a:t>startSpeed</a:t>
            </a:r>
            <a:r>
              <a:rPr lang="en-US" sz="1800" dirty="0">
                <a:solidFill>
                  <a:schemeClr val="accent5"/>
                </a:solidFill>
              </a:rPr>
              <a:t>, </a:t>
            </a:r>
            <a:r>
              <a:rPr lang="en-US" sz="1800" dirty="0" err="1">
                <a:solidFill>
                  <a:schemeClr val="accent5"/>
                </a:solidFill>
              </a:rPr>
              <a:t>int</a:t>
            </a:r>
            <a:r>
              <a:rPr lang="en-US" sz="1800" dirty="0">
                <a:solidFill>
                  <a:schemeClr val="accent5"/>
                </a:solidFill>
              </a:rPr>
              <a:t> </a:t>
            </a:r>
            <a:r>
              <a:rPr lang="en-US" sz="1800" dirty="0" err="1">
                <a:solidFill>
                  <a:schemeClr val="accent5"/>
                </a:solidFill>
              </a:rPr>
              <a:t>startGear</a:t>
            </a:r>
            <a:r>
              <a:rPr lang="en-US" sz="1800" dirty="0">
                <a:solidFill>
                  <a:schemeClr val="accent5"/>
                </a:solidFill>
              </a:rPr>
              <a:t>){</a:t>
            </a:r>
          </a:p>
          <a:p>
            <a:pPr marL="0" indent="0">
              <a:buNone/>
            </a:pPr>
            <a:r>
              <a:rPr lang="en-US" sz="1800" dirty="0">
                <a:solidFill>
                  <a:schemeClr val="accent5"/>
                </a:solidFill>
              </a:rPr>
              <a:t>        gear = </a:t>
            </a:r>
            <a:r>
              <a:rPr lang="en-US" sz="1800" dirty="0" err="1">
                <a:solidFill>
                  <a:schemeClr val="accent5"/>
                </a:solidFill>
              </a:rPr>
              <a:t>startGear</a:t>
            </a:r>
            <a:r>
              <a:rPr lang="en-US" sz="1800" dirty="0">
                <a:solidFill>
                  <a:schemeClr val="accent5"/>
                </a:solidFill>
              </a:rPr>
              <a:t>;</a:t>
            </a:r>
          </a:p>
          <a:p>
            <a:pPr marL="0" indent="0">
              <a:buNone/>
            </a:pPr>
            <a:r>
              <a:rPr lang="en-US" sz="1800" dirty="0">
                <a:solidFill>
                  <a:schemeClr val="accent5"/>
                </a:solidFill>
              </a:rPr>
              <a:t>        cadence = </a:t>
            </a:r>
            <a:r>
              <a:rPr lang="en-US" sz="1800" dirty="0" err="1">
                <a:solidFill>
                  <a:schemeClr val="accent5"/>
                </a:solidFill>
              </a:rPr>
              <a:t>startCadence</a:t>
            </a:r>
            <a:r>
              <a:rPr lang="en-US" sz="1800" dirty="0">
                <a:solidFill>
                  <a:schemeClr val="accent5"/>
                </a:solidFill>
              </a:rPr>
              <a:t>;</a:t>
            </a:r>
          </a:p>
          <a:p>
            <a:pPr marL="0" indent="0">
              <a:buNone/>
            </a:pPr>
            <a:r>
              <a:rPr lang="en-US" sz="1800" dirty="0">
                <a:solidFill>
                  <a:schemeClr val="accent5"/>
                </a:solidFill>
              </a:rPr>
              <a:t>        speed = </a:t>
            </a:r>
            <a:r>
              <a:rPr lang="en-US" sz="1800" dirty="0" err="1">
                <a:solidFill>
                  <a:schemeClr val="accent5"/>
                </a:solidFill>
              </a:rPr>
              <a:t>startSpeed</a:t>
            </a:r>
            <a:r>
              <a:rPr lang="en-US" sz="1800" dirty="0" smtClean="0">
                <a:solidFill>
                  <a:schemeClr val="accent5"/>
                </a:solidFill>
              </a:rPr>
              <a:t>;</a:t>
            </a:r>
            <a:endParaRPr lang="en-US" sz="1800" dirty="0">
              <a:solidFill>
                <a:schemeClr val="accent5"/>
              </a:solidFill>
            </a:endParaRPr>
          </a:p>
          <a:p>
            <a:pPr marL="0" indent="0">
              <a:buNone/>
            </a:pPr>
            <a:r>
              <a:rPr lang="en-US" sz="1800" dirty="0">
                <a:solidFill>
                  <a:schemeClr val="accent5"/>
                </a:solidFill>
              </a:rPr>
              <a:t>        // increment number of Bicycles</a:t>
            </a:r>
          </a:p>
          <a:p>
            <a:pPr marL="0" indent="0">
              <a:buNone/>
            </a:pPr>
            <a:r>
              <a:rPr lang="en-US" sz="1800" dirty="0">
                <a:solidFill>
                  <a:schemeClr val="accent5"/>
                </a:solidFill>
              </a:rPr>
              <a:t>        // and assign ID number</a:t>
            </a:r>
          </a:p>
          <a:p>
            <a:pPr marL="0" indent="0">
              <a:buNone/>
            </a:pPr>
            <a:r>
              <a:rPr lang="en-US" sz="1800" dirty="0">
                <a:solidFill>
                  <a:schemeClr val="accent5"/>
                </a:solidFill>
              </a:rPr>
              <a:t>        id = ++</a:t>
            </a:r>
            <a:r>
              <a:rPr lang="en-US" sz="1800" dirty="0" err="1">
                <a:solidFill>
                  <a:schemeClr val="accent5"/>
                </a:solidFill>
              </a:rPr>
              <a:t>numberOfBicycles</a:t>
            </a:r>
            <a:r>
              <a:rPr lang="en-US" sz="1800" dirty="0">
                <a:solidFill>
                  <a:schemeClr val="accent5"/>
                </a:solidFill>
              </a:rPr>
              <a:t>;</a:t>
            </a:r>
          </a:p>
          <a:p>
            <a:pPr marL="0" indent="0">
              <a:buNone/>
            </a:pPr>
            <a:r>
              <a:rPr lang="en-US" sz="1800" dirty="0">
                <a:solidFill>
                  <a:schemeClr val="accent5"/>
                </a:solidFill>
              </a:rPr>
              <a:t>    </a:t>
            </a:r>
            <a:r>
              <a:rPr lang="en-US" sz="1800" dirty="0" smtClean="0">
                <a:solidFill>
                  <a:schemeClr val="accent5"/>
                </a:solidFill>
              </a:rPr>
              <a:t>}</a:t>
            </a:r>
            <a:endParaRPr lang="en-US" sz="1800" dirty="0">
              <a:solidFill>
                <a:schemeClr val="accent5"/>
              </a:solidFill>
            </a:endParaRPr>
          </a:p>
          <a:p>
            <a:pPr marL="0" indent="0">
              <a:buNone/>
            </a:pPr>
            <a:r>
              <a:rPr lang="en-US" sz="1800" dirty="0">
                <a:solidFill>
                  <a:schemeClr val="accent5"/>
                </a:solidFill>
              </a:rPr>
              <a:t>    // new method to return the ID instance variable</a:t>
            </a:r>
          </a:p>
          <a:p>
            <a:pPr marL="0" indent="0">
              <a:buNone/>
            </a:pPr>
            <a:r>
              <a:rPr lang="en-US" sz="1800" dirty="0">
                <a:solidFill>
                  <a:schemeClr val="accent5"/>
                </a:solidFill>
              </a:rPr>
              <a:t>    public </a:t>
            </a:r>
            <a:r>
              <a:rPr lang="en-US" sz="1800" dirty="0" err="1">
                <a:solidFill>
                  <a:schemeClr val="accent5"/>
                </a:solidFill>
              </a:rPr>
              <a:t>int</a:t>
            </a:r>
            <a:r>
              <a:rPr lang="en-US" sz="1800" dirty="0">
                <a:solidFill>
                  <a:schemeClr val="accent5"/>
                </a:solidFill>
              </a:rPr>
              <a:t> </a:t>
            </a:r>
            <a:r>
              <a:rPr lang="en-US" sz="1800" dirty="0" err="1">
                <a:solidFill>
                  <a:schemeClr val="accent5"/>
                </a:solidFill>
              </a:rPr>
              <a:t>getID</a:t>
            </a:r>
            <a:r>
              <a:rPr lang="en-US" sz="1800" dirty="0">
                <a:solidFill>
                  <a:schemeClr val="accent5"/>
                </a:solidFill>
              </a:rPr>
              <a:t>() {</a:t>
            </a:r>
          </a:p>
          <a:p>
            <a:pPr marL="0" indent="0">
              <a:buNone/>
            </a:pPr>
            <a:r>
              <a:rPr lang="en-US" sz="1800" dirty="0">
                <a:solidFill>
                  <a:schemeClr val="accent5"/>
                </a:solidFill>
              </a:rPr>
              <a:t>        return id;</a:t>
            </a:r>
          </a:p>
          <a:p>
            <a:pPr marL="0" indent="0">
              <a:buNone/>
            </a:pPr>
            <a:r>
              <a:rPr lang="en-US" sz="1800" dirty="0">
                <a:solidFill>
                  <a:schemeClr val="accent5"/>
                </a:solidFill>
              </a:rPr>
              <a:t>    }</a:t>
            </a:r>
          </a:p>
          <a:p>
            <a:pPr marL="0" indent="0">
              <a:buNone/>
            </a:pPr>
            <a:r>
              <a:rPr lang="en-US" sz="1800" dirty="0">
                <a:solidFill>
                  <a:schemeClr val="accent5"/>
                </a:solidFill>
              </a:rPr>
              <a:t>        ...</a:t>
            </a:r>
          </a:p>
          <a:p>
            <a:pPr marL="0" indent="0">
              <a:buNone/>
            </a:pPr>
            <a:r>
              <a:rPr lang="en-US" sz="1800" dirty="0">
                <a:solidFill>
                  <a:schemeClr val="accent5"/>
                </a:solidFill>
              </a:rPr>
              <a:t>}</a:t>
            </a:r>
          </a:p>
        </p:txBody>
      </p:sp>
      <p:sp>
        <p:nvSpPr>
          <p:cNvPr id="5" name="Slide Number Placeholder 4"/>
          <p:cNvSpPr>
            <a:spLocks noGrp="1"/>
          </p:cNvSpPr>
          <p:nvPr>
            <p:ph type="sldNum" sz="quarter" idx="12"/>
          </p:nvPr>
        </p:nvSpPr>
        <p:spPr/>
        <p:txBody>
          <a:bodyPr/>
          <a:lstStyle/>
          <a:p>
            <a:fld id="{965D6772-41C1-4987-827C-16EA866C2326}" type="slidenum">
              <a:rPr lang="en-US" smtClean="0"/>
              <a:t>27</a:t>
            </a:fld>
            <a:endParaRPr lang="en-US"/>
          </a:p>
        </p:txBody>
      </p:sp>
    </p:spTree>
    <p:extLst>
      <p:ext uri="{BB962C8B-B14F-4D97-AF65-F5344CB8AC3E}">
        <p14:creationId xmlns:p14="http://schemas.microsoft.com/office/powerpoint/2010/main" val="3445222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Methods</a:t>
            </a:r>
            <a:endParaRPr lang="en-US" dirty="0"/>
          </a:p>
        </p:txBody>
      </p:sp>
      <p:sp>
        <p:nvSpPr>
          <p:cNvPr id="3" name="Content Placeholder 2"/>
          <p:cNvSpPr>
            <a:spLocks noGrp="1"/>
          </p:cNvSpPr>
          <p:nvPr>
            <p:ph sz="half" idx="1"/>
          </p:nvPr>
        </p:nvSpPr>
        <p:spPr>
          <a:xfrm>
            <a:off x="609600" y="1690688"/>
            <a:ext cx="5410200" cy="4710111"/>
          </a:xfrm>
        </p:spPr>
        <p:txBody>
          <a:bodyPr>
            <a:normAutofit fontScale="92500" lnSpcReduction="20000"/>
          </a:bodyPr>
          <a:lstStyle/>
          <a:p>
            <a:r>
              <a:rPr lang="en-US" dirty="0" smtClean="0"/>
              <a:t>Usually used to access class variables</a:t>
            </a:r>
          </a:p>
          <a:p>
            <a:r>
              <a:rPr lang="en-US" dirty="0" smtClean="0"/>
              <a:t>Use </a:t>
            </a:r>
            <a:r>
              <a:rPr lang="en-US" dirty="0" err="1" smtClean="0">
                <a:solidFill>
                  <a:schemeClr val="accent5"/>
                </a:solidFill>
              </a:rPr>
              <a:t>ClassName.classMethod</a:t>
            </a:r>
            <a:r>
              <a:rPr lang="en-US" dirty="0" smtClean="0">
                <a:solidFill>
                  <a:schemeClr val="accent5"/>
                </a:solidFill>
              </a:rPr>
              <a:t>() </a:t>
            </a:r>
            <a:r>
              <a:rPr lang="en-US" dirty="0" smtClean="0"/>
              <a:t>to call a class method</a:t>
            </a:r>
          </a:p>
          <a:p>
            <a:pPr lvl="1"/>
            <a:r>
              <a:rPr lang="en-US" dirty="0" err="1" smtClean="0">
                <a:solidFill>
                  <a:schemeClr val="accent5"/>
                </a:solidFill>
              </a:rPr>
              <a:t>ObjectName.classMethod</a:t>
            </a:r>
            <a:r>
              <a:rPr lang="en-US" dirty="0" smtClean="0">
                <a:solidFill>
                  <a:schemeClr val="accent5"/>
                </a:solidFill>
              </a:rPr>
              <a:t>() </a:t>
            </a:r>
            <a:r>
              <a:rPr lang="en-US" dirty="0" smtClean="0"/>
              <a:t>is allowed, but not recommended.</a:t>
            </a:r>
          </a:p>
          <a:p>
            <a:r>
              <a:rPr lang="en-US" dirty="0" smtClean="0"/>
              <a:t>Instance methods: can directly access both instance and class members</a:t>
            </a:r>
          </a:p>
          <a:p>
            <a:r>
              <a:rPr lang="en-US" dirty="0" smtClean="0"/>
              <a:t>Class methods: can directly access class members, but not instance members!</a:t>
            </a:r>
          </a:p>
          <a:p>
            <a:pPr lvl="1"/>
            <a:r>
              <a:rPr lang="en-US" dirty="0" smtClean="0"/>
              <a:t>Can </a:t>
            </a:r>
            <a:r>
              <a:rPr lang="en-US" dirty="0" smtClean="0">
                <a:solidFill>
                  <a:srgbClr val="FF0000"/>
                </a:solidFill>
              </a:rPr>
              <a:t>indirectly</a:t>
            </a:r>
            <a:r>
              <a:rPr lang="en-US" dirty="0" smtClean="0"/>
              <a:t> access instance members by creating an object</a:t>
            </a:r>
          </a:p>
          <a:p>
            <a:pPr lvl="1"/>
            <a:r>
              <a:rPr lang="en-US" dirty="0" smtClean="0"/>
              <a:t>No </a:t>
            </a:r>
            <a:r>
              <a:rPr lang="en-US" dirty="0" smtClean="0">
                <a:solidFill>
                  <a:schemeClr val="accent5"/>
                </a:solidFill>
              </a:rPr>
              <a:t>this</a:t>
            </a:r>
            <a:r>
              <a:rPr lang="en-US" dirty="0" smtClean="0"/>
              <a:t> keyword in class methods</a:t>
            </a:r>
            <a:endParaRPr lang="en-US" dirty="0"/>
          </a:p>
        </p:txBody>
      </p:sp>
      <p:sp>
        <p:nvSpPr>
          <p:cNvPr id="4" name="Content Placeholder 3"/>
          <p:cNvSpPr>
            <a:spLocks noGrp="1"/>
          </p:cNvSpPr>
          <p:nvPr>
            <p:ph sz="half" idx="2"/>
          </p:nvPr>
        </p:nvSpPr>
        <p:spPr/>
        <p:txBody>
          <a:bodyPr>
            <a:normAutofit fontScale="92500" lnSpcReduction="20000"/>
          </a:bodyPr>
          <a:lstStyle/>
          <a:p>
            <a:pPr marL="0" indent="0">
              <a:buNone/>
            </a:pPr>
            <a:r>
              <a:rPr lang="en-US" sz="2000" dirty="0">
                <a:solidFill>
                  <a:schemeClr val="accent5"/>
                </a:solidFill>
              </a:rPr>
              <a:t>p</a:t>
            </a:r>
            <a:r>
              <a:rPr lang="en-US" sz="2000" dirty="0" smtClean="0">
                <a:solidFill>
                  <a:schemeClr val="accent5"/>
                </a:solidFill>
              </a:rPr>
              <a:t>ublic void </a:t>
            </a:r>
            <a:r>
              <a:rPr lang="en-US" sz="2000" dirty="0" err="1" smtClean="0">
                <a:solidFill>
                  <a:schemeClr val="accent5"/>
                </a:solidFill>
              </a:rPr>
              <a:t>printNumberOfBicycles</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System.out.println</a:t>
            </a:r>
            <a:r>
              <a:rPr lang="en-US" sz="2000" dirty="0" smtClean="0">
                <a:solidFill>
                  <a:schemeClr val="accent5"/>
                </a:solidFill>
              </a:rPr>
              <a:t>(</a:t>
            </a:r>
            <a:r>
              <a:rPr lang="en-US" sz="2000" dirty="0" err="1" smtClean="0">
                <a:solidFill>
                  <a:schemeClr val="accent5"/>
                </a:solidFill>
              </a:rPr>
              <a:t>numberOfBicycles</a:t>
            </a:r>
            <a:r>
              <a:rPr lang="en-US" sz="2000" dirty="0" smtClean="0">
                <a:solidFill>
                  <a:schemeClr val="accent5"/>
                </a:solidFill>
              </a:rPr>
              <a:t>);</a:t>
            </a:r>
          </a:p>
          <a:p>
            <a:pPr marL="0" indent="0">
              <a:buNone/>
            </a:pPr>
            <a:r>
              <a:rPr lang="en-US" sz="2000" dirty="0" smtClean="0">
                <a:solidFill>
                  <a:schemeClr val="accent5"/>
                </a:solidFill>
              </a:rPr>
              <a:t>}</a:t>
            </a:r>
          </a:p>
          <a:p>
            <a:pPr marL="0" indent="0">
              <a:buNone/>
            </a:pPr>
            <a:endParaRPr lang="en-US" sz="2000" dirty="0">
              <a:solidFill>
                <a:schemeClr val="accent5"/>
              </a:solidFill>
            </a:endParaRPr>
          </a:p>
          <a:p>
            <a:pPr marL="0" indent="0">
              <a:buNone/>
            </a:pPr>
            <a:r>
              <a:rPr lang="en-US" sz="2000" dirty="0">
                <a:solidFill>
                  <a:schemeClr val="accent5"/>
                </a:solidFill>
              </a:rPr>
              <a:t>p</a:t>
            </a:r>
            <a:r>
              <a:rPr lang="en-US" sz="2000" dirty="0" smtClean="0">
                <a:solidFill>
                  <a:schemeClr val="accent5"/>
                </a:solidFill>
              </a:rPr>
              <a:t>ublic static </a:t>
            </a:r>
            <a:r>
              <a:rPr lang="en-US" sz="2000" dirty="0" err="1" smtClean="0">
                <a:solidFill>
                  <a:schemeClr val="accent5"/>
                </a:solidFill>
              </a:rPr>
              <a:t>int</a:t>
            </a:r>
            <a:r>
              <a:rPr lang="en-US" sz="2000" dirty="0" smtClean="0">
                <a:solidFill>
                  <a:schemeClr val="accent5"/>
                </a:solidFill>
              </a:rPr>
              <a:t> </a:t>
            </a:r>
            <a:r>
              <a:rPr lang="en-US" sz="2000" dirty="0" err="1" smtClean="0">
                <a:solidFill>
                  <a:schemeClr val="accent5"/>
                </a:solidFill>
              </a:rPr>
              <a:t>getNumberOfBicycles</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 cannot access cadence, etc. instance members!</a:t>
            </a:r>
          </a:p>
          <a:p>
            <a:pPr marL="0" indent="0">
              <a:buNone/>
            </a:pPr>
            <a:r>
              <a:rPr lang="en-US" sz="2000" dirty="0">
                <a:solidFill>
                  <a:schemeClr val="accent5"/>
                </a:solidFill>
              </a:rPr>
              <a:t> </a:t>
            </a:r>
            <a:r>
              <a:rPr lang="en-US" sz="2000" dirty="0" smtClean="0">
                <a:solidFill>
                  <a:schemeClr val="accent5"/>
                </a:solidFill>
              </a:rPr>
              <a:t> return </a:t>
            </a:r>
            <a:r>
              <a:rPr lang="en-US" sz="2000" dirty="0" err="1" smtClean="0">
                <a:solidFill>
                  <a:schemeClr val="accent5"/>
                </a:solidFill>
              </a:rPr>
              <a:t>numberOfBicycles</a:t>
            </a:r>
            <a:r>
              <a:rPr lang="en-US" sz="2000" dirty="0" smtClean="0">
                <a:solidFill>
                  <a:schemeClr val="accent5"/>
                </a:solidFill>
              </a:rPr>
              <a:t>;</a:t>
            </a:r>
          </a:p>
          <a:p>
            <a:pPr marL="0" indent="0">
              <a:buNone/>
            </a:pPr>
            <a:r>
              <a:rPr lang="en-US" sz="2000" dirty="0" smtClean="0">
                <a:solidFill>
                  <a:schemeClr val="accent5"/>
                </a:solidFill>
              </a:rPr>
              <a:t>}</a:t>
            </a:r>
          </a:p>
          <a:p>
            <a:pPr marL="0" indent="0">
              <a:buNone/>
            </a:pPr>
            <a:endParaRPr lang="en-US" sz="2000" dirty="0">
              <a:solidFill>
                <a:schemeClr val="accent5"/>
              </a:solidFill>
            </a:endParaRPr>
          </a:p>
          <a:p>
            <a:pPr marL="0" indent="0">
              <a:buNone/>
            </a:pPr>
            <a:r>
              <a:rPr lang="en-US" sz="2000" dirty="0" smtClean="0">
                <a:solidFill>
                  <a:schemeClr val="accent5"/>
                </a:solidFill>
              </a:rPr>
              <a:t>//in main method:</a:t>
            </a:r>
          </a:p>
          <a:p>
            <a:pPr marL="0" indent="0">
              <a:buNone/>
            </a:pPr>
            <a:r>
              <a:rPr lang="en-US" sz="2000" dirty="0" err="1" smtClean="0">
                <a:solidFill>
                  <a:schemeClr val="accent5"/>
                </a:solidFill>
              </a:rPr>
              <a:t>Bicycle.getNumberOfBicycles</a:t>
            </a:r>
            <a:r>
              <a:rPr lang="en-US" sz="2000" dirty="0" smtClean="0">
                <a:solidFill>
                  <a:schemeClr val="accent5"/>
                </a:solidFill>
              </a:rPr>
              <a:t>();</a:t>
            </a:r>
            <a:endParaRPr lang="en-US" sz="2000"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28</a:t>
            </a:fld>
            <a:endParaRPr lang="en-US"/>
          </a:p>
        </p:txBody>
      </p:sp>
    </p:spTree>
    <p:extLst>
      <p:ext uri="{BB962C8B-B14F-4D97-AF65-F5344CB8AC3E}">
        <p14:creationId xmlns:p14="http://schemas.microsoft.com/office/powerpoint/2010/main" val="3066390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solidFill>
                  <a:schemeClr val="accent5"/>
                </a:solidFill>
              </a:rPr>
              <a:t>final</a:t>
            </a:r>
            <a:r>
              <a:rPr lang="en-US" dirty="0" smtClean="0"/>
              <a:t> Keyword</a:t>
            </a:r>
            <a:endParaRPr lang="en-US" dirty="0"/>
          </a:p>
        </p:txBody>
      </p:sp>
      <p:sp>
        <p:nvSpPr>
          <p:cNvPr id="5" name="Content Placeholder 4"/>
          <p:cNvSpPr>
            <a:spLocks noGrp="1"/>
          </p:cNvSpPr>
          <p:nvPr>
            <p:ph idx="1"/>
          </p:nvPr>
        </p:nvSpPr>
        <p:spPr/>
        <p:txBody>
          <a:bodyPr/>
          <a:lstStyle/>
          <a:p>
            <a:r>
              <a:rPr lang="en-US" dirty="0" smtClean="0"/>
              <a:t>A variable with </a:t>
            </a:r>
            <a:r>
              <a:rPr lang="en-US" dirty="0" smtClean="0">
                <a:solidFill>
                  <a:schemeClr val="accent5"/>
                </a:solidFill>
              </a:rPr>
              <a:t>final</a:t>
            </a:r>
            <a:r>
              <a:rPr lang="en-US" dirty="0" smtClean="0"/>
              <a:t> (and </a:t>
            </a:r>
            <a:r>
              <a:rPr lang="en-US" dirty="0" smtClean="0">
                <a:solidFill>
                  <a:schemeClr val="accent5"/>
                </a:solidFill>
              </a:rPr>
              <a:t>static</a:t>
            </a:r>
            <a:r>
              <a:rPr lang="en-US" dirty="0" smtClean="0"/>
              <a:t>):</a:t>
            </a:r>
          </a:p>
          <a:p>
            <a:pPr lvl="1"/>
            <a:r>
              <a:rPr lang="en-US" dirty="0" smtClean="0"/>
              <a:t>It’s a constant!</a:t>
            </a:r>
          </a:p>
          <a:p>
            <a:pPr marL="457200" lvl="1" indent="0">
              <a:buNone/>
            </a:pPr>
            <a:r>
              <a:rPr lang="en-US" dirty="0">
                <a:solidFill>
                  <a:schemeClr val="accent5"/>
                </a:solidFill>
              </a:rPr>
              <a:t>p</a:t>
            </a:r>
            <a:r>
              <a:rPr lang="en-US" dirty="0" smtClean="0">
                <a:solidFill>
                  <a:schemeClr val="accent5"/>
                </a:solidFill>
              </a:rPr>
              <a:t>ublic static final PI = 3.14;</a:t>
            </a:r>
          </a:p>
          <a:p>
            <a:r>
              <a:rPr lang="en-US" dirty="0" smtClean="0"/>
              <a:t>A method with </a:t>
            </a:r>
            <a:r>
              <a:rPr lang="en-US" dirty="0" smtClean="0">
                <a:solidFill>
                  <a:schemeClr val="accent5"/>
                </a:solidFill>
              </a:rPr>
              <a:t>final</a:t>
            </a:r>
            <a:r>
              <a:rPr lang="en-US" dirty="0" smtClean="0"/>
              <a:t>:</a:t>
            </a:r>
          </a:p>
          <a:p>
            <a:pPr lvl="1"/>
            <a:r>
              <a:rPr lang="en-US" dirty="0" smtClean="0"/>
              <a:t>This method cannot be overridden</a:t>
            </a:r>
          </a:p>
          <a:p>
            <a:r>
              <a:rPr lang="en-US" dirty="0" smtClean="0"/>
              <a:t>A class with </a:t>
            </a:r>
            <a:r>
              <a:rPr lang="en-US" dirty="0" smtClean="0">
                <a:solidFill>
                  <a:schemeClr val="accent5"/>
                </a:solidFill>
              </a:rPr>
              <a:t>final</a:t>
            </a:r>
            <a:r>
              <a:rPr lang="en-US" dirty="0" smtClean="0"/>
              <a:t>:</a:t>
            </a:r>
          </a:p>
          <a:p>
            <a:pPr lvl="1"/>
            <a:r>
              <a:rPr lang="en-US" dirty="0" smtClean="0"/>
              <a:t>This class cannot be inherited</a:t>
            </a:r>
            <a:endParaRPr lang="en-US" dirty="0"/>
          </a:p>
        </p:txBody>
      </p:sp>
      <p:sp>
        <p:nvSpPr>
          <p:cNvPr id="3" name="Slide Number Placeholder 2"/>
          <p:cNvSpPr>
            <a:spLocks noGrp="1"/>
          </p:cNvSpPr>
          <p:nvPr>
            <p:ph type="sldNum" sz="quarter" idx="12"/>
          </p:nvPr>
        </p:nvSpPr>
        <p:spPr/>
        <p:txBody>
          <a:bodyPr/>
          <a:lstStyle/>
          <a:p>
            <a:fld id="{965D6772-41C1-4987-827C-16EA866C2326}" type="slidenum">
              <a:rPr lang="en-US" smtClean="0"/>
              <a:t>29</a:t>
            </a:fld>
            <a:endParaRPr lang="en-US"/>
          </a:p>
        </p:txBody>
      </p:sp>
    </p:spTree>
    <p:extLst>
      <p:ext uri="{BB962C8B-B14F-4D97-AF65-F5344CB8AC3E}">
        <p14:creationId xmlns:p14="http://schemas.microsoft.com/office/powerpoint/2010/main" val="1430290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Returning From A Method</a:t>
            </a:r>
            <a:endParaRPr lang="en-US" dirty="0"/>
          </a:p>
        </p:txBody>
      </p:sp>
      <p:sp>
        <p:nvSpPr>
          <p:cNvPr id="3" name="Content Placeholder 2"/>
          <p:cNvSpPr>
            <a:spLocks noGrp="1"/>
          </p:cNvSpPr>
          <p:nvPr>
            <p:ph sz="half" idx="1"/>
          </p:nvPr>
        </p:nvSpPr>
        <p:spPr/>
        <p:txBody>
          <a:bodyPr/>
          <a:lstStyle/>
          <a:p>
            <a:r>
              <a:rPr lang="en-US" dirty="0" smtClean="0"/>
              <a:t>A method returns when (whichever occurs first):</a:t>
            </a:r>
          </a:p>
          <a:p>
            <a:pPr lvl="1"/>
            <a:r>
              <a:rPr lang="en-US" dirty="0" smtClean="0"/>
              <a:t>Completes all the statements in the method</a:t>
            </a:r>
          </a:p>
          <a:p>
            <a:pPr lvl="1"/>
            <a:r>
              <a:rPr lang="en-US" dirty="0" smtClean="0"/>
              <a:t>Reaches a return statement</a:t>
            </a:r>
          </a:p>
          <a:p>
            <a:pPr lvl="1"/>
            <a:r>
              <a:rPr lang="en-US" dirty="0" smtClean="0"/>
              <a:t>Throws an exception</a:t>
            </a:r>
          </a:p>
          <a:p>
            <a:r>
              <a:rPr lang="en-US" dirty="0" smtClean="0"/>
              <a:t>Can also return a reference</a:t>
            </a:r>
          </a:p>
          <a:p>
            <a:pPr lvl="1"/>
            <a:r>
              <a:rPr lang="en-US" dirty="0" err="1" smtClean="0"/>
              <a:t>Upcasting</a:t>
            </a:r>
            <a:r>
              <a:rPr lang="en-US" dirty="0" smtClean="0"/>
              <a:t> is allowed</a:t>
            </a:r>
            <a:endParaRPr lang="en-US" dirty="0"/>
          </a:p>
        </p:txBody>
      </p:sp>
      <p:sp>
        <p:nvSpPr>
          <p:cNvPr id="4" name="Content Placeholder 3"/>
          <p:cNvSpPr>
            <a:spLocks noGrp="1"/>
          </p:cNvSpPr>
          <p:nvPr>
            <p:ph sz="half" idx="2"/>
          </p:nvPr>
        </p:nvSpPr>
        <p:spPr/>
        <p:txBody>
          <a:bodyPr>
            <a:normAutofit/>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smtClean="0"/>
          </a:p>
          <a:p>
            <a:pPr marL="0" indent="0">
              <a:buNone/>
            </a:pPr>
            <a:r>
              <a:rPr lang="en-US" sz="2000" dirty="0" smtClean="0"/>
              <a:t>public Number </a:t>
            </a:r>
            <a:r>
              <a:rPr lang="en-US" sz="2000" dirty="0" err="1" smtClean="0"/>
              <a:t>returnANumber</a:t>
            </a:r>
            <a:r>
              <a:rPr lang="en-US" sz="2000" dirty="0" smtClean="0"/>
              <a:t>() {</a:t>
            </a:r>
          </a:p>
          <a:p>
            <a:pPr marL="0" indent="0">
              <a:buNone/>
            </a:pPr>
            <a:r>
              <a:rPr lang="en-US" sz="2000" dirty="0"/>
              <a:t> </a:t>
            </a:r>
            <a:r>
              <a:rPr lang="en-US" sz="2000" dirty="0" smtClean="0"/>
              <a:t> // can return an </a:t>
            </a:r>
            <a:r>
              <a:rPr lang="en-US" sz="2000" dirty="0" err="1" smtClean="0"/>
              <a:t>ImaginaryNumber</a:t>
            </a:r>
            <a:r>
              <a:rPr lang="en-US" sz="2000" dirty="0" smtClean="0"/>
              <a:t> </a:t>
            </a:r>
          </a:p>
          <a:p>
            <a:pPr marL="0" indent="0">
              <a:buNone/>
            </a:pPr>
            <a:r>
              <a:rPr lang="en-US" sz="2000" dirty="0"/>
              <a:t> </a:t>
            </a:r>
            <a:r>
              <a:rPr lang="en-US" sz="2000" dirty="0" smtClean="0"/>
              <a:t> // but not an Object</a:t>
            </a:r>
          </a:p>
          <a:p>
            <a:pPr marL="0" indent="0">
              <a:buNone/>
            </a:pPr>
            <a:r>
              <a:rPr lang="en-US" sz="2000" dirty="0" smtClean="0"/>
              <a: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497" y="1983146"/>
            <a:ext cx="1925814" cy="2018148"/>
          </a:xfrm>
          <a:prstGeom prst="rect">
            <a:avLst/>
          </a:prstGeom>
        </p:spPr>
      </p:pic>
      <p:sp>
        <p:nvSpPr>
          <p:cNvPr id="6" name="Slide Number Placeholder 5"/>
          <p:cNvSpPr>
            <a:spLocks noGrp="1"/>
          </p:cNvSpPr>
          <p:nvPr>
            <p:ph type="sldNum" sz="quarter" idx="12"/>
          </p:nvPr>
        </p:nvSpPr>
        <p:spPr/>
        <p:txBody>
          <a:bodyPr/>
          <a:lstStyle/>
          <a:p>
            <a:fld id="{965D6772-41C1-4987-827C-16EA866C2326}" type="slidenum">
              <a:rPr lang="en-US" smtClean="0"/>
              <a:t>30</a:t>
            </a:fld>
            <a:endParaRPr lang="en-US"/>
          </a:p>
        </p:txBody>
      </p:sp>
    </p:spTree>
    <p:extLst>
      <p:ext uri="{BB962C8B-B14F-4D97-AF65-F5344CB8AC3E}">
        <p14:creationId xmlns:p14="http://schemas.microsoft.com/office/powerpoint/2010/main" val="3563634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Member Initialization</a:t>
            </a:r>
            <a:endParaRPr lang="en-US" dirty="0"/>
          </a:p>
        </p:txBody>
      </p:sp>
      <p:sp>
        <p:nvSpPr>
          <p:cNvPr id="3" name="Content Placeholder 2"/>
          <p:cNvSpPr>
            <a:spLocks noGrp="1"/>
          </p:cNvSpPr>
          <p:nvPr>
            <p:ph sz="half" idx="1"/>
          </p:nvPr>
        </p:nvSpPr>
        <p:spPr/>
        <p:txBody>
          <a:bodyPr>
            <a:normAutofit/>
          </a:bodyPr>
          <a:lstStyle/>
          <a:p>
            <a:r>
              <a:rPr lang="en-US" dirty="0" smtClean="0"/>
              <a:t>Local variables must be initialized!</a:t>
            </a:r>
          </a:p>
          <a:p>
            <a:pPr marL="0" indent="0">
              <a:buNone/>
            </a:pPr>
            <a:r>
              <a:rPr lang="en-US" sz="2000" dirty="0"/>
              <a:t>	</a:t>
            </a:r>
            <a:r>
              <a:rPr lang="en-US" sz="2000" dirty="0" smtClean="0">
                <a:solidFill>
                  <a:schemeClr val="accent5"/>
                </a:solidFill>
              </a:rPr>
              <a:t>void f() {</a:t>
            </a:r>
            <a:r>
              <a:rPr lang="en-US" sz="2000" dirty="0" err="1" smtClean="0">
                <a:solidFill>
                  <a:schemeClr val="accent5"/>
                </a:solidFill>
              </a:rPr>
              <a:t>int</a:t>
            </a:r>
            <a:r>
              <a:rPr lang="en-US" sz="2000" dirty="0" smtClean="0">
                <a:solidFill>
                  <a:schemeClr val="accent5"/>
                </a:solidFill>
              </a:rPr>
              <a:t> </a:t>
            </a:r>
            <a:r>
              <a:rPr lang="en-US" sz="2000" dirty="0" err="1" smtClean="0">
                <a:solidFill>
                  <a:schemeClr val="accent5"/>
                </a:solidFill>
              </a:rPr>
              <a:t>i</a:t>
            </a:r>
            <a:r>
              <a:rPr lang="en-US" sz="2000" dirty="0" smtClean="0">
                <a:solidFill>
                  <a:schemeClr val="accent5"/>
                </a:solidFill>
              </a:rPr>
              <a:t>; </a:t>
            </a:r>
            <a:r>
              <a:rPr lang="en-US" sz="2000" dirty="0" err="1" smtClean="0">
                <a:solidFill>
                  <a:schemeClr val="accent5"/>
                </a:solidFill>
              </a:rPr>
              <a:t>i</a:t>
            </a:r>
            <a:r>
              <a:rPr lang="en-US" sz="2000" dirty="0" smtClean="0">
                <a:solidFill>
                  <a:schemeClr val="accent5"/>
                </a:solidFill>
              </a:rPr>
              <a:t>++;}</a:t>
            </a:r>
          </a:p>
          <a:p>
            <a:pPr marL="0" indent="0">
              <a:buNone/>
            </a:pPr>
            <a:r>
              <a:rPr lang="en-US" sz="2000" dirty="0">
                <a:solidFill>
                  <a:schemeClr val="accent5"/>
                </a:solidFill>
              </a:rPr>
              <a:t>	</a:t>
            </a:r>
            <a:r>
              <a:rPr lang="en-US" sz="2000" dirty="0" smtClean="0">
                <a:solidFill>
                  <a:schemeClr val="accent5"/>
                </a:solidFill>
              </a:rPr>
              <a:t>//</a:t>
            </a:r>
            <a:r>
              <a:rPr lang="en-US" sz="2000" dirty="0" smtClean="0">
                <a:solidFill>
                  <a:schemeClr val="accent1"/>
                </a:solidFill>
              </a:rPr>
              <a:t> </a:t>
            </a:r>
            <a:r>
              <a:rPr lang="en-US" sz="2000" dirty="0" smtClean="0">
                <a:solidFill>
                  <a:srgbClr val="FF0000"/>
                </a:solidFill>
              </a:rPr>
              <a:t>Error! </a:t>
            </a:r>
            <a:r>
              <a:rPr lang="en-US" sz="2000" dirty="0" err="1" smtClean="0">
                <a:solidFill>
                  <a:srgbClr val="FF0000"/>
                </a:solidFill>
              </a:rPr>
              <a:t>i</a:t>
            </a:r>
            <a:r>
              <a:rPr lang="en-US" sz="2000" dirty="0" smtClean="0">
                <a:solidFill>
                  <a:srgbClr val="FF0000"/>
                </a:solidFill>
              </a:rPr>
              <a:t> not initialized</a:t>
            </a:r>
          </a:p>
          <a:p>
            <a:r>
              <a:rPr lang="en-US" dirty="0" smtClean="0"/>
              <a:t>Class fields have default values:</a:t>
            </a:r>
          </a:p>
          <a:p>
            <a:pPr marL="0" indent="0">
              <a:buNone/>
            </a:pPr>
            <a:r>
              <a:rPr lang="en-US" sz="2000" dirty="0">
                <a:solidFill>
                  <a:schemeClr val="accent5"/>
                </a:solidFill>
              </a:rPr>
              <a:t>p</a:t>
            </a:r>
            <a:r>
              <a:rPr lang="en-US" sz="2000" dirty="0" smtClean="0">
                <a:solidFill>
                  <a:schemeClr val="accent5"/>
                </a:solidFill>
              </a:rPr>
              <a:t>ublic class </a:t>
            </a:r>
            <a:r>
              <a:rPr lang="en-US" sz="2000" dirty="0" err="1" smtClean="0">
                <a:solidFill>
                  <a:schemeClr val="accent5"/>
                </a:solidFill>
              </a:rPr>
              <a:t>InitialValue</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boolean</a:t>
            </a:r>
            <a:r>
              <a:rPr lang="en-US" sz="2000" dirty="0" smtClean="0">
                <a:solidFill>
                  <a:schemeClr val="accent5"/>
                </a:solidFill>
              </a:rPr>
              <a:t> t; char c; </a:t>
            </a:r>
            <a:r>
              <a:rPr lang="en-US" sz="2000" dirty="0" err="1" smtClean="0">
                <a:solidFill>
                  <a:schemeClr val="accent5"/>
                </a:solidFill>
              </a:rPr>
              <a:t>int</a:t>
            </a:r>
            <a:r>
              <a:rPr lang="en-US" sz="2000" dirty="0" smtClean="0">
                <a:solidFill>
                  <a:schemeClr val="accent5"/>
                </a:solidFill>
              </a:rPr>
              <a:t> </a:t>
            </a:r>
            <a:r>
              <a:rPr lang="en-US" sz="2000" dirty="0" err="1" smtClean="0">
                <a:solidFill>
                  <a:schemeClr val="accent5"/>
                </a:solidFill>
              </a:rPr>
              <a:t>i</a:t>
            </a:r>
            <a:r>
              <a:rPr lang="en-US" sz="2000" dirty="0" smtClean="0">
                <a:solidFill>
                  <a:schemeClr val="accent5"/>
                </a:solidFill>
              </a:rPr>
              <a:t>; double d;</a:t>
            </a:r>
          </a:p>
          <a:p>
            <a:pPr marL="0" indent="0">
              <a:buNone/>
            </a:pPr>
            <a:r>
              <a:rPr lang="en-US" sz="2000" dirty="0">
                <a:solidFill>
                  <a:schemeClr val="accent5"/>
                </a:solidFill>
              </a:rPr>
              <a:t> </a:t>
            </a:r>
            <a:r>
              <a:rPr lang="en-US" sz="2000" dirty="0" smtClean="0">
                <a:solidFill>
                  <a:schemeClr val="accent5"/>
                </a:solidFill>
              </a:rPr>
              <a:t> void </a:t>
            </a:r>
            <a:r>
              <a:rPr lang="en-US" sz="2000" dirty="0" err="1" smtClean="0">
                <a:solidFill>
                  <a:schemeClr val="accent5"/>
                </a:solidFill>
              </a:rPr>
              <a:t>printInitialValues</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System.out.println</a:t>
            </a:r>
            <a:r>
              <a:rPr lang="en-US" sz="2000" dirty="0" smtClean="0">
                <a:solidFill>
                  <a:schemeClr val="accent5"/>
                </a:solidFill>
              </a:rPr>
              <a:t>(t);</a:t>
            </a:r>
          </a:p>
          <a:p>
            <a:pPr marL="0" indent="0">
              <a:buNone/>
            </a:pPr>
            <a:r>
              <a:rPr lang="en-US" sz="2000" dirty="0" smtClean="0">
                <a:solidFill>
                  <a:schemeClr val="accent5"/>
                </a:solidFill>
              </a:rPr>
              <a:t>    </a:t>
            </a:r>
            <a:r>
              <a:rPr lang="en-US" sz="2000" dirty="0" err="1" smtClean="0">
                <a:solidFill>
                  <a:schemeClr val="accent5"/>
                </a:solidFill>
              </a:rPr>
              <a:t>System.out.println</a:t>
            </a:r>
            <a:r>
              <a:rPr lang="en-US" sz="2000" dirty="0" smtClean="0">
                <a:solidFill>
                  <a:schemeClr val="accent5"/>
                </a:solidFill>
              </a:rPr>
              <a:t>(c);</a:t>
            </a:r>
            <a:endParaRPr lang="en-US" sz="2000" dirty="0">
              <a:solidFill>
                <a:schemeClr val="accent5"/>
              </a:solidFill>
            </a:endParaRPr>
          </a:p>
        </p:txBody>
      </p:sp>
      <p:sp>
        <p:nvSpPr>
          <p:cNvPr id="4" name="Content Placeholder 3"/>
          <p:cNvSpPr>
            <a:spLocks noGrp="1"/>
          </p:cNvSpPr>
          <p:nvPr>
            <p:ph sz="half" idx="2"/>
          </p:nvPr>
        </p:nvSpPr>
        <p:spPr>
          <a:xfrm>
            <a:off x="6172200" y="1286933"/>
            <a:ext cx="5181600" cy="4890030"/>
          </a:xfrm>
        </p:spPr>
        <p:txBody>
          <a:bodyPr>
            <a:normAutofit/>
          </a:bodyPr>
          <a:lstStyle/>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System.out.println</a:t>
            </a:r>
            <a:r>
              <a:rPr lang="en-US" sz="2000" dirty="0" smtClean="0">
                <a:solidFill>
                  <a:schemeClr val="accent5"/>
                </a:solidFill>
              </a:rPr>
              <a:t>(</a:t>
            </a:r>
            <a:r>
              <a:rPr lang="en-US" sz="2000" dirty="0" err="1" smtClean="0">
                <a:solidFill>
                  <a:schemeClr val="accent5"/>
                </a:solidFill>
              </a:rPr>
              <a:t>i</a:t>
            </a:r>
            <a:r>
              <a:rPr lang="en-US" sz="2000" dirty="0" smtClean="0">
                <a:solidFill>
                  <a:schemeClr val="accent5"/>
                </a:solidFill>
              </a:rPr>
              <a:t>);</a:t>
            </a:r>
          </a:p>
          <a:p>
            <a:pPr marL="0" indent="0">
              <a:buNone/>
            </a:pPr>
            <a:r>
              <a:rPr lang="en-US" sz="2000" dirty="0" smtClean="0">
                <a:solidFill>
                  <a:schemeClr val="accent5"/>
                </a:solidFill>
              </a:rPr>
              <a:t>    </a:t>
            </a:r>
            <a:r>
              <a:rPr lang="en-US" sz="2000" dirty="0" err="1" smtClean="0">
                <a:solidFill>
                  <a:schemeClr val="accent5"/>
                </a:solidFill>
              </a:rPr>
              <a:t>System.out.println</a:t>
            </a:r>
            <a:r>
              <a:rPr lang="en-US" sz="2000" dirty="0" smtClean="0">
                <a:solidFill>
                  <a:schemeClr val="accent5"/>
                </a:solidFill>
              </a:rPr>
              <a:t>(d);</a:t>
            </a:r>
          </a:p>
          <a:p>
            <a:pPr marL="0" indent="0">
              <a:buNone/>
            </a:pPr>
            <a:r>
              <a:rPr lang="en-US" sz="2000" dirty="0">
                <a:solidFill>
                  <a:schemeClr val="accent5"/>
                </a:solidFill>
              </a:rPr>
              <a:t> </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public static void main(String[] </a:t>
            </a:r>
            <a:r>
              <a:rPr lang="en-US" sz="2000" dirty="0" err="1" smtClean="0">
                <a:solidFill>
                  <a:schemeClr val="accent5"/>
                </a:solidFill>
              </a:rPr>
              <a:t>args</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InitialValue</a:t>
            </a:r>
            <a:r>
              <a:rPr lang="en-US" sz="2000" dirty="0" smtClean="0">
                <a:solidFill>
                  <a:schemeClr val="accent5"/>
                </a:solidFill>
              </a:rPr>
              <a:t> iv = new </a:t>
            </a:r>
            <a:r>
              <a:rPr lang="en-US" sz="2000" dirty="0" err="1" smtClean="0">
                <a:solidFill>
                  <a:schemeClr val="accent5"/>
                </a:solidFill>
              </a:rPr>
              <a:t>InitialValue</a:t>
            </a:r>
            <a:r>
              <a:rPr lang="en-US" sz="2000" dirty="0" smtClean="0">
                <a:solidFill>
                  <a:schemeClr val="accent5"/>
                </a:solidFill>
              </a:rPr>
              <a:t>();</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iv.printInitialValues</a:t>
            </a:r>
            <a:r>
              <a:rPr lang="en-US" sz="2000" dirty="0" smtClean="0">
                <a:solidFill>
                  <a:schemeClr val="accent5"/>
                </a:solidFill>
              </a:rPr>
              <a:t>();</a:t>
            </a:r>
          </a:p>
          <a:p>
            <a:pPr marL="0" indent="0">
              <a:buNone/>
            </a:pPr>
            <a:r>
              <a:rPr lang="en-US" sz="2000" dirty="0">
                <a:solidFill>
                  <a:schemeClr val="accent5"/>
                </a:solidFill>
              </a:rPr>
              <a:t> </a:t>
            </a:r>
            <a:r>
              <a:rPr lang="en-US" sz="2000" dirty="0" smtClean="0">
                <a:solidFill>
                  <a:schemeClr val="accent5"/>
                </a:solidFill>
              </a:rPr>
              <a:t> }</a:t>
            </a:r>
          </a:p>
          <a:p>
            <a:pPr marL="0" indent="0">
              <a:buNone/>
            </a:pPr>
            <a:r>
              <a:rPr lang="en-US" sz="2000" dirty="0" smtClean="0">
                <a:solidFill>
                  <a:schemeClr val="accent5"/>
                </a:solidFill>
              </a:rPr>
              <a:t>} //this program prints out:</a:t>
            </a:r>
          </a:p>
          <a:p>
            <a:pPr marL="0" indent="0">
              <a:buNone/>
            </a:pPr>
            <a:r>
              <a:rPr lang="en-US" sz="2000" dirty="0">
                <a:solidFill>
                  <a:schemeClr val="accent5"/>
                </a:solidFill>
              </a:rPr>
              <a:t> </a:t>
            </a:r>
            <a:r>
              <a:rPr lang="en-US" sz="2000" dirty="0" smtClean="0">
                <a:solidFill>
                  <a:schemeClr val="accent5"/>
                </a:solidFill>
              </a:rPr>
              <a:t> //false</a:t>
            </a:r>
          </a:p>
          <a:p>
            <a:pPr marL="0" indent="0">
              <a:buNone/>
            </a:pPr>
            <a:r>
              <a:rPr lang="en-US" sz="2000" dirty="0">
                <a:solidFill>
                  <a:schemeClr val="accent5"/>
                </a:solidFill>
              </a:rPr>
              <a:t> </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//0</a:t>
            </a:r>
          </a:p>
          <a:p>
            <a:pPr marL="0" indent="0">
              <a:buNone/>
            </a:pPr>
            <a:r>
              <a:rPr lang="en-US" sz="2000" dirty="0">
                <a:solidFill>
                  <a:schemeClr val="accent5"/>
                </a:solidFill>
              </a:rPr>
              <a:t> </a:t>
            </a:r>
            <a:r>
              <a:rPr lang="en-US" sz="2000" dirty="0" smtClean="0">
                <a:solidFill>
                  <a:schemeClr val="accent5"/>
                </a:solidFill>
              </a:rPr>
              <a:t> //0.0</a:t>
            </a:r>
            <a:endParaRPr lang="en-US" sz="2000"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31</a:t>
            </a:fld>
            <a:endParaRPr lang="en-US"/>
          </a:p>
        </p:txBody>
      </p:sp>
    </p:spTree>
    <p:extLst>
      <p:ext uri="{BB962C8B-B14F-4D97-AF65-F5344CB8AC3E}">
        <p14:creationId xmlns:p14="http://schemas.microsoft.com/office/powerpoint/2010/main" val="394671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Member </a:t>
            </a:r>
            <a:r>
              <a:rPr lang="en-US" dirty="0" smtClean="0"/>
              <a:t>Initialization (Cont.)</a:t>
            </a:r>
            <a:endParaRPr lang="en-US" dirty="0"/>
          </a:p>
        </p:txBody>
      </p:sp>
      <p:sp>
        <p:nvSpPr>
          <p:cNvPr id="3" name="Content Placeholder 2"/>
          <p:cNvSpPr>
            <a:spLocks noGrp="1"/>
          </p:cNvSpPr>
          <p:nvPr>
            <p:ph sz="half" idx="1"/>
          </p:nvPr>
        </p:nvSpPr>
        <p:spPr/>
        <p:txBody>
          <a:bodyPr/>
          <a:lstStyle/>
          <a:p>
            <a:r>
              <a:rPr lang="en-US" dirty="0" smtClean="0"/>
              <a:t>You can assign the value at the point you define the variable in the class, or in a constructor</a:t>
            </a:r>
          </a:p>
          <a:p>
            <a:pPr marL="0" indent="0">
              <a:buNone/>
            </a:pPr>
            <a:r>
              <a:rPr lang="en-US" sz="2000" dirty="0">
                <a:solidFill>
                  <a:schemeClr val="accent5"/>
                </a:solidFill>
              </a:rPr>
              <a:t>public class </a:t>
            </a:r>
            <a:r>
              <a:rPr lang="en-US" sz="2000" dirty="0" err="1">
                <a:solidFill>
                  <a:schemeClr val="accent5"/>
                </a:solidFill>
              </a:rPr>
              <a:t>InitialValue</a:t>
            </a:r>
            <a:r>
              <a:rPr lang="en-US" sz="2000" dirty="0">
                <a:solidFill>
                  <a:schemeClr val="accent5"/>
                </a:solidFill>
              </a:rPr>
              <a:t> {</a:t>
            </a:r>
          </a:p>
          <a:p>
            <a:pPr marL="0" indent="0">
              <a:buNone/>
            </a:pPr>
            <a:r>
              <a:rPr lang="en-US" sz="2000" dirty="0">
                <a:solidFill>
                  <a:schemeClr val="accent5"/>
                </a:solidFill>
              </a:rPr>
              <a:t>  </a:t>
            </a:r>
            <a:r>
              <a:rPr lang="en-US" sz="2000" dirty="0" err="1">
                <a:solidFill>
                  <a:schemeClr val="accent5"/>
                </a:solidFill>
              </a:rPr>
              <a:t>boolean</a:t>
            </a:r>
            <a:r>
              <a:rPr lang="en-US" sz="2000" dirty="0">
                <a:solidFill>
                  <a:schemeClr val="accent5"/>
                </a:solidFill>
              </a:rPr>
              <a:t> </a:t>
            </a:r>
            <a:r>
              <a:rPr lang="en-US" sz="2000" dirty="0" smtClean="0">
                <a:solidFill>
                  <a:schemeClr val="accent5"/>
                </a:solidFill>
              </a:rPr>
              <a:t>t = true; </a:t>
            </a:r>
          </a:p>
          <a:p>
            <a:pPr marL="0" indent="0">
              <a:buNone/>
            </a:pPr>
            <a:r>
              <a:rPr lang="en-US" sz="2000" dirty="0">
                <a:solidFill>
                  <a:schemeClr val="accent5"/>
                </a:solidFill>
              </a:rPr>
              <a:t> </a:t>
            </a:r>
            <a:r>
              <a:rPr lang="en-US" sz="2000" dirty="0" smtClean="0">
                <a:solidFill>
                  <a:schemeClr val="accent5"/>
                </a:solidFill>
              </a:rPr>
              <a:t> char c = ‘x’; </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int</a:t>
            </a:r>
            <a:r>
              <a:rPr lang="en-US" sz="2000" dirty="0" smtClean="0">
                <a:solidFill>
                  <a:schemeClr val="accent5"/>
                </a:solidFill>
              </a:rPr>
              <a:t> </a:t>
            </a:r>
            <a:r>
              <a:rPr lang="en-US" sz="2000" dirty="0" err="1" smtClean="0">
                <a:solidFill>
                  <a:schemeClr val="accent5"/>
                </a:solidFill>
              </a:rPr>
              <a:t>i</a:t>
            </a:r>
            <a:r>
              <a:rPr lang="en-US" sz="2000" dirty="0" smtClean="0">
                <a:solidFill>
                  <a:schemeClr val="accent5"/>
                </a:solidFill>
              </a:rPr>
              <a:t> = 1; </a:t>
            </a:r>
          </a:p>
          <a:p>
            <a:pPr marL="0" indent="0">
              <a:buNone/>
            </a:pPr>
            <a:r>
              <a:rPr lang="en-US" sz="2000" dirty="0">
                <a:solidFill>
                  <a:schemeClr val="accent5"/>
                </a:solidFill>
              </a:rPr>
              <a:t> </a:t>
            </a:r>
            <a:r>
              <a:rPr lang="en-US" sz="2000" dirty="0" smtClean="0">
                <a:solidFill>
                  <a:schemeClr val="accent5"/>
                </a:solidFill>
              </a:rPr>
              <a:t> double d = 2.3;</a:t>
            </a:r>
          </a:p>
          <a:p>
            <a:pPr marL="0" indent="0">
              <a:buNone/>
            </a:pPr>
            <a:r>
              <a:rPr lang="en-US" sz="2000" dirty="0">
                <a:solidFill>
                  <a:schemeClr val="accent5"/>
                </a:solidFill>
              </a:rPr>
              <a:t> </a:t>
            </a:r>
            <a:r>
              <a:rPr lang="en-US" sz="2000" dirty="0" smtClean="0">
                <a:solidFill>
                  <a:schemeClr val="accent5"/>
                </a:solidFill>
              </a:rPr>
              <a:t> ……</a:t>
            </a:r>
          </a:p>
          <a:p>
            <a:pPr marL="0" indent="0">
              <a:buNone/>
            </a:pPr>
            <a:r>
              <a:rPr lang="en-US" sz="2000" dirty="0">
                <a:solidFill>
                  <a:schemeClr val="accent5"/>
                </a:solidFill>
              </a:rPr>
              <a:t>}</a:t>
            </a:r>
            <a:endParaRPr lang="en-US" sz="2000" dirty="0"/>
          </a:p>
        </p:txBody>
      </p:sp>
      <p:sp>
        <p:nvSpPr>
          <p:cNvPr id="4" name="Content Placeholder 3"/>
          <p:cNvSpPr>
            <a:spLocks noGrp="1"/>
          </p:cNvSpPr>
          <p:nvPr>
            <p:ph sz="half" idx="2"/>
          </p:nvPr>
        </p:nvSpPr>
        <p:spPr/>
        <p:txBody>
          <a:bodyPr/>
          <a:lstStyle/>
          <a:p>
            <a:r>
              <a:rPr lang="en-US" dirty="0" smtClean="0"/>
              <a:t>You can even call a method to provide an initialization value</a:t>
            </a:r>
          </a:p>
          <a:p>
            <a:pPr marL="0" lvl="0" indent="0">
              <a:buNone/>
            </a:pPr>
            <a:r>
              <a:rPr lang="en-US" sz="2000" dirty="0">
                <a:solidFill>
                  <a:srgbClr val="4472C4"/>
                </a:solidFill>
              </a:rPr>
              <a:t>public class </a:t>
            </a:r>
            <a:r>
              <a:rPr lang="en-US" sz="2000" dirty="0" err="1" smtClean="0">
                <a:solidFill>
                  <a:srgbClr val="4472C4"/>
                </a:solidFill>
              </a:rPr>
              <a:t>MethodInit</a:t>
            </a:r>
            <a:r>
              <a:rPr lang="en-US" sz="2000" dirty="0" smtClean="0">
                <a:solidFill>
                  <a:srgbClr val="4472C4"/>
                </a:solidFill>
              </a:rPr>
              <a:t> {</a:t>
            </a:r>
            <a:endParaRPr lang="en-US" sz="2000" dirty="0">
              <a:solidFill>
                <a:srgbClr val="4472C4"/>
              </a:solidFill>
            </a:endParaRPr>
          </a:p>
          <a:p>
            <a:pPr marL="0" lvl="0" indent="0">
              <a:buNone/>
            </a:pPr>
            <a:r>
              <a:rPr lang="en-US" sz="2000" dirty="0">
                <a:solidFill>
                  <a:srgbClr val="4472C4"/>
                </a:solidFill>
              </a:rPr>
              <a:t> </a:t>
            </a:r>
            <a:r>
              <a:rPr lang="en-US" sz="2000" dirty="0" smtClean="0">
                <a:solidFill>
                  <a:srgbClr val="4472C4"/>
                </a:solidFill>
              </a:rPr>
              <a:t> </a:t>
            </a:r>
            <a:r>
              <a:rPr lang="en-US" sz="2000" dirty="0" err="1" smtClean="0">
                <a:solidFill>
                  <a:srgbClr val="4472C4"/>
                </a:solidFill>
              </a:rPr>
              <a:t>int</a:t>
            </a:r>
            <a:r>
              <a:rPr lang="en-US" sz="2000" dirty="0" smtClean="0">
                <a:solidFill>
                  <a:srgbClr val="4472C4"/>
                </a:solidFill>
              </a:rPr>
              <a:t> </a:t>
            </a:r>
            <a:r>
              <a:rPr lang="en-US" sz="2000" dirty="0" err="1" smtClean="0">
                <a:solidFill>
                  <a:srgbClr val="4472C4"/>
                </a:solidFill>
              </a:rPr>
              <a:t>i</a:t>
            </a:r>
            <a:r>
              <a:rPr lang="en-US" sz="2000" dirty="0" smtClean="0">
                <a:solidFill>
                  <a:srgbClr val="4472C4"/>
                </a:solidFill>
              </a:rPr>
              <a:t> = f();</a:t>
            </a:r>
          </a:p>
          <a:p>
            <a:pPr marL="0" lvl="0" indent="0">
              <a:buNone/>
            </a:pPr>
            <a:r>
              <a:rPr lang="en-US" sz="2000" dirty="0">
                <a:solidFill>
                  <a:srgbClr val="4472C4"/>
                </a:solidFill>
              </a:rPr>
              <a:t> </a:t>
            </a:r>
            <a:r>
              <a:rPr lang="en-US" sz="2000" dirty="0" smtClean="0">
                <a:solidFill>
                  <a:srgbClr val="4472C4"/>
                </a:solidFill>
              </a:rPr>
              <a:t> </a:t>
            </a:r>
            <a:r>
              <a:rPr lang="en-US" sz="2000" dirty="0" err="1" smtClean="0">
                <a:solidFill>
                  <a:srgbClr val="4472C4"/>
                </a:solidFill>
              </a:rPr>
              <a:t>int</a:t>
            </a:r>
            <a:r>
              <a:rPr lang="en-US" sz="2000" dirty="0" smtClean="0">
                <a:solidFill>
                  <a:srgbClr val="4472C4"/>
                </a:solidFill>
              </a:rPr>
              <a:t> j = g(</a:t>
            </a:r>
            <a:r>
              <a:rPr lang="en-US" sz="2000" dirty="0" err="1" smtClean="0">
                <a:solidFill>
                  <a:srgbClr val="4472C4"/>
                </a:solidFill>
              </a:rPr>
              <a:t>i</a:t>
            </a:r>
            <a:r>
              <a:rPr lang="en-US" sz="2000" dirty="0" smtClean="0">
                <a:solidFill>
                  <a:srgbClr val="4472C4"/>
                </a:solidFill>
              </a:rPr>
              <a:t>);</a:t>
            </a:r>
            <a:endParaRPr lang="en-US" sz="2000" dirty="0">
              <a:solidFill>
                <a:srgbClr val="4472C4"/>
              </a:solidFill>
            </a:endParaRPr>
          </a:p>
          <a:p>
            <a:pPr marL="0" lvl="0" indent="0">
              <a:buNone/>
            </a:pPr>
            <a:r>
              <a:rPr lang="en-US" sz="2000" dirty="0">
                <a:solidFill>
                  <a:srgbClr val="4472C4"/>
                </a:solidFill>
              </a:rPr>
              <a:t>  </a:t>
            </a:r>
            <a:r>
              <a:rPr lang="en-US" sz="2000" dirty="0" err="1" smtClean="0">
                <a:solidFill>
                  <a:srgbClr val="4472C4"/>
                </a:solidFill>
              </a:rPr>
              <a:t>int</a:t>
            </a:r>
            <a:r>
              <a:rPr lang="en-US" sz="2000" dirty="0" smtClean="0">
                <a:solidFill>
                  <a:srgbClr val="4472C4"/>
                </a:solidFill>
              </a:rPr>
              <a:t> f() { return 11; } </a:t>
            </a:r>
            <a:endParaRPr lang="en-US" sz="2000" dirty="0">
              <a:solidFill>
                <a:srgbClr val="4472C4"/>
              </a:solidFill>
            </a:endParaRPr>
          </a:p>
          <a:p>
            <a:pPr marL="0" lvl="0" indent="0">
              <a:buNone/>
            </a:pPr>
            <a:r>
              <a:rPr lang="en-US" sz="2000" dirty="0">
                <a:solidFill>
                  <a:srgbClr val="4472C4"/>
                </a:solidFill>
              </a:rPr>
              <a:t>  </a:t>
            </a:r>
            <a:r>
              <a:rPr lang="en-US" sz="2000" dirty="0" err="1" smtClean="0">
                <a:solidFill>
                  <a:srgbClr val="4472C4"/>
                </a:solidFill>
              </a:rPr>
              <a:t>int</a:t>
            </a:r>
            <a:r>
              <a:rPr lang="en-US" sz="2000" dirty="0" smtClean="0">
                <a:solidFill>
                  <a:srgbClr val="4472C4"/>
                </a:solidFill>
              </a:rPr>
              <a:t> g(</a:t>
            </a:r>
            <a:r>
              <a:rPr lang="en-US" sz="2000" dirty="0" err="1" smtClean="0">
                <a:solidFill>
                  <a:srgbClr val="4472C4"/>
                </a:solidFill>
              </a:rPr>
              <a:t>int</a:t>
            </a:r>
            <a:r>
              <a:rPr lang="en-US" sz="2000" dirty="0" smtClean="0">
                <a:solidFill>
                  <a:srgbClr val="4472C4"/>
                </a:solidFill>
              </a:rPr>
              <a:t> n) { return n*10; }</a:t>
            </a:r>
            <a:endParaRPr lang="en-US" sz="2000" dirty="0">
              <a:solidFill>
                <a:srgbClr val="4472C4"/>
              </a:solidFill>
            </a:endParaRPr>
          </a:p>
          <a:p>
            <a:pPr marL="0" lvl="0" indent="0">
              <a:buNone/>
            </a:pPr>
            <a:r>
              <a:rPr lang="en-US" sz="2000" dirty="0">
                <a:solidFill>
                  <a:srgbClr val="4472C4"/>
                </a:solidFill>
              </a:rPr>
              <a:t>  ……</a:t>
            </a:r>
          </a:p>
          <a:p>
            <a:pPr marL="0" lvl="0" indent="0">
              <a:buNone/>
            </a:pPr>
            <a:r>
              <a:rPr lang="en-US" sz="2000" dirty="0" smtClean="0">
                <a:solidFill>
                  <a:srgbClr val="4472C4"/>
                </a:solidFill>
              </a:rPr>
              <a:t>}</a:t>
            </a:r>
          </a:p>
        </p:txBody>
      </p:sp>
      <p:sp>
        <p:nvSpPr>
          <p:cNvPr id="5" name="Slide Number Placeholder 4"/>
          <p:cNvSpPr>
            <a:spLocks noGrp="1"/>
          </p:cNvSpPr>
          <p:nvPr>
            <p:ph type="sldNum" sz="quarter" idx="12"/>
          </p:nvPr>
        </p:nvSpPr>
        <p:spPr/>
        <p:txBody>
          <a:bodyPr/>
          <a:lstStyle/>
          <a:p>
            <a:fld id="{965D6772-41C1-4987-827C-16EA866C2326}" type="slidenum">
              <a:rPr lang="en-US" smtClean="0"/>
              <a:t>32</a:t>
            </a:fld>
            <a:endParaRPr lang="en-US"/>
          </a:p>
        </p:txBody>
      </p:sp>
    </p:spTree>
    <p:extLst>
      <p:ext uri="{BB962C8B-B14F-4D97-AF65-F5344CB8AC3E}">
        <p14:creationId xmlns:p14="http://schemas.microsoft.com/office/powerpoint/2010/main" val="3302036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Order Of Initialization</a:t>
            </a:r>
            <a:endParaRPr lang="en-US" dirty="0"/>
          </a:p>
        </p:txBody>
      </p:sp>
      <p:sp>
        <p:nvSpPr>
          <p:cNvPr id="3" name="Content Placeholder 2"/>
          <p:cNvSpPr>
            <a:spLocks noGrp="1"/>
          </p:cNvSpPr>
          <p:nvPr>
            <p:ph sz="half" idx="1"/>
          </p:nvPr>
        </p:nvSpPr>
        <p:spPr/>
        <p:txBody>
          <a:bodyPr>
            <a:normAutofit fontScale="85000" lnSpcReduction="20000"/>
          </a:bodyPr>
          <a:lstStyle/>
          <a:p>
            <a:r>
              <a:rPr lang="en-US" sz="3300" b="1" i="1" dirty="0" smtClean="0"/>
              <a:t>Rule I</a:t>
            </a:r>
            <a:r>
              <a:rPr lang="en-US" sz="3300" dirty="0" smtClean="0"/>
              <a:t>: member variables are initialized before any methods can be called, including the constructors.</a:t>
            </a:r>
          </a:p>
          <a:p>
            <a:pPr marL="0" indent="0">
              <a:buNone/>
            </a:pPr>
            <a:endParaRPr lang="en-US" sz="2000" dirty="0"/>
          </a:p>
          <a:p>
            <a:pPr marL="0" indent="0">
              <a:buNone/>
            </a:pPr>
            <a:r>
              <a:rPr lang="en-US" sz="2100" dirty="0">
                <a:solidFill>
                  <a:schemeClr val="accent5"/>
                </a:solidFill>
              </a:rPr>
              <a:t>class Window {</a:t>
            </a:r>
          </a:p>
          <a:p>
            <a:pPr marL="0" indent="0">
              <a:buNone/>
            </a:pPr>
            <a:r>
              <a:rPr lang="en-US" sz="2100" dirty="0">
                <a:solidFill>
                  <a:schemeClr val="accent5"/>
                </a:solidFill>
              </a:rPr>
              <a:t>  Window(</a:t>
            </a:r>
            <a:r>
              <a:rPr lang="en-US" sz="2100" dirty="0" err="1">
                <a:solidFill>
                  <a:schemeClr val="accent5"/>
                </a:solidFill>
              </a:rPr>
              <a:t>int</a:t>
            </a:r>
            <a:r>
              <a:rPr lang="en-US" sz="2100" dirty="0">
                <a:solidFill>
                  <a:schemeClr val="accent5"/>
                </a:solidFill>
              </a:rPr>
              <a:t> marker) { </a:t>
            </a:r>
          </a:p>
          <a:p>
            <a:pPr marL="0" indent="0">
              <a:buNone/>
            </a:pPr>
            <a:r>
              <a:rPr lang="en-US" sz="2100" dirty="0">
                <a:solidFill>
                  <a:schemeClr val="accent5"/>
                </a:solidFill>
              </a:rPr>
              <a:t>    </a:t>
            </a:r>
            <a:r>
              <a:rPr lang="en-US" sz="2100" dirty="0" err="1">
                <a:solidFill>
                  <a:schemeClr val="accent5"/>
                </a:solidFill>
              </a:rPr>
              <a:t>System.out.println</a:t>
            </a:r>
            <a:r>
              <a:rPr lang="en-US" sz="2100" dirty="0">
                <a:solidFill>
                  <a:schemeClr val="accent5"/>
                </a:solidFill>
              </a:rPr>
              <a:t>("Window(" + marker + ")"); </a:t>
            </a:r>
          </a:p>
          <a:p>
            <a:pPr marL="0" indent="0">
              <a:buNone/>
            </a:pPr>
            <a:r>
              <a:rPr lang="en-US" sz="2100" dirty="0">
                <a:solidFill>
                  <a:schemeClr val="accent5"/>
                </a:solidFill>
              </a:rPr>
              <a:t>  </a:t>
            </a:r>
            <a:r>
              <a:rPr lang="en-US" sz="2100" dirty="0" smtClean="0">
                <a:solidFill>
                  <a:schemeClr val="accent5"/>
                </a:solidFill>
              </a:rPr>
              <a:t>}</a:t>
            </a:r>
          </a:p>
          <a:p>
            <a:pPr marL="0" indent="0">
              <a:buNone/>
            </a:pPr>
            <a:r>
              <a:rPr lang="en-US" sz="2100" dirty="0">
                <a:solidFill>
                  <a:schemeClr val="accent5"/>
                </a:solidFill>
              </a:rPr>
              <a:t>}</a:t>
            </a:r>
          </a:p>
          <a:p>
            <a:pPr marL="0" indent="0">
              <a:buNone/>
            </a:pPr>
            <a:endParaRPr lang="en-US" sz="2000" dirty="0"/>
          </a:p>
        </p:txBody>
      </p:sp>
      <p:sp>
        <p:nvSpPr>
          <p:cNvPr id="4" name="Content Placeholder 3"/>
          <p:cNvSpPr>
            <a:spLocks noGrp="1"/>
          </p:cNvSpPr>
          <p:nvPr>
            <p:ph sz="half" idx="2"/>
          </p:nvPr>
        </p:nvSpPr>
        <p:spPr>
          <a:xfrm>
            <a:off x="6172200" y="365126"/>
            <a:ext cx="5181600" cy="6250164"/>
          </a:xfrm>
        </p:spPr>
        <p:txBody>
          <a:bodyPr>
            <a:normAutofit fontScale="85000" lnSpcReduction="20000"/>
          </a:bodyPr>
          <a:lstStyle/>
          <a:p>
            <a:pPr marL="0" indent="0">
              <a:buNone/>
            </a:pPr>
            <a:r>
              <a:rPr lang="en-US" sz="2000" dirty="0">
                <a:solidFill>
                  <a:schemeClr val="accent5"/>
                </a:solidFill>
              </a:rPr>
              <a:t>class House {</a:t>
            </a:r>
          </a:p>
          <a:p>
            <a:pPr marL="0" indent="0">
              <a:buNone/>
            </a:pPr>
            <a:r>
              <a:rPr lang="en-US" sz="2000" dirty="0">
                <a:solidFill>
                  <a:schemeClr val="accent5"/>
                </a:solidFill>
              </a:rPr>
              <a:t>  Window w1 = new Window(1); </a:t>
            </a:r>
            <a:endParaRPr lang="en-US" sz="2000" dirty="0" smtClean="0">
              <a:solidFill>
                <a:schemeClr val="accent5"/>
              </a:solidFill>
            </a:endParaRPr>
          </a:p>
          <a:p>
            <a:pPr marL="0" indent="0">
              <a:buNone/>
            </a:pPr>
            <a:r>
              <a:rPr lang="en-US" sz="2000" dirty="0" smtClean="0">
                <a:solidFill>
                  <a:schemeClr val="accent5"/>
                </a:solidFill>
              </a:rPr>
              <a:t>  House() {</a:t>
            </a:r>
          </a:p>
          <a:p>
            <a:pPr marL="0" indent="0">
              <a:buNone/>
            </a:pPr>
            <a:r>
              <a:rPr lang="en-US" sz="2000" dirty="0" smtClean="0">
                <a:solidFill>
                  <a:schemeClr val="accent5"/>
                </a:solidFill>
              </a:rPr>
              <a:t>    </a:t>
            </a:r>
            <a:r>
              <a:rPr lang="en-US" sz="2000" dirty="0" err="1" smtClean="0">
                <a:solidFill>
                  <a:schemeClr val="accent5"/>
                </a:solidFill>
              </a:rPr>
              <a:t>System.out.println</a:t>
            </a:r>
            <a:r>
              <a:rPr lang="en-US" sz="2000" dirty="0">
                <a:solidFill>
                  <a:schemeClr val="accent5"/>
                </a:solidFill>
              </a:rPr>
              <a:t>("House()");</a:t>
            </a:r>
          </a:p>
          <a:p>
            <a:pPr marL="0" indent="0">
              <a:buNone/>
            </a:pPr>
            <a:r>
              <a:rPr lang="en-US" sz="2000" dirty="0">
                <a:solidFill>
                  <a:schemeClr val="accent5"/>
                </a:solidFill>
              </a:rPr>
              <a:t>    w3 = new Window(33); /</a:t>
            </a:r>
            <a:r>
              <a:rPr lang="en-US" sz="2000" dirty="0" smtClean="0">
                <a:solidFill>
                  <a:schemeClr val="accent5"/>
                </a:solidFill>
              </a:rPr>
              <a:t>/ Reinitialize w3</a:t>
            </a:r>
            <a:endParaRPr lang="en-US" sz="2000" dirty="0">
              <a:solidFill>
                <a:schemeClr val="accent5"/>
              </a:solidFill>
            </a:endParaRPr>
          </a:p>
          <a:p>
            <a:pPr marL="0" indent="0">
              <a:buNone/>
            </a:pPr>
            <a:r>
              <a:rPr lang="en-US" sz="2000" dirty="0">
                <a:solidFill>
                  <a:schemeClr val="accent5"/>
                </a:solidFill>
              </a:rPr>
              <a:t>  }</a:t>
            </a:r>
          </a:p>
          <a:p>
            <a:pPr marL="0" indent="0">
              <a:buNone/>
            </a:pPr>
            <a:r>
              <a:rPr lang="en-US" sz="2000" dirty="0">
                <a:solidFill>
                  <a:schemeClr val="accent5"/>
                </a:solidFill>
              </a:rPr>
              <a:t>  Window w2 = new Window(2); </a:t>
            </a:r>
          </a:p>
          <a:p>
            <a:pPr marL="0" indent="0">
              <a:buNone/>
            </a:pPr>
            <a:r>
              <a:rPr lang="en-US" sz="2000" dirty="0">
                <a:solidFill>
                  <a:schemeClr val="accent5"/>
                </a:solidFill>
              </a:rPr>
              <a:t>  Window w3 = new Window(3); </a:t>
            </a:r>
          </a:p>
          <a:p>
            <a:pPr marL="0" indent="0">
              <a:buNone/>
            </a:pPr>
            <a:r>
              <a:rPr lang="en-US" sz="2000" dirty="0" smtClean="0">
                <a:solidFill>
                  <a:schemeClr val="accent5"/>
                </a:solidFill>
              </a:rPr>
              <a:t>}</a:t>
            </a:r>
            <a:endParaRPr lang="en-US" sz="2000" dirty="0">
              <a:solidFill>
                <a:schemeClr val="accent5"/>
              </a:solidFill>
            </a:endParaRPr>
          </a:p>
          <a:p>
            <a:pPr marL="0" indent="0">
              <a:buNone/>
            </a:pPr>
            <a:r>
              <a:rPr lang="en-US" sz="2000" dirty="0">
                <a:solidFill>
                  <a:schemeClr val="accent5"/>
                </a:solidFill>
              </a:rPr>
              <a:t>public class </a:t>
            </a:r>
            <a:r>
              <a:rPr lang="en-US" sz="2000" dirty="0" err="1">
                <a:solidFill>
                  <a:schemeClr val="accent5"/>
                </a:solidFill>
              </a:rPr>
              <a:t>OrderOfInitialization</a:t>
            </a:r>
            <a:r>
              <a:rPr lang="en-US" sz="2000" dirty="0">
                <a:solidFill>
                  <a:schemeClr val="accent5"/>
                </a:solidFill>
              </a:rPr>
              <a:t> {</a:t>
            </a:r>
          </a:p>
          <a:p>
            <a:pPr marL="0" indent="0">
              <a:buNone/>
            </a:pPr>
            <a:r>
              <a:rPr lang="en-US" sz="2000" dirty="0">
                <a:solidFill>
                  <a:schemeClr val="accent5"/>
                </a:solidFill>
              </a:rPr>
              <a:t>  public static void main(String[] </a:t>
            </a:r>
            <a:r>
              <a:rPr lang="en-US" sz="2000" dirty="0" err="1">
                <a:solidFill>
                  <a:schemeClr val="accent5"/>
                </a:solidFill>
              </a:rPr>
              <a:t>args</a:t>
            </a:r>
            <a:r>
              <a:rPr lang="en-US" sz="2000" dirty="0">
                <a:solidFill>
                  <a:schemeClr val="accent5"/>
                </a:solidFill>
              </a:rPr>
              <a:t>) {</a:t>
            </a:r>
          </a:p>
          <a:p>
            <a:pPr marL="0" indent="0">
              <a:buNone/>
            </a:pPr>
            <a:r>
              <a:rPr lang="en-US" sz="2000" dirty="0">
                <a:solidFill>
                  <a:schemeClr val="accent5"/>
                </a:solidFill>
              </a:rPr>
              <a:t>    House h = new House();</a:t>
            </a:r>
          </a:p>
          <a:p>
            <a:pPr marL="0" indent="0">
              <a:buNone/>
            </a:pPr>
            <a:r>
              <a:rPr lang="en-US" sz="2000" dirty="0">
                <a:solidFill>
                  <a:schemeClr val="accent5"/>
                </a:solidFill>
              </a:rPr>
              <a:t>  }</a:t>
            </a:r>
          </a:p>
          <a:p>
            <a:pPr marL="0" indent="0">
              <a:buNone/>
            </a:pPr>
            <a:r>
              <a:rPr lang="en-US" sz="2000" dirty="0">
                <a:solidFill>
                  <a:schemeClr val="accent5"/>
                </a:solidFill>
              </a:rPr>
              <a:t>} /* Output:</a:t>
            </a:r>
          </a:p>
          <a:p>
            <a:pPr marL="0" indent="0">
              <a:buNone/>
            </a:pPr>
            <a:r>
              <a:rPr lang="en-US" sz="2000" dirty="0">
                <a:solidFill>
                  <a:schemeClr val="accent5"/>
                </a:solidFill>
              </a:rPr>
              <a:t>Window(1)</a:t>
            </a:r>
          </a:p>
          <a:p>
            <a:pPr marL="0" indent="0">
              <a:buNone/>
            </a:pPr>
            <a:r>
              <a:rPr lang="en-US" sz="2000" dirty="0">
                <a:solidFill>
                  <a:schemeClr val="accent5"/>
                </a:solidFill>
              </a:rPr>
              <a:t>Window(2)</a:t>
            </a:r>
          </a:p>
          <a:p>
            <a:pPr marL="0" indent="0">
              <a:buNone/>
            </a:pPr>
            <a:r>
              <a:rPr lang="en-US" sz="2000" dirty="0">
                <a:solidFill>
                  <a:schemeClr val="accent5"/>
                </a:solidFill>
              </a:rPr>
              <a:t>Window(3)</a:t>
            </a:r>
          </a:p>
          <a:p>
            <a:pPr marL="0" indent="0">
              <a:buNone/>
            </a:pPr>
            <a:r>
              <a:rPr lang="en-US" sz="2000" dirty="0">
                <a:solidFill>
                  <a:schemeClr val="accent5"/>
                </a:solidFill>
              </a:rPr>
              <a:t>House()</a:t>
            </a:r>
          </a:p>
          <a:p>
            <a:pPr marL="0" indent="0">
              <a:buNone/>
            </a:pPr>
            <a:r>
              <a:rPr lang="en-US" sz="2000" dirty="0">
                <a:solidFill>
                  <a:schemeClr val="accent5"/>
                </a:solidFill>
              </a:rPr>
              <a:t>Window(33)</a:t>
            </a:r>
          </a:p>
          <a:p>
            <a:pPr marL="0" indent="0">
              <a:buNone/>
            </a:pPr>
            <a:r>
              <a:rPr lang="en-US" sz="2000" dirty="0" smtClean="0">
                <a:solidFill>
                  <a:schemeClr val="accent5"/>
                </a:solidFill>
              </a:rPr>
              <a:t>*/</a:t>
            </a:r>
            <a:endParaRPr lang="en-US" sz="2000"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33</a:t>
            </a:fld>
            <a:endParaRPr lang="en-US"/>
          </a:p>
        </p:txBody>
      </p:sp>
    </p:spTree>
    <p:extLst>
      <p:ext uri="{BB962C8B-B14F-4D97-AF65-F5344CB8AC3E}">
        <p14:creationId xmlns:p14="http://schemas.microsoft.com/office/powerpoint/2010/main" val="21188587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Of </a:t>
            </a:r>
            <a:r>
              <a:rPr lang="en-US" dirty="0" smtClean="0"/>
              <a:t>Initialization (Cont.)</a:t>
            </a:r>
            <a:endParaRPr lang="en-US" dirty="0"/>
          </a:p>
        </p:txBody>
      </p:sp>
      <p:sp>
        <p:nvSpPr>
          <p:cNvPr id="3" name="Content Placeholder 2"/>
          <p:cNvSpPr>
            <a:spLocks noGrp="1"/>
          </p:cNvSpPr>
          <p:nvPr>
            <p:ph idx="1"/>
          </p:nvPr>
        </p:nvSpPr>
        <p:spPr/>
        <p:txBody>
          <a:bodyPr/>
          <a:lstStyle/>
          <a:p>
            <a:r>
              <a:rPr lang="en-US" b="1" i="1" dirty="0" smtClean="0"/>
              <a:t>Rule II</a:t>
            </a:r>
            <a:r>
              <a:rPr lang="en-US" dirty="0" smtClean="0"/>
              <a:t>: static members are initialized before instance members</a:t>
            </a:r>
          </a:p>
          <a:p>
            <a:pPr lvl="1"/>
            <a:r>
              <a:rPr lang="en-US" dirty="0" smtClean="0"/>
              <a:t>Static members are initialized when the first time an object is created or the first time a static method/field is accessed</a:t>
            </a:r>
          </a:p>
          <a:p>
            <a:endParaRPr lang="en-US" dirty="0" smtClean="0"/>
          </a:p>
          <a:p>
            <a:r>
              <a:rPr lang="en-US" b="1" i="1" dirty="0" smtClean="0"/>
              <a:t>Rule III</a:t>
            </a:r>
            <a:r>
              <a:rPr lang="en-US" dirty="0" smtClean="0"/>
              <a:t>: static members are only initialized once</a:t>
            </a:r>
            <a:endParaRPr lang="en-US" dirty="0"/>
          </a:p>
        </p:txBody>
      </p:sp>
      <p:sp>
        <p:nvSpPr>
          <p:cNvPr id="4" name="Slide Number Placeholder 3"/>
          <p:cNvSpPr>
            <a:spLocks noGrp="1"/>
          </p:cNvSpPr>
          <p:nvPr>
            <p:ph type="sldNum" sz="quarter" idx="12"/>
          </p:nvPr>
        </p:nvSpPr>
        <p:spPr/>
        <p:txBody>
          <a:bodyPr/>
          <a:lstStyle/>
          <a:p>
            <a:fld id="{965D6772-41C1-4987-827C-16EA866C2326}" type="slidenum">
              <a:rPr lang="en-US" smtClean="0"/>
              <a:t>34</a:t>
            </a:fld>
            <a:endParaRPr lang="en-US"/>
          </a:p>
        </p:txBody>
      </p:sp>
    </p:spTree>
    <p:extLst>
      <p:ext uri="{BB962C8B-B14F-4D97-AF65-F5344CB8AC3E}">
        <p14:creationId xmlns:p14="http://schemas.microsoft.com/office/powerpoint/2010/main" val="42121945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6911" y="141993"/>
            <a:ext cx="10515600" cy="1325563"/>
          </a:xfrm>
        </p:spPr>
        <p:txBody>
          <a:bodyPr/>
          <a:lstStyle/>
          <a:p>
            <a:r>
              <a:rPr lang="en-US" dirty="0" smtClean="0"/>
              <a:t>An Example</a:t>
            </a:r>
            <a:endParaRPr lang="en-US" dirty="0"/>
          </a:p>
        </p:txBody>
      </p:sp>
      <p:sp>
        <p:nvSpPr>
          <p:cNvPr id="3" name="Content Placeholder 2"/>
          <p:cNvSpPr>
            <a:spLocks noGrp="1"/>
          </p:cNvSpPr>
          <p:nvPr>
            <p:ph sz="half" idx="1"/>
          </p:nvPr>
        </p:nvSpPr>
        <p:spPr>
          <a:xfrm>
            <a:off x="228600" y="1467556"/>
            <a:ext cx="3925711" cy="4842933"/>
          </a:xfrm>
        </p:spPr>
        <p:txBody>
          <a:bodyPr>
            <a:noAutofit/>
          </a:bodyPr>
          <a:lstStyle/>
          <a:p>
            <a:pPr marL="0" indent="0">
              <a:buNone/>
            </a:pPr>
            <a:r>
              <a:rPr lang="en-US" sz="1800" dirty="0">
                <a:solidFill>
                  <a:schemeClr val="accent5"/>
                </a:solidFill>
              </a:rPr>
              <a:t>class Bowl {</a:t>
            </a:r>
          </a:p>
          <a:p>
            <a:pPr marL="0" indent="0">
              <a:buNone/>
            </a:pPr>
            <a:r>
              <a:rPr lang="en-US" sz="1800" dirty="0">
                <a:solidFill>
                  <a:schemeClr val="accent5"/>
                </a:solidFill>
              </a:rPr>
              <a:t>  Bowl(</a:t>
            </a:r>
            <a:r>
              <a:rPr lang="en-US" sz="1800" dirty="0" err="1">
                <a:solidFill>
                  <a:schemeClr val="accent5"/>
                </a:solidFill>
              </a:rPr>
              <a:t>int</a:t>
            </a:r>
            <a:r>
              <a:rPr lang="en-US" sz="1800" dirty="0">
                <a:solidFill>
                  <a:schemeClr val="accent5"/>
                </a:solidFill>
              </a:rPr>
              <a:t> marker) {</a:t>
            </a:r>
          </a:p>
          <a:p>
            <a:pPr marL="0" indent="0">
              <a:buNone/>
            </a:pPr>
            <a:r>
              <a:rPr lang="en-US" sz="1800" dirty="0">
                <a:solidFill>
                  <a:schemeClr val="accent5"/>
                </a:solidFill>
              </a:rPr>
              <a:t>    </a:t>
            </a:r>
            <a:r>
              <a:rPr lang="en-US" sz="1800" dirty="0" err="1">
                <a:solidFill>
                  <a:schemeClr val="accent5"/>
                </a:solidFill>
              </a:rPr>
              <a:t>System.out.println</a:t>
            </a:r>
            <a:r>
              <a:rPr lang="en-US" sz="1800" dirty="0">
                <a:solidFill>
                  <a:schemeClr val="accent5"/>
                </a:solidFill>
              </a:rPr>
              <a:t>("Bowl(" + </a:t>
            </a:r>
            <a:endParaRPr lang="en-US" sz="1800" dirty="0" smtClean="0">
              <a:solidFill>
                <a:schemeClr val="accent5"/>
              </a:solidFill>
            </a:endParaRPr>
          </a:p>
          <a:p>
            <a:pPr marL="0" indent="0">
              <a:buNone/>
            </a:pPr>
            <a:r>
              <a:rPr lang="en-US" sz="1800" dirty="0">
                <a:solidFill>
                  <a:schemeClr val="accent5"/>
                </a:solidFill>
              </a:rPr>
              <a:t> </a:t>
            </a:r>
            <a:r>
              <a:rPr lang="en-US" sz="1800" dirty="0" smtClean="0">
                <a:solidFill>
                  <a:schemeClr val="accent5"/>
                </a:solidFill>
              </a:rPr>
              <a:t>     marker </a:t>
            </a:r>
            <a:r>
              <a:rPr lang="en-US" sz="1800" dirty="0">
                <a:solidFill>
                  <a:schemeClr val="accent5"/>
                </a:solidFill>
              </a:rPr>
              <a:t>+ ")");</a:t>
            </a:r>
          </a:p>
          <a:p>
            <a:pPr marL="0" indent="0">
              <a:buNone/>
            </a:pPr>
            <a:r>
              <a:rPr lang="en-US" sz="1800" dirty="0">
                <a:solidFill>
                  <a:schemeClr val="accent5"/>
                </a:solidFill>
              </a:rPr>
              <a:t>  }</a:t>
            </a:r>
          </a:p>
          <a:p>
            <a:pPr marL="0" indent="0">
              <a:buNone/>
            </a:pPr>
            <a:r>
              <a:rPr lang="en-US" sz="1800" dirty="0" smtClean="0">
                <a:solidFill>
                  <a:schemeClr val="accent5"/>
                </a:solidFill>
              </a:rPr>
              <a:t>}</a:t>
            </a:r>
            <a:endParaRPr lang="en-US" sz="1800" dirty="0">
              <a:solidFill>
                <a:schemeClr val="accent5"/>
              </a:solidFill>
            </a:endParaRPr>
          </a:p>
          <a:p>
            <a:pPr marL="0" indent="0">
              <a:buNone/>
            </a:pPr>
            <a:r>
              <a:rPr lang="en-US" sz="1800" dirty="0">
                <a:solidFill>
                  <a:schemeClr val="accent5"/>
                </a:solidFill>
              </a:rPr>
              <a:t>class Table {</a:t>
            </a:r>
          </a:p>
          <a:p>
            <a:pPr marL="0" indent="0">
              <a:buNone/>
            </a:pPr>
            <a:r>
              <a:rPr lang="en-US" sz="1800" dirty="0">
                <a:solidFill>
                  <a:schemeClr val="accent5"/>
                </a:solidFill>
              </a:rPr>
              <a:t>  static Bowl bowl1 = new Bowl(1);</a:t>
            </a:r>
          </a:p>
          <a:p>
            <a:pPr marL="0" indent="0">
              <a:buNone/>
            </a:pPr>
            <a:r>
              <a:rPr lang="en-US" sz="1800" dirty="0">
                <a:solidFill>
                  <a:schemeClr val="accent5"/>
                </a:solidFill>
              </a:rPr>
              <a:t>  Table() {</a:t>
            </a:r>
          </a:p>
          <a:p>
            <a:pPr marL="0" indent="0">
              <a:buNone/>
            </a:pPr>
            <a:r>
              <a:rPr lang="en-US" sz="1800" dirty="0">
                <a:solidFill>
                  <a:schemeClr val="accent5"/>
                </a:solidFill>
              </a:rPr>
              <a:t>    </a:t>
            </a:r>
            <a:r>
              <a:rPr lang="en-US" sz="1800" dirty="0" err="1">
                <a:solidFill>
                  <a:schemeClr val="accent5"/>
                </a:solidFill>
              </a:rPr>
              <a:t>System.out.println</a:t>
            </a:r>
            <a:r>
              <a:rPr lang="en-US" sz="1800" dirty="0">
                <a:solidFill>
                  <a:schemeClr val="accent5"/>
                </a:solidFill>
              </a:rPr>
              <a:t>("Table()");</a:t>
            </a:r>
          </a:p>
          <a:p>
            <a:pPr marL="0" indent="0">
              <a:buNone/>
            </a:pPr>
            <a:r>
              <a:rPr lang="en-US" sz="1800" dirty="0">
                <a:solidFill>
                  <a:schemeClr val="accent5"/>
                </a:solidFill>
              </a:rPr>
              <a:t>  }</a:t>
            </a:r>
          </a:p>
          <a:p>
            <a:pPr marL="0" indent="0">
              <a:buNone/>
            </a:pPr>
            <a:r>
              <a:rPr lang="en-US" sz="1800" dirty="0">
                <a:solidFill>
                  <a:schemeClr val="accent5"/>
                </a:solidFill>
              </a:rPr>
              <a:t>  static Bowl bowl2 = new Bowl(2);</a:t>
            </a:r>
          </a:p>
          <a:p>
            <a:pPr marL="0" indent="0">
              <a:buNone/>
            </a:pPr>
            <a:r>
              <a:rPr lang="en-US" sz="1800" dirty="0">
                <a:solidFill>
                  <a:schemeClr val="accent5"/>
                </a:solidFill>
              </a:rPr>
              <a:t>}</a:t>
            </a:r>
          </a:p>
        </p:txBody>
      </p:sp>
      <p:sp>
        <p:nvSpPr>
          <p:cNvPr id="4" name="Content Placeholder 3"/>
          <p:cNvSpPr>
            <a:spLocks noGrp="1"/>
          </p:cNvSpPr>
          <p:nvPr>
            <p:ph sz="half" idx="2"/>
          </p:nvPr>
        </p:nvSpPr>
        <p:spPr>
          <a:xfrm>
            <a:off x="4445000" y="948267"/>
            <a:ext cx="4687711" cy="5667021"/>
          </a:xfrm>
        </p:spPr>
        <p:txBody>
          <a:bodyPr>
            <a:noAutofit/>
          </a:bodyPr>
          <a:lstStyle/>
          <a:p>
            <a:pPr marL="0" indent="0">
              <a:buNone/>
            </a:pPr>
            <a:r>
              <a:rPr lang="en-US" sz="1800" dirty="0">
                <a:solidFill>
                  <a:schemeClr val="accent5"/>
                </a:solidFill>
              </a:rPr>
              <a:t>class Cupboard {</a:t>
            </a:r>
          </a:p>
          <a:p>
            <a:pPr marL="0" indent="0">
              <a:buNone/>
            </a:pPr>
            <a:r>
              <a:rPr lang="en-US" sz="1800" dirty="0">
                <a:solidFill>
                  <a:schemeClr val="accent5"/>
                </a:solidFill>
              </a:rPr>
              <a:t>  Bowl bowl3 = new Bowl(3);</a:t>
            </a:r>
          </a:p>
          <a:p>
            <a:pPr marL="0" indent="0">
              <a:buNone/>
            </a:pPr>
            <a:r>
              <a:rPr lang="en-US" sz="1800" dirty="0">
                <a:solidFill>
                  <a:schemeClr val="accent5"/>
                </a:solidFill>
              </a:rPr>
              <a:t>  static Bowl bowl4 = new Bowl(4);</a:t>
            </a:r>
          </a:p>
          <a:p>
            <a:pPr marL="0" indent="0">
              <a:buNone/>
            </a:pPr>
            <a:r>
              <a:rPr lang="en-US" sz="1800" dirty="0">
                <a:solidFill>
                  <a:schemeClr val="accent5"/>
                </a:solidFill>
              </a:rPr>
              <a:t>  Cupboard() {</a:t>
            </a:r>
          </a:p>
          <a:p>
            <a:pPr marL="0" indent="0">
              <a:buNone/>
            </a:pPr>
            <a:r>
              <a:rPr lang="en-US" sz="1800" dirty="0">
                <a:solidFill>
                  <a:schemeClr val="accent5"/>
                </a:solidFill>
              </a:rPr>
              <a:t>    </a:t>
            </a:r>
            <a:r>
              <a:rPr lang="en-US" sz="1800" dirty="0" err="1">
                <a:solidFill>
                  <a:schemeClr val="accent5"/>
                </a:solidFill>
              </a:rPr>
              <a:t>System.out.println</a:t>
            </a:r>
            <a:r>
              <a:rPr lang="en-US" sz="1800" dirty="0">
                <a:solidFill>
                  <a:schemeClr val="accent5"/>
                </a:solidFill>
              </a:rPr>
              <a:t>("Cupboard()");</a:t>
            </a:r>
          </a:p>
          <a:p>
            <a:pPr marL="0" indent="0">
              <a:buNone/>
            </a:pPr>
            <a:r>
              <a:rPr lang="en-US" sz="1800" dirty="0">
                <a:solidFill>
                  <a:schemeClr val="accent5"/>
                </a:solidFill>
              </a:rPr>
              <a:t>  }</a:t>
            </a:r>
          </a:p>
          <a:p>
            <a:pPr marL="0" indent="0">
              <a:buNone/>
            </a:pPr>
            <a:r>
              <a:rPr lang="en-US" sz="1800" dirty="0">
                <a:solidFill>
                  <a:schemeClr val="accent5"/>
                </a:solidFill>
              </a:rPr>
              <a:t>  static Bowl bowl5 = new Bowl(5);</a:t>
            </a:r>
          </a:p>
          <a:p>
            <a:pPr marL="0" indent="0">
              <a:buNone/>
            </a:pPr>
            <a:r>
              <a:rPr lang="en-US" sz="1800" dirty="0" smtClean="0">
                <a:solidFill>
                  <a:schemeClr val="accent5"/>
                </a:solidFill>
              </a:rPr>
              <a:t>}</a:t>
            </a:r>
            <a:endParaRPr lang="en-US" sz="1800" dirty="0">
              <a:solidFill>
                <a:schemeClr val="accent5"/>
              </a:solidFill>
            </a:endParaRPr>
          </a:p>
          <a:p>
            <a:pPr marL="0" indent="0">
              <a:buNone/>
            </a:pPr>
            <a:r>
              <a:rPr lang="en-US" sz="1800" dirty="0">
                <a:solidFill>
                  <a:schemeClr val="accent5"/>
                </a:solidFill>
              </a:rPr>
              <a:t>public class </a:t>
            </a:r>
            <a:r>
              <a:rPr lang="en-US" sz="1800" dirty="0" err="1">
                <a:solidFill>
                  <a:schemeClr val="accent5"/>
                </a:solidFill>
              </a:rPr>
              <a:t>StaticInitialization</a:t>
            </a:r>
            <a:r>
              <a:rPr lang="en-US" sz="1800" dirty="0">
                <a:solidFill>
                  <a:schemeClr val="accent5"/>
                </a:solidFill>
              </a:rPr>
              <a:t> {</a:t>
            </a:r>
          </a:p>
          <a:p>
            <a:pPr marL="0" indent="0">
              <a:buNone/>
            </a:pPr>
            <a:r>
              <a:rPr lang="en-US" sz="1800" dirty="0">
                <a:solidFill>
                  <a:schemeClr val="accent5"/>
                </a:solidFill>
              </a:rPr>
              <a:t>  public static void main(String[] </a:t>
            </a:r>
            <a:r>
              <a:rPr lang="en-US" sz="1800" dirty="0" err="1">
                <a:solidFill>
                  <a:schemeClr val="accent5"/>
                </a:solidFill>
              </a:rPr>
              <a:t>args</a:t>
            </a:r>
            <a:r>
              <a:rPr lang="en-US" sz="1800" dirty="0">
                <a:solidFill>
                  <a:schemeClr val="accent5"/>
                </a:solidFill>
              </a:rPr>
              <a:t>) {</a:t>
            </a:r>
          </a:p>
          <a:p>
            <a:pPr marL="0" indent="0">
              <a:buNone/>
            </a:pPr>
            <a:r>
              <a:rPr lang="en-US" sz="1800" dirty="0">
                <a:solidFill>
                  <a:schemeClr val="accent5"/>
                </a:solidFill>
              </a:rPr>
              <a:t>    new Cupboard();</a:t>
            </a:r>
          </a:p>
          <a:p>
            <a:pPr marL="0" indent="0">
              <a:buNone/>
            </a:pPr>
            <a:r>
              <a:rPr lang="en-US" sz="1800" dirty="0">
                <a:solidFill>
                  <a:schemeClr val="accent5"/>
                </a:solidFill>
              </a:rPr>
              <a:t>  }</a:t>
            </a:r>
          </a:p>
          <a:p>
            <a:pPr marL="0" indent="0">
              <a:buNone/>
            </a:pPr>
            <a:r>
              <a:rPr lang="en-US" sz="1800" dirty="0">
                <a:solidFill>
                  <a:schemeClr val="accent5"/>
                </a:solidFill>
              </a:rPr>
              <a:t>  static Table </a:t>
            </a:r>
            <a:r>
              <a:rPr lang="en-US" sz="1800" dirty="0" err="1">
                <a:solidFill>
                  <a:schemeClr val="accent5"/>
                </a:solidFill>
              </a:rPr>
              <a:t>table</a:t>
            </a:r>
            <a:r>
              <a:rPr lang="en-US" sz="1800" dirty="0">
                <a:solidFill>
                  <a:schemeClr val="accent5"/>
                </a:solidFill>
              </a:rPr>
              <a:t> = new Table();</a:t>
            </a:r>
          </a:p>
          <a:p>
            <a:pPr marL="0" indent="0">
              <a:buNone/>
            </a:pPr>
            <a:r>
              <a:rPr lang="en-US" sz="1800" dirty="0">
                <a:solidFill>
                  <a:schemeClr val="accent5"/>
                </a:solidFill>
              </a:rPr>
              <a:t>  static Cupboard </a:t>
            </a:r>
            <a:r>
              <a:rPr lang="en-US" sz="1800" dirty="0" err="1">
                <a:solidFill>
                  <a:schemeClr val="accent5"/>
                </a:solidFill>
              </a:rPr>
              <a:t>cupboard</a:t>
            </a:r>
            <a:r>
              <a:rPr lang="en-US" sz="1800" dirty="0">
                <a:solidFill>
                  <a:schemeClr val="accent5"/>
                </a:solidFill>
              </a:rPr>
              <a:t> = new Cupboard</a:t>
            </a:r>
            <a:r>
              <a:rPr lang="en-US" sz="1800" dirty="0" smtClean="0">
                <a:solidFill>
                  <a:schemeClr val="accent5"/>
                </a:solidFill>
              </a:rPr>
              <a:t>();</a:t>
            </a:r>
          </a:p>
          <a:p>
            <a:pPr marL="0" indent="0">
              <a:buNone/>
            </a:pPr>
            <a:r>
              <a:rPr lang="en-US" sz="1800" dirty="0">
                <a:solidFill>
                  <a:schemeClr val="accent5"/>
                </a:solidFill>
              </a:rPr>
              <a:t>}</a:t>
            </a:r>
          </a:p>
        </p:txBody>
      </p:sp>
      <p:sp>
        <p:nvSpPr>
          <p:cNvPr id="5" name="TextBox 4"/>
          <p:cNvSpPr txBox="1"/>
          <p:nvPr/>
        </p:nvSpPr>
        <p:spPr>
          <a:xfrm>
            <a:off x="9268178" y="1467556"/>
            <a:ext cx="2695221" cy="3139321"/>
          </a:xfrm>
          <a:prstGeom prst="rect">
            <a:avLst/>
          </a:prstGeom>
          <a:noFill/>
        </p:spPr>
        <p:txBody>
          <a:bodyPr wrap="square" rtlCol="0">
            <a:spAutoFit/>
          </a:bodyPr>
          <a:lstStyle/>
          <a:p>
            <a:r>
              <a:rPr lang="en-US" dirty="0" smtClean="0">
                <a:solidFill>
                  <a:schemeClr val="accent5"/>
                </a:solidFill>
              </a:rPr>
              <a:t>/* This program prints out:</a:t>
            </a:r>
          </a:p>
          <a:p>
            <a:r>
              <a:rPr lang="en-US" dirty="0">
                <a:solidFill>
                  <a:schemeClr val="accent5"/>
                </a:solidFill>
              </a:rPr>
              <a:t>Bowl(1)</a:t>
            </a:r>
          </a:p>
          <a:p>
            <a:r>
              <a:rPr lang="en-US" dirty="0">
                <a:solidFill>
                  <a:schemeClr val="accent5"/>
                </a:solidFill>
              </a:rPr>
              <a:t>Bowl(2)</a:t>
            </a:r>
          </a:p>
          <a:p>
            <a:r>
              <a:rPr lang="en-US" dirty="0">
                <a:solidFill>
                  <a:schemeClr val="accent5"/>
                </a:solidFill>
              </a:rPr>
              <a:t>Table()</a:t>
            </a:r>
          </a:p>
          <a:p>
            <a:r>
              <a:rPr lang="en-US" dirty="0">
                <a:solidFill>
                  <a:schemeClr val="accent5"/>
                </a:solidFill>
              </a:rPr>
              <a:t>Bowl(4)</a:t>
            </a:r>
          </a:p>
          <a:p>
            <a:r>
              <a:rPr lang="en-US" dirty="0">
                <a:solidFill>
                  <a:schemeClr val="accent5"/>
                </a:solidFill>
              </a:rPr>
              <a:t>Bowl(5)</a:t>
            </a:r>
          </a:p>
          <a:p>
            <a:r>
              <a:rPr lang="en-US" dirty="0">
                <a:solidFill>
                  <a:schemeClr val="accent5"/>
                </a:solidFill>
              </a:rPr>
              <a:t>Bowl(3)</a:t>
            </a:r>
          </a:p>
          <a:p>
            <a:r>
              <a:rPr lang="en-US" dirty="0">
                <a:solidFill>
                  <a:schemeClr val="accent5"/>
                </a:solidFill>
              </a:rPr>
              <a:t>Cupboard()</a:t>
            </a:r>
          </a:p>
          <a:p>
            <a:r>
              <a:rPr lang="en-US" dirty="0">
                <a:solidFill>
                  <a:schemeClr val="accent5"/>
                </a:solidFill>
              </a:rPr>
              <a:t>Bowl(3)</a:t>
            </a:r>
          </a:p>
          <a:p>
            <a:r>
              <a:rPr lang="en-US" dirty="0">
                <a:solidFill>
                  <a:schemeClr val="accent5"/>
                </a:solidFill>
              </a:rPr>
              <a:t>Cupboard()</a:t>
            </a:r>
            <a:endParaRPr lang="en-US" dirty="0" smtClean="0">
              <a:solidFill>
                <a:schemeClr val="accent5"/>
              </a:solidFill>
            </a:endParaRPr>
          </a:p>
          <a:p>
            <a:r>
              <a:rPr lang="en-US" dirty="0" smtClean="0">
                <a:solidFill>
                  <a:schemeClr val="accent5"/>
                </a:solidFill>
              </a:rPr>
              <a:t>*/</a:t>
            </a:r>
            <a:endParaRPr lang="en-US" dirty="0">
              <a:solidFill>
                <a:schemeClr val="accent5"/>
              </a:solidFill>
            </a:endParaRPr>
          </a:p>
        </p:txBody>
      </p:sp>
      <p:sp>
        <p:nvSpPr>
          <p:cNvPr id="6" name="Slide Number Placeholder 5"/>
          <p:cNvSpPr>
            <a:spLocks noGrp="1"/>
          </p:cNvSpPr>
          <p:nvPr>
            <p:ph type="sldNum" sz="quarter" idx="12"/>
          </p:nvPr>
        </p:nvSpPr>
        <p:spPr/>
        <p:txBody>
          <a:bodyPr/>
          <a:lstStyle/>
          <a:p>
            <a:fld id="{965D6772-41C1-4987-827C-16EA866C2326}" type="slidenum">
              <a:rPr lang="en-US" smtClean="0"/>
              <a:t>35</a:t>
            </a:fld>
            <a:endParaRPr lang="en-US"/>
          </a:p>
        </p:txBody>
      </p:sp>
    </p:spTree>
    <p:extLst>
      <p:ext uri="{BB962C8B-B14F-4D97-AF65-F5344CB8AC3E}">
        <p14:creationId xmlns:p14="http://schemas.microsoft.com/office/powerpoint/2010/main" val="23153086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Static Block</a:t>
            </a:r>
            <a:endParaRPr lang="en-US" dirty="0"/>
          </a:p>
        </p:txBody>
      </p:sp>
      <p:sp>
        <p:nvSpPr>
          <p:cNvPr id="3" name="Content Placeholder 2"/>
          <p:cNvSpPr>
            <a:spLocks noGrp="1"/>
          </p:cNvSpPr>
          <p:nvPr>
            <p:ph sz="half" idx="1"/>
          </p:nvPr>
        </p:nvSpPr>
        <p:spPr>
          <a:xfrm>
            <a:off x="838200" y="1825625"/>
            <a:ext cx="4580467" cy="4351338"/>
          </a:xfrm>
        </p:spPr>
        <p:txBody>
          <a:bodyPr>
            <a:normAutofit fontScale="92500" lnSpcReduction="20000"/>
          </a:bodyPr>
          <a:lstStyle/>
          <a:p>
            <a:r>
              <a:rPr lang="en-US" dirty="0" smtClean="0"/>
              <a:t>Use </a:t>
            </a:r>
            <a:r>
              <a:rPr lang="en-US" dirty="0" smtClean="0">
                <a:solidFill>
                  <a:srgbClr val="4472C4"/>
                </a:solidFill>
              </a:rPr>
              <a:t>static {…}</a:t>
            </a:r>
            <a:r>
              <a:rPr lang="en-US" dirty="0" smtClean="0"/>
              <a:t> in a class to initialize the static members</a:t>
            </a:r>
          </a:p>
          <a:p>
            <a:pPr marL="0" indent="0">
              <a:buNone/>
            </a:pPr>
            <a:endParaRPr lang="en-US" sz="2000" dirty="0"/>
          </a:p>
          <a:p>
            <a:pPr marL="0" indent="0">
              <a:buNone/>
            </a:pPr>
            <a:r>
              <a:rPr lang="en-US" sz="2000" dirty="0">
                <a:solidFill>
                  <a:schemeClr val="accent5"/>
                </a:solidFill>
              </a:rPr>
              <a:t>class Cup {</a:t>
            </a:r>
          </a:p>
          <a:p>
            <a:pPr marL="0" indent="0">
              <a:buNone/>
            </a:pPr>
            <a:r>
              <a:rPr lang="en-US" sz="2000" dirty="0">
                <a:solidFill>
                  <a:schemeClr val="accent5"/>
                </a:solidFill>
              </a:rPr>
              <a:t>  Cup(</a:t>
            </a:r>
            <a:r>
              <a:rPr lang="en-US" sz="2000" dirty="0" err="1">
                <a:solidFill>
                  <a:schemeClr val="accent5"/>
                </a:solidFill>
              </a:rPr>
              <a:t>int</a:t>
            </a:r>
            <a:r>
              <a:rPr lang="en-US" sz="2000" dirty="0">
                <a:solidFill>
                  <a:schemeClr val="accent5"/>
                </a:solidFill>
              </a:rPr>
              <a:t> marker) {</a:t>
            </a:r>
          </a:p>
          <a:p>
            <a:pPr marL="0" indent="0">
              <a:buNone/>
            </a:pPr>
            <a:r>
              <a:rPr lang="en-US" sz="2000" dirty="0">
                <a:solidFill>
                  <a:schemeClr val="accent5"/>
                </a:solidFill>
              </a:rPr>
              <a:t>    </a:t>
            </a:r>
            <a:r>
              <a:rPr lang="en-US" sz="2000" dirty="0" err="1">
                <a:solidFill>
                  <a:schemeClr val="accent5"/>
                </a:solidFill>
              </a:rPr>
              <a:t>System.out.println</a:t>
            </a:r>
            <a:r>
              <a:rPr lang="en-US" sz="2000" dirty="0">
                <a:solidFill>
                  <a:schemeClr val="accent5"/>
                </a:solidFill>
              </a:rPr>
              <a:t>("Cup(" + marker + ")");</a:t>
            </a:r>
          </a:p>
          <a:p>
            <a:pPr marL="0" indent="0">
              <a:buNone/>
            </a:pPr>
            <a:r>
              <a:rPr lang="en-US" sz="2000" dirty="0">
                <a:solidFill>
                  <a:schemeClr val="accent5"/>
                </a:solidFill>
              </a:rPr>
              <a:t>  }</a:t>
            </a:r>
          </a:p>
          <a:p>
            <a:pPr marL="0" indent="0">
              <a:buNone/>
            </a:pPr>
            <a:r>
              <a:rPr lang="en-US" sz="2000" dirty="0">
                <a:solidFill>
                  <a:schemeClr val="accent5"/>
                </a:solidFill>
              </a:rPr>
              <a:t>  void f(</a:t>
            </a:r>
            <a:r>
              <a:rPr lang="en-US" sz="2000" dirty="0" err="1">
                <a:solidFill>
                  <a:schemeClr val="accent5"/>
                </a:solidFill>
              </a:rPr>
              <a:t>int</a:t>
            </a:r>
            <a:r>
              <a:rPr lang="en-US" sz="2000" dirty="0">
                <a:solidFill>
                  <a:schemeClr val="accent5"/>
                </a:solidFill>
              </a:rPr>
              <a:t> marker) {</a:t>
            </a:r>
          </a:p>
          <a:p>
            <a:pPr marL="0" indent="0">
              <a:buNone/>
            </a:pPr>
            <a:r>
              <a:rPr lang="en-US" sz="2000" dirty="0">
                <a:solidFill>
                  <a:schemeClr val="accent5"/>
                </a:solidFill>
              </a:rPr>
              <a:t>    </a:t>
            </a:r>
            <a:r>
              <a:rPr lang="en-US" sz="2000" dirty="0" err="1">
                <a:solidFill>
                  <a:schemeClr val="accent5"/>
                </a:solidFill>
              </a:rPr>
              <a:t>System.out.println</a:t>
            </a:r>
            <a:r>
              <a:rPr lang="en-US" sz="2000" dirty="0">
                <a:solidFill>
                  <a:schemeClr val="accent5"/>
                </a:solidFill>
              </a:rPr>
              <a:t>("f(" + marker + ")");</a:t>
            </a:r>
          </a:p>
          <a:p>
            <a:pPr marL="0" indent="0">
              <a:buNone/>
            </a:pPr>
            <a:r>
              <a:rPr lang="en-US" sz="2000" dirty="0">
                <a:solidFill>
                  <a:schemeClr val="accent5"/>
                </a:solidFill>
              </a:rPr>
              <a:t>  }</a:t>
            </a:r>
          </a:p>
          <a:p>
            <a:pPr marL="0" indent="0">
              <a:buNone/>
            </a:pPr>
            <a:r>
              <a:rPr lang="en-US" sz="2000" dirty="0">
                <a:solidFill>
                  <a:schemeClr val="accent5"/>
                </a:solidFill>
              </a:rPr>
              <a:t>}</a:t>
            </a:r>
          </a:p>
        </p:txBody>
      </p:sp>
      <p:sp>
        <p:nvSpPr>
          <p:cNvPr id="4" name="Content Placeholder 3"/>
          <p:cNvSpPr>
            <a:spLocks noGrp="1"/>
          </p:cNvSpPr>
          <p:nvPr>
            <p:ph sz="half" idx="2"/>
          </p:nvPr>
        </p:nvSpPr>
        <p:spPr>
          <a:xfrm>
            <a:off x="5788378" y="733778"/>
            <a:ext cx="4055533" cy="5689600"/>
          </a:xfrm>
        </p:spPr>
        <p:txBody>
          <a:bodyPr>
            <a:normAutofit fontScale="92500" lnSpcReduction="20000"/>
          </a:bodyPr>
          <a:lstStyle/>
          <a:p>
            <a:pPr marL="0" indent="0">
              <a:buNone/>
            </a:pPr>
            <a:r>
              <a:rPr lang="en-US" sz="2000" dirty="0">
                <a:solidFill>
                  <a:schemeClr val="accent5"/>
                </a:solidFill>
              </a:rPr>
              <a:t>class Cups {</a:t>
            </a:r>
          </a:p>
          <a:p>
            <a:pPr marL="0" indent="0">
              <a:buNone/>
            </a:pPr>
            <a:r>
              <a:rPr lang="en-US" sz="2000" dirty="0">
                <a:solidFill>
                  <a:schemeClr val="accent5"/>
                </a:solidFill>
              </a:rPr>
              <a:t>  static Cup cup1;</a:t>
            </a:r>
          </a:p>
          <a:p>
            <a:pPr marL="0" indent="0">
              <a:buNone/>
            </a:pPr>
            <a:r>
              <a:rPr lang="en-US" sz="2000" dirty="0">
                <a:solidFill>
                  <a:schemeClr val="accent5"/>
                </a:solidFill>
              </a:rPr>
              <a:t>  static Cup cup2;</a:t>
            </a:r>
          </a:p>
          <a:p>
            <a:pPr marL="0" indent="0">
              <a:buNone/>
            </a:pPr>
            <a:r>
              <a:rPr lang="en-US" sz="2000" dirty="0">
                <a:solidFill>
                  <a:schemeClr val="accent5"/>
                </a:solidFill>
              </a:rPr>
              <a:t>  </a:t>
            </a:r>
            <a:r>
              <a:rPr lang="en-US" sz="2000" dirty="0">
                <a:solidFill>
                  <a:srgbClr val="FF0000"/>
                </a:solidFill>
              </a:rPr>
              <a:t>static</a:t>
            </a:r>
            <a:r>
              <a:rPr lang="en-US" sz="2000" dirty="0">
                <a:solidFill>
                  <a:schemeClr val="accent5"/>
                </a:solidFill>
              </a:rPr>
              <a:t> {</a:t>
            </a:r>
          </a:p>
          <a:p>
            <a:pPr marL="0" indent="0">
              <a:buNone/>
            </a:pPr>
            <a:r>
              <a:rPr lang="en-US" sz="2000" dirty="0">
                <a:solidFill>
                  <a:schemeClr val="accent5"/>
                </a:solidFill>
              </a:rPr>
              <a:t>    cup1 = new Cup(1);</a:t>
            </a:r>
          </a:p>
          <a:p>
            <a:pPr marL="0" indent="0">
              <a:buNone/>
            </a:pPr>
            <a:r>
              <a:rPr lang="en-US" sz="2000" dirty="0">
                <a:solidFill>
                  <a:schemeClr val="accent5"/>
                </a:solidFill>
              </a:rPr>
              <a:t>    cup2 = new Cup(2);</a:t>
            </a:r>
          </a:p>
          <a:p>
            <a:pPr marL="0" indent="0">
              <a:buNone/>
            </a:pPr>
            <a:r>
              <a:rPr lang="en-US" sz="2000" dirty="0">
                <a:solidFill>
                  <a:schemeClr val="accent5"/>
                </a:solidFill>
              </a:rPr>
              <a:t>  }</a:t>
            </a:r>
          </a:p>
          <a:p>
            <a:pPr marL="0" indent="0">
              <a:buNone/>
            </a:pPr>
            <a:r>
              <a:rPr lang="en-US" sz="2000" dirty="0">
                <a:solidFill>
                  <a:schemeClr val="accent5"/>
                </a:solidFill>
              </a:rPr>
              <a:t>  Cups() {</a:t>
            </a:r>
          </a:p>
          <a:p>
            <a:pPr marL="0" indent="0">
              <a:buNone/>
            </a:pPr>
            <a:r>
              <a:rPr lang="en-US" sz="2000" dirty="0">
                <a:solidFill>
                  <a:schemeClr val="accent5"/>
                </a:solidFill>
              </a:rPr>
              <a:t>    </a:t>
            </a:r>
            <a:r>
              <a:rPr lang="en-US" sz="2000" dirty="0" err="1">
                <a:solidFill>
                  <a:schemeClr val="accent5"/>
                </a:solidFill>
              </a:rPr>
              <a:t>System.out.println</a:t>
            </a:r>
            <a:r>
              <a:rPr lang="en-US" sz="2000" dirty="0">
                <a:solidFill>
                  <a:schemeClr val="accent5"/>
                </a:solidFill>
              </a:rPr>
              <a:t>("Cups()");</a:t>
            </a:r>
          </a:p>
          <a:p>
            <a:pPr marL="0" indent="0">
              <a:buNone/>
            </a:pPr>
            <a:r>
              <a:rPr lang="en-US" sz="2000" dirty="0">
                <a:solidFill>
                  <a:schemeClr val="accent5"/>
                </a:solidFill>
              </a:rPr>
              <a:t>  }</a:t>
            </a:r>
          </a:p>
          <a:p>
            <a:pPr marL="0" indent="0">
              <a:buNone/>
            </a:pPr>
            <a:r>
              <a:rPr lang="en-US" sz="2000" dirty="0" smtClean="0">
                <a:solidFill>
                  <a:schemeClr val="accent5"/>
                </a:solidFill>
              </a:rPr>
              <a:t>}</a:t>
            </a:r>
            <a:endParaRPr lang="en-US" sz="2000" dirty="0">
              <a:solidFill>
                <a:schemeClr val="accent5"/>
              </a:solidFill>
            </a:endParaRPr>
          </a:p>
          <a:p>
            <a:pPr marL="0" indent="0">
              <a:buNone/>
            </a:pPr>
            <a:r>
              <a:rPr lang="en-US" sz="2000" dirty="0">
                <a:solidFill>
                  <a:schemeClr val="accent5"/>
                </a:solidFill>
              </a:rPr>
              <a:t>public class </a:t>
            </a:r>
            <a:r>
              <a:rPr lang="en-US" sz="2000" dirty="0" err="1">
                <a:solidFill>
                  <a:schemeClr val="accent5"/>
                </a:solidFill>
              </a:rPr>
              <a:t>ExplicitStatic</a:t>
            </a:r>
            <a:r>
              <a:rPr lang="en-US" sz="2000" dirty="0">
                <a:solidFill>
                  <a:schemeClr val="accent5"/>
                </a:solidFill>
              </a:rPr>
              <a:t> {</a:t>
            </a:r>
          </a:p>
          <a:p>
            <a:pPr marL="0" indent="0">
              <a:buNone/>
            </a:pPr>
            <a:r>
              <a:rPr lang="en-US" sz="2000" dirty="0">
                <a:solidFill>
                  <a:schemeClr val="accent5"/>
                </a:solidFill>
              </a:rPr>
              <a:t>  public static void main(String[] </a:t>
            </a:r>
            <a:r>
              <a:rPr lang="en-US" sz="2000" dirty="0" err="1">
                <a:solidFill>
                  <a:schemeClr val="accent5"/>
                </a:solidFill>
              </a:rPr>
              <a:t>args</a:t>
            </a:r>
            <a:r>
              <a:rPr lang="en-US" sz="2000" dirty="0">
                <a:solidFill>
                  <a:schemeClr val="accent5"/>
                </a:solidFill>
              </a:rPr>
              <a:t>) {</a:t>
            </a:r>
          </a:p>
          <a:p>
            <a:pPr marL="0" indent="0">
              <a:buNone/>
            </a:pPr>
            <a:r>
              <a:rPr lang="en-US" sz="2000" dirty="0">
                <a:solidFill>
                  <a:schemeClr val="accent5"/>
                </a:solidFill>
              </a:rPr>
              <a:t>    </a:t>
            </a:r>
            <a:r>
              <a:rPr lang="en-US" sz="2000" dirty="0" err="1">
                <a:solidFill>
                  <a:schemeClr val="accent5"/>
                </a:solidFill>
              </a:rPr>
              <a:t>System.out.println</a:t>
            </a:r>
            <a:r>
              <a:rPr lang="en-US" sz="2000" dirty="0">
                <a:solidFill>
                  <a:schemeClr val="accent5"/>
                </a:solidFill>
              </a:rPr>
              <a:t>("Inside main()");</a:t>
            </a:r>
          </a:p>
          <a:p>
            <a:pPr marL="0" indent="0">
              <a:buNone/>
            </a:pPr>
            <a:r>
              <a:rPr lang="en-US" sz="2000" dirty="0">
                <a:solidFill>
                  <a:schemeClr val="accent5"/>
                </a:solidFill>
              </a:rPr>
              <a:t>    Cups.cup1.f(99);</a:t>
            </a:r>
          </a:p>
          <a:p>
            <a:pPr marL="0" indent="0">
              <a:buNone/>
            </a:pPr>
            <a:r>
              <a:rPr lang="en-US" sz="2000" dirty="0">
                <a:solidFill>
                  <a:schemeClr val="accent5"/>
                </a:solidFill>
              </a:rPr>
              <a:t>  </a:t>
            </a:r>
            <a:r>
              <a:rPr lang="en-US" sz="2000" dirty="0" smtClean="0">
                <a:solidFill>
                  <a:schemeClr val="accent5"/>
                </a:solidFill>
              </a:rPr>
              <a:t>}</a:t>
            </a:r>
          </a:p>
          <a:p>
            <a:pPr marL="0" indent="0">
              <a:buNone/>
            </a:pPr>
            <a:r>
              <a:rPr lang="en-US" sz="2000" dirty="0">
                <a:solidFill>
                  <a:schemeClr val="accent5"/>
                </a:solidFill>
              </a:rPr>
              <a:t>}</a:t>
            </a:r>
          </a:p>
        </p:txBody>
      </p:sp>
      <p:sp>
        <p:nvSpPr>
          <p:cNvPr id="5" name="TextBox 4"/>
          <p:cNvSpPr txBox="1"/>
          <p:nvPr/>
        </p:nvSpPr>
        <p:spPr>
          <a:xfrm>
            <a:off x="9413523" y="1690688"/>
            <a:ext cx="2695221" cy="1754326"/>
          </a:xfrm>
          <a:prstGeom prst="rect">
            <a:avLst/>
          </a:prstGeom>
          <a:noFill/>
        </p:spPr>
        <p:txBody>
          <a:bodyPr wrap="square" rtlCol="0">
            <a:spAutoFit/>
          </a:bodyPr>
          <a:lstStyle/>
          <a:p>
            <a:r>
              <a:rPr lang="en-US" dirty="0" smtClean="0">
                <a:solidFill>
                  <a:schemeClr val="accent5"/>
                </a:solidFill>
              </a:rPr>
              <a:t>/* This program prints out:</a:t>
            </a:r>
          </a:p>
          <a:p>
            <a:r>
              <a:rPr lang="en-US" dirty="0">
                <a:solidFill>
                  <a:schemeClr val="accent5"/>
                </a:solidFill>
              </a:rPr>
              <a:t>Inside main()</a:t>
            </a:r>
          </a:p>
          <a:p>
            <a:r>
              <a:rPr lang="en-US" dirty="0">
                <a:solidFill>
                  <a:schemeClr val="accent5"/>
                </a:solidFill>
              </a:rPr>
              <a:t>Cup(1)</a:t>
            </a:r>
          </a:p>
          <a:p>
            <a:r>
              <a:rPr lang="en-US" dirty="0">
                <a:solidFill>
                  <a:schemeClr val="accent5"/>
                </a:solidFill>
              </a:rPr>
              <a:t>Cup(2)</a:t>
            </a:r>
          </a:p>
          <a:p>
            <a:r>
              <a:rPr lang="en-US" dirty="0">
                <a:solidFill>
                  <a:schemeClr val="accent5"/>
                </a:solidFill>
              </a:rPr>
              <a:t>f(99)</a:t>
            </a:r>
          </a:p>
          <a:p>
            <a:r>
              <a:rPr lang="en-US" dirty="0" smtClean="0">
                <a:solidFill>
                  <a:schemeClr val="accent5"/>
                </a:solidFill>
              </a:rPr>
              <a:t>*/</a:t>
            </a:r>
            <a:endParaRPr lang="en-US" dirty="0">
              <a:solidFill>
                <a:schemeClr val="accent5"/>
              </a:solidFill>
            </a:endParaRPr>
          </a:p>
        </p:txBody>
      </p:sp>
      <p:sp>
        <p:nvSpPr>
          <p:cNvPr id="6" name="Slide Number Placeholder 5"/>
          <p:cNvSpPr>
            <a:spLocks noGrp="1"/>
          </p:cNvSpPr>
          <p:nvPr>
            <p:ph type="sldNum" sz="quarter" idx="12"/>
          </p:nvPr>
        </p:nvSpPr>
        <p:spPr/>
        <p:txBody>
          <a:bodyPr/>
          <a:lstStyle/>
          <a:p>
            <a:fld id="{965D6772-41C1-4987-827C-16EA866C2326}" type="slidenum">
              <a:rPr lang="en-US" smtClean="0"/>
              <a:t>36</a:t>
            </a:fld>
            <a:endParaRPr lang="en-US"/>
          </a:p>
        </p:txBody>
      </p:sp>
    </p:spTree>
    <p:extLst>
      <p:ext uri="{BB962C8B-B14F-4D97-AF65-F5344CB8AC3E}">
        <p14:creationId xmlns:p14="http://schemas.microsoft.com/office/powerpoint/2010/main" val="26561224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421" y="161925"/>
            <a:ext cx="10515600" cy="1325563"/>
          </a:xfrm>
        </p:spPr>
        <p:txBody>
          <a:bodyPr/>
          <a:lstStyle/>
          <a:p>
            <a:r>
              <a:rPr lang="en-US" dirty="0" smtClean="0"/>
              <a:t>Instance Initialization Block</a:t>
            </a:r>
            <a:endParaRPr lang="en-US" dirty="0"/>
          </a:p>
        </p:txBody>
      </p:sp>
      <p:sp>
        <p:nvSpPr>
          <p:cNvPr id="3" name="Content Placeholder 2"/>
          <p:cNvSpPr>
            <a:spLocks noGrp="1"/>
          </p:cNvSpPr>
          <p:nvPr>
            <p:ph sz="half" idx="1"/>
          </p:nvPr>
        </p:nvSpPr>
        <p:spPr/>
        <p:txBody>
          <a:bodyPr>
            <a:normAutofit fontScale="92500" lnSpcReduction="20000"/>
          </a:bodyPr>
          <a:lstStyle/>
          <a:p>
            <a:r>
              <a:rPr lang="en-US" sz="2600" dirty="0" smtClean="0"/>
              <a:t>Use </a:t>
            </a:r>
            <a:r>
              <a:rPr lang="en-US" sz="2600" dirty="0" smtClean="0">
                <a:solidFill>
                  <a:schemeClr val="accent5"/>
                </a:solidFill>
              </a:rPr>
              <a:t>{…}</a:t>
            </a:r>
            <a:r>
              <a:rPr lang="en-US" sz="2600" dirty="0" smtClean="0"/>
              <a:t> outside any methods in a class to initialize instance members</a:t>
            </a:r>
          </a:p>
          <a:p>
            <a:r>
              <a:rPr lang="en-US" sz="2600" dirty="0" smtClean="0"/>
              <a:t>Compiler executes this block before calling </a:t>
            </a:r>
            <a:r>
              <a:rPr lang="en-US" sz="2600" dirty="0" smtClean="0">
                <a:solidFill>
                  <a:srgbClr val="FF0000"/>
                </a:solidFill>
              </a:rPr>
              <a:t>any</a:t>
            </a:r>
            <a:r>
              <a:rPr lang="en-US" sz="2600" dirty="0" smtClean="0"/>
              <a:t> constructor</a:t>
            </a:r>
          </a:p>
          <a:p>
            <a:endParaRPr lang="en-US" sz="2400" dirty="0" smtClean="0"/>
          </a:p>
          <a:p>
            <a:pPr marL="0" indent="0">
              <a:buNone/>
            </a:pPr>
            <a:r>
              <a:rPr lang="en-US" sz="2200" dirty="0">
                <a:solidFill>
                  <a:schemeClr val="accent5"/>
                </a:solidFill>
              </a:rPr>
              <a:t>class Mug {</a:t>
            </a:r>
          </a:p>
          <a:p>
            <a:pPr marL="0" indent="0">
              <a:buNone/>
            </a:pPr>
            <a:r>
              <a:rPr lang="en-US" sz="2200" dirty="0">
                <a:solidFill>
                  <a:schemeClr val="accent5"/>
                </a:solidFill>
              </a:rPr>
              <a:t>  Mug(</a:t>
            </a:r>
            <a:r>
              <a:rPr lang="en-US" sz="2200" dirty="0" err="1">
                <a:solidFill>
                  <a:schemeClr val="accent5"/>
                </a:solidFill>
              </a:rPr>
              <a:t>int</a:t>
            </a:r>
            <a:r>
              <a:rPr lang="en-US" sz="2200" dirty="0">
                <a:solidFill>
                  <a:schemeClr val="accent5"/>
                </a:solidFill>
              </a:rPr>
              <a:t> marker) {</a:t>
            </a:r>
          </a:p>
          <a:p>
            <a:pPr marL="0" indent="0">
              <a:buNone/>
            </a:pPr>
            <a:r>
              <a:rPr lang="en-US" sz="2200" dirty="0">
                <a:solidFill>
                  <a:schemeClr val="accent5"/>
                </a:solidFill>
              </a:rPr>
              <a:t>    </a:t>
            </a:r>
            <a:r>
              <a:rPr lang="en-US" sz="2200" dirty="0" err="1">
                <a:solidFill>
                  <a:schemeClr val="accent5"/>
                </a:solidFill>
              </a:rPr>
              <a:t>System.out.println</a:t>
            </a:r>
            <a:r>
              <a:rPr lang="en-US" sz="2200" dirty="0">
                <a:solidFill>
                  <a:schemeClr val="accent5"/>
                </a:solidFill>
              </a:rPr>
              <a:t>("Mug(" + marker + ")");</a:t>
            </a:r>
          </a:p>
          <a:p>
            <a:pPr marL="0" indent="0">
              <a:buNone/>
            </a:pPr>
            <a:r>
              <a:rPr lang="en-US" sz="2200" dirty="0">
                <a:solidFill>
                  <a:schemeClr val="accent5"/>
                </a:solidFill>
              </a:rPr>
              <a:t>  }</a:t>
            </a:r>
          </a:p>
          <a:p>
            <a:pPr marL="0" indent="0">
              <a:buNone/>
            </a:pPr>
            <a:r>
              <a:rPr lang="en-US" sz="2200" dirty="0">
                <a:solidFill>
                  <a:schemeClr val="accent5"/>
                </a:solidFill>
              </a:rPr>
              <a:t>}</a:t>
            </a:r>
          </a:p>
        </p:txBody>
      </p:sp>
      <p:sp>
        <p:nvSpPr>
          <p:cNvPr id="4" name="Content Placeholder 3"/>
          <p:cNvSpPr>
            <a:spLocks noGrp="1"/>
          </p:cNvSpPr>
          <p:nvPr>
            <p:ph sz="half" idx="2"/>
          </p:nvPr>
        </p:nvSpPr>
        <p:spPr>
          <a:xfrm>
            <a:off x="6262511" y="440266"/>
            <a:ext cx="4495800" cy="6197599"/>
          </a:xfrm>
        </p:spPr>
        <p:txBody>
          <a:bodyPr>
            <a:normAutofit fontScale="92500" lnSpcReduction="20000"/>
          </a:bodyPr>
          <a:lstStyle/>
          <a:p>
            <a:pPr marL="0" indent="0">
              <a:buNone/>
            </a:pPr>
            <a:r>
              <a:rPr lang="en-US" sz="1800" dirty="0">
                <a:solidFill>
                  <a:schemeClr val="accent5"/>
                </a:solidFill>
              </a:rPr>
              <a:t>public class Mugs {</a:t>
            </a:r>
          </a:p>
          <a:p>
            <a:pPr marL="0" indent="0">
              <a:buNone/>
            </a:pPr>
            <a:r>
              <a:rPr lang="en-US" sz="1800" dirty="0">
                <a:solidFill>
                  <a:schemeClr val="accent5"/>
                </a:solidFill>
              </a:rPr>
              <a:t>  Mug mug1;</a:t>
            </a:r>
          </a:p>
          <a:p>
            <a:pPr marL="0" indent="0">
              <a:buNone/>
            </a:pPr>
            <a:r>
              <a:rPr lang="en-US" sz="1800" dirty="0">
                <a:solidFill>
                  <a:schemeClr val="accent5"/>
                </a:solidFill>
              </a:rPr>
              <a:t>  Mug mug2;</a:t>
            </a:r>
          </a:p>
          <a:p>
            <a:pPr marL="0" indent="0">
              <a:buNone/>
            </a:pPr>
            <a:r>
              <a:rPr lang="en-US" sz="1800" dirty="0">
                <a:solidFill>
                  <a:schemeClr val="accent5"/>
                </a:solidFill>
              </a:rPr>
              <a:t>  {</a:t>
            </a:r>
          </a:p>
          <a:p>
            <a:pPr marL="0" indent="0">
              <a:buNone/>
            </a:pPr>
            <a:r>
              <a:rPr lang="en-US" sz="1800" dirty="0">
                <a:solidFill>
                  <a:schemeClr val="accent5"/>
                </a:solidFill>
              </a:rPr>
              <a:t>    mug1 = new Mug(1);</a:t>
            </a:r>
          </a:p>
          <a:p>
            <a:pPr marL="0" indent="0">
              <a:buNone/>
            </a:pPr>
            <a:r>
              <a:rPr lang="en-US" sz="1800" dirty="0">
                <a:solidFill>
                  <a:schemeClr val="accent5"/>
                </a:solidFill>
              </a:rPr>
              <a:t>    mug2 = new Mug(2);</a:t>
            </a:r>
          </a:p>
          <a:p>
            <a:pPr marL="0" indent="0">
              <a:buNone/>
            </a:pPr>
            <a:r>
              <a:rPr lang="en-US" sz="1800" dirty="0">
                <a:solidFill>
                  <a:schemeClr val="accent5"/>
                </a:solidFill>
              </a:rPr>
              <a:t>    </a:t>
            </a:r>
            <a:r>
              <a:rPr lang="en-US" sz="1800" dirty="0" err="1">
                <a:solidFill>
                  <a:schemeClr val="accent5"/>
                </a:solidFill>
              </a:rPr>
              <a:t>System.out.println</a:t>
            </a:r>
            <a:r>
              <a:rPr lang="en-US" sz="1800" dirty="0">
                <a:solidFill>
                  <a:schemeClr val="accent5"/>
                </a:solidFill>
              </a:rPr>
              <a:t>("mug1 &amp; mug2 initialized");</a:t>
            </a:r>
          </a:p>
          <a:p>
            <a:pPr marL="0" indent="0">
              <a:buNone/>
            </a:pPr>
            <a:r>
              <a:rPr lang="en-US" sz="1800" dirty="0">
                <a:solidFill>
                  <a:schemeClr val="accent5"/>
                </a:solidFill>
              </a:rPr>
              <a:t>  }</a:t>
            </a:r>
          </a:p>
          <a:p>
            <a:pPr marL="0" indent="0">
              <a:buNone/>
            </a:pPr>
            <a:r>
              <a:rPr lang="en-US" sz="1800" dirty="0">
                <a:solidFill>
                  <a:schemeClr val="accent5"/>
                </a:solidFill>
              </a:rPr>
              <a:t>  Mugs() {</a:t>
            </a:r>
          </a:p>
          <a:p>
            <a:pPr marL="0" indent="0">
              <a:buNone/>
            </a:pPr>
            <a:r>
              <a:rPr lang="en-US" sz="1800" dirty="0">
                <a:solidFill>
                  <a:schemeClr val="accent5"/>
                </a:solidFill>
              </a:rPr>
              <a:t>    </a:t>
            </a:r>
            <a:r>
              <a:rPr lang="en-US" sz="1800" dirty="0" err="1">
                <a:solidFill>
                  <a:schemeClr val="accent5"/>
                </a:solidFill>
              </a:rPr>
              <a:t>System.out.println</a:t>
            </a:r>
            <a:r>
              <a:rPr lang="en-US" sz="1800" dirty="0">
                <a:solidFill>
                  <a:schemeClr val="accent5"/>
                </a:solidFill>
              </a:rPr>
              <a:t>("Mugs()");</a:t>
            </a:r>
          </a:p>
          <a:p>
            <a:pPr marL="0" indent="0">
              <a:buNone/>
            </a:pPr>
            <a:r>
              <a:rPr lang="en-US" sz="1800" dirty="0">
                <a:solidFill>
                  <a:schemeClr val="accent5"/>
                </a:solidFill>
              </a:rPr>
              <a:t>  }</a:t>
            </a:r>
          </a:p>
          <a:p>
            <a:pPr marL="0" indent="0">
              <a:buNone/>
            </a:pPr>
            <a:r>
              <a:rPr lang="en-US" sz="1800" dirty="0">
                <a:solidFill>
                  <a:schemeClr val="accent5"/>
                </a:solidFill>
              </a:rPr>
              <a:t>  Mugs(</a:t>
            </a:r>
            <a:r>
              <a:rPr lang="en-US" sz="1800" dirty="0" err="1">
                <a:solidFill>
                  <a:schemeClr val="accent5"/>
                </a:solidFill>
              </a:rPr>
              <a:t>int</a:t>
            </a:r>
            <a:r>
              <a:rPr lang="en-US" sz="1800" dirty="0">
                <a:solidFill>
                  <a:schemeClr val="accent5"/>
                </a:solidFill>
              </a:rPr>
              <a:t> </a:t>
            </a:r>
            <a:r>
              <a:rPr lang="en-US" sz="1800" dirty="0" err="1">
                <a:solidFill>
                  <a:schemeClr val="accent5"/>
                </a:solidFill>
              </a:rPr>
              <a:t>i</a:t>
            </a:r>
            <a:r>
              <a:rPr lang="en-US" sz="1800" dirty="0">
                <a:solidFill>
                  <a:schemeClr val="accent5"/>
                </a:solidFill>
              </a:rPr>
              <a:t>) {</a:t>
            </a:r>
          </a:p>
          <a:p>
            <a:pPr marL="0" indent="0">
              <a:buNone/>
            </a:pPr>
            <a:r>
              <a:rPr lang="en-US" sz="1800" dirty="0">
                <a:solidFill>
                  <a:schemeClr val="accent5"/>
                </a:solidFill>
              </a:rPr>
              <a:t>    </a:t>
            </a:r>
            <a:r>
              <a:rPr lang="en-US" sz="1800" dirty="0" err="1">
                <a:solidFill>
                  <a:schemeClr val="accent5"/>
                </a:solidFill>
              </a:rPr>
              <a:t>System.out.println</a:t>
            </a:r>
            <a:r>
              <a:rPr lang="en-US" sz="1800" dirty="0">
                <a:solidFill>
                  <a:schemeClr val="accent5"/>
                </a:solidFill>
              </a:rPr>
              <a:t>("Mugs(</a:t>
            </a:r>
            <a:r>
              <a:rPr lang="en-US" sz="1800" dirty="0" err="1">
                <a:solidFill>
                  <a:schemeClr val="accent5"/>
                </a:solidFill>
              </a:rPr>
              <a:t>int</a:t>
            </a:r>
            <a:r>
              <a:rPr lang="en-US" sz="1800" dirty="0">
                <a:solidFill>
                  <a:schemeClr val="accent5"/>
                </a:solidFill>
              </a:rPr>
              <a:t>)");</a:t>
            </a:r>
          </a:p>
          <a:p>
            <a:pPr marL="0" indent="0">
              <a:buNone/>
            </a:pPr>
            <a:r>
              <a:rPr lang="en-US" sz="1800" dirty="0">
                <a:solidFill>
                  <a:schemeClr val="accent5"/>
                </a:solidFill>
              </a:rPr>
              <a:t>  }</a:t>
            </a:r>
          </a:p>
          <a:p>
            <a:pPr marL="0" indent="0">
              <a:buNone/>
            </a:pPr>
            <a:r>
              <a:rPr lang="en-US" sz="1800" dirty="0">
                <a:solidFill>
                  <a:schemeClr val="accent5"/>
                </a:solidFill>
              </a:rPr>
              <a:t>  public static void main(String[] </a:t>
            </a:r>
            <a:r>
              <a:rPr lang="en-US" sz="1800" dirty="0" err="1">
                <a:solidFill>
                  <a:schemeClr val="accent5"/>
                </a:solidFill>
              </a:rPr>
              <a:t>args</a:t>
            </a:r>
            <a:r>
              <a:rPr lang="en-US" sz="1800" dirty="0">
                <a:solidFill>
                  <a:schemeClr val="accent5"/>
                </a:solidFill>
              </a:rPr>
              <a:t>) {</a:t>
            </a:r>
          </a:p>
          <a:p>
            <a:pPr marL="0" indent="0">
              <a:buNone/>
            </a:pPr>
            <a:r>
              <a:rPr lang="en-US" sz="1800" dirty="0">
                <a:solidFill>
                  <a:schemeClr val="accent5"/>
                </a:solidFill>
              </a:rPr>
              <a:t>    </a:t>
            </a:r>
            <a:r>
              <a:rPr lang="en-US" sz="1800" dirty="0" err="1">
                <a:solidFill>
                  <a:schemeClr val="accent5"/>
                </a:solidFill>
              </a:rPr>
              <a:t>System.out.println</a:t>
            </a:r>
            <a:r>
              <a:rPr lang="en-US" sz="1800" dirty="0">
                <a:solidFill>
                  <a:schemeClr val="accent5"/>
                </a:solidFill>
              </a:rPr>
              <a:t>("Inside main()");</a:t>
            </a:r>
          </a:p>
          <a:p>
            <a:pPr marL="0" indent="0">
              <a:buNone/>
            </a:pPr>
            <a:r>
              <a:rPr lang="en-US" sz="1800" dirty="0">
                <a:solidFill>
                  <a:schemeClr val="accent5"/>
                </a:solidFill>
              </a:rPr>
              <a:t>    new Mugs();</a:t>
            </a:r>
          </a:p>
          <a:p>
            <a:pPr marL="0" indent="0">
              <a:buNone/>
            </a:pPr>
            <a:r>
              <a:rPr lang="en-US" sz="1800" dirty="0">
                <a:solidFill>
                  <a:schemeClr val="accent5"/>
                </a:solidFill>
              </a:rPr>
              <a:t>    new Mugs(1);</a:t>
            </a:r>
          </a:p>
          <a:p>
            <a:pPr marL="0" indent="0">
              <a:buNone/>
            </a:pPr>
            <a:r>
              <a:rPr lang="en-US" sz="1800" dirty="0">
                <a:solidFill>
                  <a:schemeClr val="accent5"/>
                </a:solidFill>
              </a:rPr>
              <a:t>  }</a:t>
            </a:r>
          </a:p>
          <a:p>
            <a:pPr marL="0" indent="0">
              <a:buNone/>
            </a:pPr>
            <a:r>
              <a:rPr lang="en-US" sz="1800" dirty="0">
                <a:solidFill>
                  <a:schemeClr val="accent5"/>
                </a:solidFill>
              </a:rPr>
              <a:t>}</a:t>
            </a:r>
          </a:p>
        </p:txBody>
      </p:sp>
      <p:sp>
        <p:nvSpPr>
          <p:cNvPr id="5" name="TextBox 4"/>
          <p:cNvSpPr txBox="1"/>
          <p:nvPr/>
        </p:nvSpPr>
        <p:spPr>
          <a:xfrm>
            <a:off x="9894710" y="2662293"/>
            <a:ext cx="2212623" cy="2800767"/>
          </a:xfrm>
          <a:prstGeom prst="rect">
            <a:avLst/>
          </a:prstGeom>
          <a:noFill/>
        </p:spPr>
        <p:txBody>
          <a:bodyPr wrap="square" rtlCol="0">
            <a:spAutoFit/>
          </a:bodyPr>
          <a:lstStyle/>
          <a:p>
            <a:r>
              <a:rPr lang="en-US" sz="1600" dirty="0" smtClean="0">
                <a:solidFill>
                  <a:schemeClr val="accent5"/>
                </a:solidFill>
              </a:rPr>
              <a:t>/* Output:</a:t>
            </a:r>
          </a:p>
          <a:p>
            <a:r>
              <a:rPr lang="en-US" sz="1600" dirty="0">
                <a:solidFill>
                  <a:schemeClr val="accent5"/>
                </a:solidFill>
              </a:rPr>
              <a:t>Inside main()</a:t>
            </a:r>
          </a:p>
          <a:p>
            <a:r>
              <a:rPr lang="en-US" sz="1600" dirty="0">
                <a:solidFill>
                  <a:schemeClr val="accent5"/>
                </a:solidFill>
              </a:rPr>
              <a:t>Mug(1)</a:t>
            </a:r>
          </a:p>
          <a:p>
            <a:r>
              <a:rPr lang="en-US" sz="1600" dirty="0">
                <a:solidFill>
                  <a:schemeClr val="accent5"/>
                </a:solidFill>
              </a:rPr>
              <a:t>Mug(2)</a:t>
            </a:r>
          </a:p>
          <a:p>
            <a:r>
              <a:rPr lang="en-US" sz="1600" dirty="0">
                <a:solidFill>
                  <a:schemeClr val="accent5"/>
                </a:solidFill>
              </a:rPr>
              <a:t>mug1 &amp; mug2 initialized</a:t>
            </a:r>
          </a:p>
          <a:p>
            <a:r>
              <a:rPr lang="en-US" sz="1600" dirty="0">
                <a:solidFill>
                  <a:schemeClr val="accent5"/>
                </a:solidFill>
              </a:rPr>
              <a:t>Mugs()</a:t>
            </a:r>
          </a:p>
          <a:p>
            <a:r>
              <a:rPr lang="en-US" sz="1600" dirty="0">
                <a:solidFill>
                  <a:schemeClr val="accent5"/>
                </a:solidFill>
              </a:rPr>
              <a:t>Mug(1)</a:t>
            </a:r>
          </a:p>
          <a:p>
            <a:r>
              <a:rPr lang="en-US" sz="1600" dirty="0">
                <a:solidFill>
                  <a:schemeClr val="accent5"/>
                </a:solidFill>
              </a:rPr>
              <a:t>Mug(2)</a:t>
            </a:r>
          </a:p>
          <a:p>
            <a:r>
              <a:rPr lang="en-US" sz="1600" dirty="0">
                <a:solidFill>
                  <a:schemeClr val="accent5"/>
                </a:solidFill>
              </a:rPr>
              <a:t>mug1 &amp; mug2 initialized</a:t>
            </a:r>
          </a:p>
          <a:p>
            <a:r>
              <a:rPr lang="en-US" sz="1600" dirty="0">
                <a:solidFill>
                  <a:schemeClr val="accent5"/>
                </a:solidFill>
              </a:rPr>
              <a:t>Mugs(</a:t>
            </a:r>
            <a:r>
              <a:rPr lang="en-US" sz="1600" dirty="0" err="1">
                <a:solidFill>
                  <a:schemeClr val="accent5"/>
                </a:solidFill>
              </a:rPr>
              <a:t>int</a:t>
            </a:r>
            <a:r>
              <a:rPr lang="en-US" sz="1600" dirty="0" smtClean="0">
                <a:solidFill>
                  <a:schemeClr val="accent5"/>
                </a:solidFill>
              </a:rPr>
              <a:t>)</a:t>
            </a:r>
          </a:p>
          <a:p>
            <a:r>
              <a:rPr lang="en-US" sz="1600" dirty="0" smtClean="0">
                <a:solidFill>
                  <a:schemeClr val="accent5"/>
                </a:solidFill>
              </a:rPr>
              <a:t>*/</a:t>
            </a:r>
            <a:endParaRPr lang="en-US" sz="1600" dirty="0">
              <a:solidFill>
                <a:schemeClr val="accent5"/>
              </a:solidFill>
            </a:endParaRPr>
          </a:p>
        </p:txBody>
      </p:sp>
      <p:sp>
        <p:nvSpPr>
          <p:cNvPr id="6" name="Slide Number Placeholder 5"/>
          <p:cNvSpPr>
            <a:spLocks noGrp="1"/>
          </p:cNvSpPr>
          <p:nvPr>
            <p:ph type="sldNum" sz="quarter" idx="12"/>
          </p:nvPr>
        </p:nvSpPr>
        <p:spPr/>
        <p:txBody>
          <a:bodyPr/>
          <a:lstStyle/>
          <a:p>
            <a:fld id="{965D6772-41C1-4987-827C-16EA866C2326}" type="slidenum">
              <a:rPr lang="en-US" smtClean="0"/>
              <a:t>37</a:t>
            </a:fld>
            <a:endParaRPr lang="en-US"/>
          </a:p>
        </p:txBody>
      </p:sp>
    </p:spTree>
    <p:extLst>
      <p:ext uri="{BB962C8B-B14F-4D97-AF65-F5344CB8AC3E}">
        <p14:creationId xmlns:p14="http://schemas.microsoft.com/office/powerpoint/2010/main" val="4889136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 Initialization</a:t>
            </a:r>
            <a:endParaRPr lang="en-US" dirty="0"/>
          </a:p>
        </p:txBody>
      </p:sp>
      <p:sp>
        <p:nvSpPr>
          <p:cNvPr id="3" name="Content Placeholder 2"/>
          <p:cNvSpPr>
            <a:spLocks noGrp="1"/>
          </p:cNvSpPr>
          <p:nvPr>
            <p:ph sz="half" idx="1"/>
          </p:nvPr>
        </p:nvSpPr>
        <p:spPr/>
        <p:txBody>
          <a:bodyPr>
            <a:normAutofit fontScale="92500" lnSpcReduction="10000"/>
          </a:bodyPr>
          <a:lstStyle/>
          <a:p>
            <a:r>
              <a:rPr lang="en-US" sz="3000" dirty="0" smtClean="0"/>
              <a:t>The array name is just a reference to the array</a:t>
            </a:r>
          </a:p>
          <a:p>
            <a:r>
              <a:rPr lang="en-US" sz="3000" dirty="0" smtClean="0"/>
              <a:t>Can have assignments:</a:t>
            </a:r>
          </a:p>
          <a:p>
            <a:pPr marL="0" indent="0">
              <a:buNone/>
            </a:pPr>
            <a:r>
              <a:rPr lang="en-US" sz="2200" dirty="0" smtClean="0">
                <a:solidFill>
                  <a:schemeClr val="accent5"/>
                </a:solidFill>
              </a:rPr>
              <a:t>    </a:t>
            </a:r>
            <a:r>
              <a:rPr lang="en-US" sz="2200" dirty="0" err="1" smtClean="0">
                <a:solidFill>
                  <a:schemeClr val="accent5"/>
                </a:solidFill>
              </a:rPr>
              <a:t>int</a:t>
            </a:r>
            <a:r>
              <a:rPr lang="en-US" sz="2200" dirty="0">
                <a:solidFill>
                  <a:schemeClr val="accent5"/>
                </a:solidFill>
              </a:rPr>
              <a:t>[] a1 = { 1, 2, 3, 4, 5 };</a:t>
            </a:r>
          </a:p>
          <a:p>
            <a:pPr marL="0" indent="0">
              <a:buNone/>
            </a:pPr>
            <a:r>
              <a:rPr lang="en-US" sz="2200" dirty="0">
                <a:solidFill>
                  <a:schemeClr val="accent5"/>
                </a:solidFill>
              </a:rPr>
              <a:t>    </a:t>
            </a:r>
            <a:r>
              <a:rPr lang="en-US" sz="2200" dirty="0" err="1">
                <a:solidFill>
                  <a:schemeClr val="accent5"/>
                </a:solidFill>
              </a:rPr>
              <a:t>int</a:t>
            </a:r>
            <a:r>
              <a:rPr lang="en-US" sz="2200" dirty="0">
                <a:solidFill>
                  <a:schemeClr val="accent5"/>
                </a:solidFill>
              </a:rPr>
              <a:t>[] a2;</a:t>
            </a:r>
          </a:p>
          <a:p>
            <a:pPr marL="0" indent="0">
              <a:buNone/>
            </a:pPr>
            <a:r>
              <a:rPr lang="en-US" sz="2200" dirty="0">
                <a:solidFill>
                  <a:schemeClr val="accent5"/>
                </a:solidFill>
              </a:rPr>
              <a:t>    a2 = a1;</a:t>
            </a:r>
          </a:p>
          <a:p>
            <a:pPr marL="0" indent="0">
              <a:buNone/>
            </a:pPr>
            <a:r>
              <a:rPr lang="en-US" sz="2200" dirty="0">
                <a:solidFill>
                  <a:schemeClr val="accent5"/>
                </a:solidFill>
              </a:rPr>
              <a:t>    for(</a:t>
            </a:r>
            <a:r>
              <a:rPr lang="en-US" sz="2200" dirty="0" err="1">
                <a:solidFill>
                  <a:schemeClr val="accent5"/>
                </a:solidFill>
              </a:rPr>
              <a:t>int</a:t>
            </a:r>
            <a:r>
              <a:rPr lang="en-US" sz="2200" dirty="0">
                <a:solidFill>
                  <a:schemeClr val="accent5"/>
                </a:solidFill>
              </a:rPr>
              <a:t> </a:t>
            </a:r>
            <a:r>
              <a:rPr lang="en-US" sz="2200" dirty="0" err="1">
                <a:solidFill>
                  <a:schemeClr val="accent5"/>
                </a:solidFill>
              </a:rPr>
              <a:t>i</a:t>
            </a:r>
            <a:r>
              <a:rPr lang="en-US" sz="2200" dirty="0">
                <a:solidFill>
                  <a:schemeClr val="accent5"/>
                </a:solidFill>
              </a:rPr>
              <a:t> = 0; </a:t>
            </a:r>
            <a:r>
              <a:rPr lang="en-US" sz="2200" dirty="0" err="1">
                <a:solidFill>
                  <a:schemeClr val="accent5"/>
                </a:solidFill>
              </a:rPr>
              <a:t>i</a:t>
            </a:r>
            <a:r>
              <a:rPr lang="en-US" sz="2200" dirty="0">
                <a:solidFill>
                  <a:schemeClr val="accent5"/>
                </a:solidFill>
              </a:rPr>
              <a:t> &lt; a2.length; </a:t>
            </a:r>
            <a:r>
              <a:rPr lang="en-US" sz="2200" dirty="0" err="1">
                <a:solidFill>
                  <a:schemeClr val="accent5"/>
                </a:solidFill>
              </a:rPr>
              <a:t>i</a:t>
            </a:r>
            <a:r>
              <a:rPr lang="en-US" sz="2200" dirty="0">
                <a:solidFill>
                  <a:schemeClr val="accent5"/>
                </a:solidFill>
              </a:rPr>
              <a:t>++)</a:t>
            </a:r>
          </a:p>
          <a:p>
            <a:pPr marL="0" indent="0">
              <a:buNone/>
            </a:pPr>
            <a:r>
              <a:rPr lang="en-US" sz="2200" dirty="0">
                <a:solidFill>
                  <a:schemeClr val="accent5"/>
                </a:solidFill>
              </a:rPr>
              <a:t>      a2[</a:t>
            </a:r>
            <a:r>
              <a:rPr lang="en-US" sz="2200" dirty="0" err="1">
                <a:solidFill>
                  <a:schemeClr val="accent5"/>
                </a:solidFill>
              </a:rPr>
              <a:t>i</a:t>
            </a:r>
            <a:r>
              <a:rPr lang="en-US" sz="2200" dirty="0">
                <a:solidFill>
                  <a:schemeClr val="accent5"/>
                </a:solidFill>
              </a:rPr>
              <a:t>] = a2[</a:t>
            </a:r>
            <a:r>
              <a:rPr lang="en-US" sz="2200" dirty="0" err="1">
                <a:solidFill>
                  <a:schemeClr val="accent5"/>
                </a:solidFill>
              </a:rPr>
              <a:t>i</a:t>
            </a:r>
            <a:r>
              <a:rPr lang="en-US" sz="2200" dirty="0">
                <a:solidFill>
                  <a:schemeClr val="accent5"/>
                </a:solidFill>
              </a:rPr>
              <a:t>] + 1;</a:t>
            </a:r>
          </a:p>
          <a:p>
            <a:pPr marL="0" indent="0">
              <a:buNone/>
            </a:pPr>
            <a:r>
              <a:rPr lang="en-US" sz="2200" dirty="0">
                <a:solidFill>
                  <a:schemeClr val="accent5"/>
                </a:solidFill>
              </a:rPr>
              <a:t>    for(</a:t>
            </a:r>
            <a:r>
              <a:rPr lang="en-US" sz="2200" dirty="0" err="1">
                <a:solidFill>
                  <a:schemeClr val="accent5"/>
                </a:solidFill>
              </a:rPr>
              <a:t>int</a:t>
            </a:r>
            <a:r>
              <a:rPr lang="en-US" sz="2200" dirty="0">
                <a:solidFill>
                  <a:schemeClr val="accent5"/>
                </a:solidFill>
              </a:rPr>
              <a:t> </a:t>
            </a:r>
            <a:r>
              <a:rPr lang="en-US" sz="2200" dirty="0" err="1">
                <a:solidFill>
                  <a:schemeClr val="accent5"/>
                </a:solidFill>
              </a:rPr>
              <a:t>i</a:t>
            </a:r>
            <a:r>
              <a:rPr lang="en-US" sz="2200" dirty="0">
                <a:solidFill>
                  <a:schemeClr val="accent5"/>
                </a:solidFill>
              </a:rPr>
              <a:t> = 0; </a:t>
            </a:r>
            <a:r>
              <a:rPr lang="en-US" sz="2200" dirty="0" err="1">
                <a:solidFill>
                  <a:schemeClr val="accent5"/>
                </a:solidFill>
              </a:rPr>
              <a:t>i</a:t>
            </a:r>
            <a:r>
              <a:rPr lang="en-US" sz="2200" dirty="0">
                <a:solidFill>
                  <a:schemeClr val="accent5"/>
                </a:solidFill>
              </a:rPr>
              <a:t> &lt; a1.length; </a:t>
            </a:r>
            <a:r>
              <a:rPr lang="en-US" sz="2200" dirty="0" err="1">
                <a:solidFill>
                  <a:schemeClr val="accent5"/>
                </a:solidFill>
              </a:rPr>
              <a:t>i</a:t>
            </a:r>
            <a:r>
              <a:rPr lang="en-US" sz="2200" dirty="0">
                <a:solidFill>
                  <a:schemeClr val="accent5"/>
                </a:solidFill>
              </a:rPr>
              <a:t>++)</a:t>
            </a:r>
          </a:p>
          <a:p>
            <a:pPr marL="0" indent="0">
              <a:buNone/>
            </a:pPr>
            <a:r>
              <a:rPr lang="en-US" sz="2200" dirty="0">
                <a:solidFill>
                  <a:schemeClr val="accent5"/>
                </a:solidFill>
              </a:rPr>
              <a:t>      </a:t>
            </a:r>
            <a:r>
              <a:rPr lang="en-US" sz="2200" dirty="0" err="1" smtClean="0">
                <a:solidFill>
                  <a:schemeClr val="accent5"/>
                </a:solidFill>
              </a:rPr>
              <a:t>System.out.print</a:t>
            </a:r>
            <a:r>
              <a:rPr lang="en-US" sz="2200" dirty="0" smtClean="0">
                <a:solidFill>
                  <a:schemeClr val="accent5"/>
                </a:solidFill>
              </a:rPr>
              <a:t>(a1[</a:t>
            </a:r>
            <a:r>
              <a:rPr lang="en-US" sz="2200" dirty="0" err="1" smtClean="0">
                <a:solidFill>
                  <a:schemeClr val="accent5"/>
                </a:solidFill>
              </a:rPr>
              <a:t>i</a:t>
            </a:r>
            <a:r>
              <a:rPr lang="en-US" sz="2200" dirty="0" smtClean="0">
                <a:solidFill>
                  <a:schemeClr val="accent5"/>
                </a:solidFill>
              </a:rPr>
              <a:t>] + “ ”);</a:t>
            </a:r>
          </a:p>
          <a:p>
            <a:pPr marL="0" indent="0">
              <a:buNone/>
            </a:pPr>
            <a:r>
              <a:rPr lang="en-US" sz="2200" dirty="0" smtClean="0">
                <a:solidFill>
                  <a:schemeClr val="accent5"/>
                </a:solidFill>
              </a:rPr>
              <a:t>    //2 3 4 5 6</a:t>
            </a:r>
            <a:endParaRPr lang="en-US" sz="2200" dirty="0">
              <a:solidFill>
                <a:schemeClr val="accent5"/>
              </a:solidFill>
            </a:endParaRPr>
          </a:p>
        </p:txBody>
      </p:sp>
      <p:sp>
        <p:nvSpPr>
          <p:cNvPr id="4" name="Content Placeholder 3"/>
          <p:cNvSpPr>
            <a:spLocks noGrp="1"/>
          </p:cNvSpPr>
          <p:nvPr>
            <p:ph sz="half" idx="2"/>
          </p:nvPr>
        </p:nvSpPr>
        <p:spPr>
          <a:xfrm>
            <a:off x="6172200" y="1038578"/>
            <a:ext cx="5181600" cy="5328355"/>
          </a:xfrm>
        </p:spPr>
        <p:txBody>
          <a:bodyPr>
            <a:normAutofit fontScale="92500" lnSpcReduction="10000"/>
          </a:bodyPr>
          <a:lstStyle/>
          <a:p>
            <a:r>
              <a:rPr lang="en-US" sz="3000" dirty="0" smtClean="0"/>
              <a:t>An array can be created at run time:</a:t>
            </a:r>
          </a:p>
          <a:p>
            <a:pPr marL="0" indent="0">
              <a:buNone/>
            </a:pPr>
            <a:endParaRPr lang="en-US" dirty="0"/>
          </a:p>
          <a:p>
            <a:pPr marL="0" indent="0">
              <a:buNone/>
            </a:pPr>
            <a:r>
              <a:rPr lang="en-US" sz="2200" dirty="0">
                <a:solidFill>
                  <a:schemeClr val="accent5"/>
                </a:solidFill>
              </a:rPr>
              <a:t>i</a:t>
            </a:r>
            <a:r>
              <a:rPr lang="en-US" sz="2200" dirty="0" smtClean="0">
                <a:solidFill>
                  <a:schemeClr val="accent5"/>
                </a:solidFill>
              </a:rPr>
              <a:t>mport </a:t>
            </a:r>
            <a:r>
              <a:rPr lang="en-US" sz="2200" dirty="0" err="1" smtClean="0">
                <a:solidFill>
                  <a:schemeClr val="accent5"/>
                </a:solidFill>
              </a:rPr>
              <a:t>java.util</a:t>
            </a:r>
            <a:r>
              <a:rPr lang="en-US" sz="2200" dirty="0" smtClean="0">
                <a:solidFill>
                  <a:schemeClr val="accent5"/>
                </a:solidFill>
              </a:rPr>
              <a:t>.*;</a:t>
            </a:r>
          </a:p>
          <a:p>
            <a:pPr marL="0" indent="0">
              <a:buNone/>
            </a:pPr>
            <a:endParaRPr lang="en-US" sz="2200" dirty="0">
              <a:solidFill>
                <a:schemeClr val="accent5"/>
              </a:solidFill>
            </a:endParaRPr>
          </a:p>
          <a:p>
            <a:pPr marL="0" indent="0">
              <a:buNone/>
            </a:pPr>
            <a:r>
              <a:rPr lang="en-US" sz="2200" dirty="0" smtClean="0">
                <a:solidFill>
                  <a:schemeClr val="accent5"/>
                </a:solidFill>
              </a:rPr>
              <a:t>    // in main method:</a:t>
            </a:r>
          </a:p>
          <a:p>
            <a:pPr marL="0" indent="0">
              <a:buNone/>
            </a:pPr>
            <a:r>
              <a:rPr lang="en-US" sz="2200" dirty="0" smtClean="0">
                <a:solidFill>
                  <a:schemeClr val="accent5"/>
                </a:solidFill>
              </a:rPr>
              <a:t>    </a:t>
            </a:r>
            <a:r>
              <a:rPr lang="en-US" sz="2200" dirty="0">
                <a:solidFill>
                  <a:schemeClr val="accent5"/>
                </a:solidFill>
              </a:rPr>
              <a:t>Random rand = new Random(47);</a:t>
            </a:r>
          </a:p>
          <a:p>
            <a:pPr marL="0" indent="0">
              <a:buNone/>
            </a:pPr>
            <a:r>
              <a:rPr lang="en-US" sz="2200" dirty="0">
                <a:solidFill>
                  <a:schemeClr val="accent5"/>
                </a:solidFill>
              </a:rPr>
              <a:t>    </a:t>
            </a:r>
            <a:r>
              <a:rPr lang="en-US" sz="2200" dirty="0" err="1" smtClean="0">
                <a:solidFill>
                  <a:schemeClr val="accent5"/>
                </a:solidFill>
              </a:rPr>
              <a:t>int</a:t>
            </a:r>
            <a:r>
              <a:rPr lang="en-US" sz="2200" dirty="0" smtClean="0">
                <a:solidFill>
                  <a:schemeClr val="accent5"/>
                </a:solidFill>
              </a:rPr>
              <a:t>[] a </a:t>
            </a:r>
            <a:r>
              <a:rPr lang="en-US" sz="2200" dirty="0">
                <a:solidFill>
                  <a:schemeClr val="accent5"/>
                </a:solidFill>
              </a:rPr>
              <a:t>= new </a:t>
            </a:r>
            <a:r>
              <a:rPr lang="en-US" sz="2200" dirty="0" err="1">
                <a:solidFill>
                  <a:schemeClr val="accent5"/>
                </a:solidFill>
              </a:rPr>
              <a:t>int</a:t>
            </a:r>
            <a:r>
              <a:rPr lang="en-US" sz="2200" dirty="0">
                <a:solidFill>
                  <a:schemeClr val="accent5"/>
                </a:solidFill>
              </a:rPr>
              <a:t>[</a:t>
            </a:r>
            <a:r>
              <a:rPr lang="en-US" sz="2200" dirty="0" err="1">
                <a:solidFill>
                  <a:schemeClr val="accent5"/>
                </a:solidFill>
              </a:rPr>
              <a:t>rand.nextInt</a:t>
            </a:r>
            <a:r>
              <a:rPr lang="en-US" sz="2200" dirty="0">
                <a:solidFill>
                  <a:schemeClr val="accent5"/>
                </a:solidFill>
              </a:rPr>
              <a:t>(20)];</a:t>
            </a:r>
          </a:p>
          <a:p>
            <a:pPr marL="0" indent="0">
              <a:buNone/>
            </a:pPr>
            <a:r>
              <a:rPr lang="en-US" sz="2200" dirty="0">
                <a:solidFill>
                  <a:schemeClr val="accent5"/>
                </a:solidFill>
              </a:rPr>
              <a:t>    </a:t>
            </a:r>
            <a:r>
              <a:rPr lang="en-US" sz="2200" dirty="0" err="1" smtClean="0">
                <a:solidFill>
                  <a:schemeClr val="accent5"/>
                </a:solidFill>
              </a:rPr>
              <a:t>System.out.println</a:t>
            </a:r>
            <a:r>
              <a:rPr lang="en-US" sz="2200" dirty="0" smtClean="0">
                <a:solidFill>
                  <a:schemeClr val="accent5"/>
                </a:solidFill>
              </a:rPr>
              <a:t>("</a:t>
            </a:r>
            <a:r>
              <a:rPr lang="en-US" sz="2200" dirty="0">
                <a:solidFill>
                  <a:schemeClr val="accent5"/>
                </a:solidFill>
              </a:rPr>
              <a:t>length of a = " + </a:t>
            </a:r>
            <a:r>
              <a:rPr lang="en-US" sz="2200" dirty="0" err="1">
                <a:solidFill>
                  <a:schemeClr val="accent5"/>
                </a:solidFill>
              </a:rPr>
              <a:t>a.length</a:t>
            </a:r>
            <a:r>
              <a:rPr lang="en-US" sz="2200" dirty="0">
                <a:solidFill>
                  <a:schemeClr val="accent5"/>
                </a:solidFill>
              </a:rPr>
              <a:t>);</a:t>
            </a:r>
          </a:p>
          <a:p>
            <a:pPr marL="0" indent="0">
              <a:buNone/>
            </a:pPr>
            <a:r>
              <a:rPr lang="en-US" sz="2200" dirty="0">
                <a:solidFill>
                  <a:schemeClr val="accent5"/>
                </a:solidFill>
              </a:rPr>
              <a:t>    </a:t>
            </a:r>
            <a:r>
              <a:rPr lang="en-US" sz="2200" dirty="0" err="1" smtClean="0">
                <a:solidFill>
                  <a:schemeClr val="accent5"/>
                </a:solidFill>
              </a:rPr>
              <a:t>System.out.println</a:t>
            </a:r>
            <a:r>
              <a:rPr lang="en-US" sz="2200" dirty="0" smtClean="0">
                <a:solidFill>
                  <a:schemeClr val="accent5"/>
                </a:solidFill>
              </a:rPr>
              <a:t>(</a:t>
            </a:r>
            <a:r>
              <a:rPr lang="en-US" sz="2200" dirty="0" err="1" smtClean="0">
                <a:solidFill>
                  <a:schemeClr val="accent5"/>
                </a:solidFill>
              </a:rPr>
              <a:t>Arrays.toString</a:t>
            </a:r>
            <a:r>
              <a:rPr lang="en-US" sz="2200" dirty="0" smtClean="0">
                <a:solidFill>
                  <a:schemeClr val="accent5"/>
                </a:solidFill>
              </a:rPr>
              <a:t>(a));</a:t>
            </a:r>
          </a:p>
          <a:p>
            <a:pPr marL="0" indent="0">
              <a:buNone/>
            </a:pPr>
            <a:r>
              <a:rPr lang="en-US" sz="2200" dirty="0">
                <a:solidFill>
                  <a:schemeClr val="accent5"/>
                </a:solidFill>
              </a:rPr>
              <a:t> </a:t>
            </a:r>
            <a:r>
              <a:rPr lang="en-US" sz="2200" dirty="0" smtClean="0">
                <a:solidFill>
                  <a:schemeClr val="accent5"/>
                </a:solidFill>
              </a:rPr>
              <a:t>   /*Output:</a:t>
            </a:r>
          </a:p>
          <a:p>
            <a:pPr marL="0" indent="0">
              <a:buNone/>
            </a:pPr>
            <a:r>
              <a:rPr lang="en-US" sz="2200" dirty="0">
                <a:solidFill>
                  <a:schemeClr val="accent5"/>
                </a:solidFill>
              </a:rPr>
              <a:t> </a:t>
            </a:r>
            <a:r>
              <a:rPr lang="en-US" sz="2200" dirty="0" smtClean="0">
                <a:solidFill>
                  <a:schemeClr val="accent5"/>
                </a:solidFill>
              </a:rPr>
              <a:t>   length of a = 18;</a:t>
            </a:r>
          </a:p>
          <a:p>
            <a:pPr marL="0" indent="0">
              <a:buNone/>
            </a:pPr>
            <a:r>
              <a:rPr lang="en-US" sz="2200" dirty="0">
                <a:solidFill>
                  <a:schemeClr val="accent5"/>
                </a:solidFill>
              </a:rPr>
              <a:t>    [0, 0, 0, 0, 0, 0, 0, 0, 0, 0, 0, 0, 0, 0, 0, 0, 0, 0]</a:t>
            </a:r>
            <a:endParaRPr lang="en-US" sz="2200" dirty="0" smtClean="0">
              <a:solidFill>
                <a:schemeClr val="accent5"/>
              </a:solidFill>
            </a:endParaRPr>
          </a:p>
          <a:p>
            <a:pPr marL="0" indent="0">
              <a:buNone/>
            </a:pPr>
            <a:r>
              <a:rPr lang="en-US" sz="2200" dirty="0">
                <a:solidFill>
                  <a:schemeClr val="accent5"/>
                </a:solidFill>
              </a:rPr>
              <a:t> </a:t>
            </a:r>
            <a:r>
              <a:rPr lang="en-US" sz="2200" dirty="0" smtClean="0">
                <a:solidFill>
                  <a:schemeClr val="accent5"/>
                </a:solidFill>
              </a:rPr>
              <a:t>   */</a:t>
            </a:r>
            <a:endParaRPr lang="en-US" sz="2200"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38</a:t>
            </a:fld>
            <a:endParaRPr lang="en-US"/>
          </a:p>
        </p:txBody>
      </p:sp>
    </p:spTree>
    <p:extLst>
      <p:ext uri="{BB962C8B-B14F-4D97-AF65-F5344CB8AC3E}">
        <p14:creationId xmlns:p14="http://schemas.microsoft.com/office/powerpoint/2010/main" val="21944780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3089" y="319970"/>
            <a:ext cx="10515600" cy="1325563"/>
          </a:xfrm>
        </p:spPr>
        <p:txBody>
          <a:bodyPr/>
          <a:lstStyle/>
          <a:p>
            <a:r>
              <a:rPr lang="en-US" dirty="0" smtClean="0"/>
              <a:t>Variable Argument Lists</a:t>
            </a:r>
            <a:endParaRPr lang="en-US" dirty="0"/>
          </a:p>
        </p:txBody>
      </p:sp>
      <p:sp>
        <p:nvSpPr>
          <p:cNvPr id="3" name="Content Placeholder 2"/>
          <p:cNvSpPr>
            <a:spLocks noGrp="1"/>
          </p:cNvSpPr>
          <p:nvPr>
            <p:ph sz="half" idx="1"/>
          </p:nvPr>
        </p:nvSpPr>
        <p:spPr/>
        <p:txBody>
          <a:bodyPr>
            <a:normAutofit lnSpcReduction="10000"/>
          </a:bodyPr>
          <a:lstStyle/>
          <a:p>
            <a:r>
              <a:rPr lang="en-US" i="1" dirty="0" err="1"/>
              <a:t>v</a:t>
            </a:r>
            <a:r>
              <a:rPr lang="en-US" i="1" dirty="0" err="1" smtClean="0"/>
              <a:t>arargs</a:t>
            </a:r>
            <a:r>
              <a:rPr lang="en-US" dirty="0" smtClean="0"/>
              <a:t>: passing an arbitrary number of values to a method</a:t>
            </a:r>
          </a:p>
          <a:p>
            <a:r>
              <a:rPr lang="en-US" dirty="0" smtClean="0"/>
              <a:t>Form: </a:t>
            </a:r>
            <a:r>
              <a:rPr lang="en-US" dirty="0" err="1" smtClean="0">
                <a:solidFill>
                  <a:schemeClr val="accent5"/>
                </a:solidFill>
              </a:rPr>
              <a:t>methodName</a:t>
            </a:r>
            <a:r>
              <a:rPr lang="en-US" dirty="0" smtClean="0">
                <a:solidFill>
                  <a:schemeClr val="accent5"/>
                </a:solidFill>
              </a:rPr>
              <a:t>(Type… </a:t>
            </a:r>
            <a:r>
              <a:rPr lang="en-US" dirty="0" err="1" smtClean="0">
                <a:solidFill>
                  <a:schemeClr val="accent5"/>
                </a:solidFill>
              </a:rPr>
              <a:t>args</a:t>
            </a:r>
            <a:r>
              <a:rPr lang="en-US" dirty="0" smtClean="0">
                <a:solidFill>
                  <a:schemeClr val="accent5"/>
                </a:solidFill>
              </a:rPr>
              <a:t>)</a:t>
            </a:r>
          </a:p>
          <a:p>
            <a:pPr lvl="1"/>
            <a:r>
              <a:rPr lang="en-US" dirty="0" smtClean="0"/>
              <a:t>The method body simply treats </a:t>
            </a:r>
            <a:r>
              <a:rPr lang="en-US" dirty="0" err="1" smtClean="0">
                <a:solidFill>
                  <a:schemeClr val="accent5"/>
                </a:solidFill>
              </a:rPr>
              <a:t>args</a:t>
            </a:r>
            <a:r>
              <a:rPr lang="en-US" dirty="0" smtClean="0">
                <a:solidFill>
                  <a:schemeClr val="accent5"/>
                </a:solidFill>
              </a:rPr>
              <a:t> </a:t>
            </a:r>
            <a:r>
              <a:rPr lang="en-US" dirty="0" smtClean="0"/>
              <a:t>as an array</a:t>
            </a:r>
          </a:p>
          <a:p>
            <a:pPr lvl="1"/>
            <a:r>
              <a:rPr lang="en-US" dirty="0" smtClean="0"/>
              <a:t>The arguments to a method invocation can be an array of </a:t>
            </a:r>
            <a:r>
              <a:rPr lang="en-US" dirty="0" smtClean="0">
                <a:solidFill>
                  <a:schemeClr val="accent5"/>
                </a:solidFill>
              </a:rPr>
              <a:t>Type</a:t>
            </a:r>
            <a:r>
              <a:rPr lang="en-US" dirty="0" smtClean="0"/>
              <a:t> or a sequence of </a:t>
            </a:r>
            <a:r>
              <a:rPr lang="en-US" dirty="0" smtClean="0">
                <a:solidFill>
                  <a:schemeClr val="accent5"/>
                </a:solidFill>
              </a:rPr>
              <a:t>Type</a:t>
            </a:r>
            <a:r>
              <a:rPr lang="en-US" dirty="0" smtClean="0"/>
              <a:t> values</a:t>
            </a:r>
          </a:p>
          <a:p>
            <a:r>
              <a:rPr lang="en-US" dirty="0"/>
              <a:t>A</a:t>
            </a:r>
            <a:r>
              <a:rPr lang="en-US" dirty="0" smtClean="0"/>
              <a:t> shortcut of manually creating an array</a:t>
            </a:r>
            <a:endParaRPr lang="en-US" dirty="0"/>
          </a:p>
        </p:txBody>
      </p:sp>
      <p:sp>
        <p:nvSpPr>
          <p:cNvPr id="4" name="Content Placeholder 3"/>
          <p:cNvSpPr>
            <a:spLocks noGrp="1"/>
          </p:cNvSpPr>
          <p:nvPr>
            <p:ph sz="half" idx="2"/>
          </p:nvPr>
        </p:nvSpPr>
        <p:spPr>
          <a:xfrm>
            <a:off x="6172200" y="319970"/>
            <a:ext cx="5181600" cy="6250163"/>
          </a:xfrm>
        </p:spPr>
        <p:txBody>
          <a:bodyPr>
            <a:normAutofit lnSpcReduction="10000"/>
          </a:bodyPr>
          <a:lstStyle/>
          <a:p>
            <a:pPr marL="0" indent="0">
              <a:buNone/>
            </a:pPr>
            <a:r>
              <a:rPr lang="en-US" sz="2000" dirty="0">
                <a:solidFill>
                  <a:schemeClr val="accent5"/>
                </a:solidFill>
              </a:rPr>
              <a:t>s</a:t>
            </a:r>
            <a:r>
              <a:rPr lang="en-US" sz="2000" dirty="0" smtClean="0">
                <a:solidFill>
                  <a:schemeClr val="accent5"/>
                </a:solidFill>
              </a:rPr>
              <a:t>tatic void </a:t>
            </a:r>
            <a:r>
              <a:rPr lang="en-US" sz="2000" dirty="0" err="1" smtClean="0">
                <a:solidFill>
                  <a:schemeClr val="accent5"/>
                </a:solidFill>
              </a:rPr>
              <a:t>printArray</a:t>
            </a:r>
            <a:r>
              <a:rPr lang="en-US" sz="2000" dirty="0" smtClean="0">
                <a:solidFill>
                  <a:schemeClr val="accent5"/>
                </a:solidFill>
              </a:rPr>
              <a:t>(String… </a:t>
            </a:r>
            <a:r>
              <a:rPr lang="en-US" sz="2000" dirty="0" err="1" smtClean="0">
                <a:solidFill>
                  <a:schemeClr val="accent5"/>
                </a:solidFill>
              </a:rPr>
              <a:t>args</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for(String s : </a:t>
            </a:r>
            <a:r>
              <a:rPr lang="en-US" sz="2000" dirty="0" err="1" smtClean="0">
                <a:solidFill>
                  <a:schemeClr val="accent5"/>
                </a:solidFill>
              </a:rPr>
              <a:t>args</a:t>
            </a:r>
            <a:r>
              <a:rPr lang="en-US" sz="2000" dirty="0" smtClean="0">
                <a:solidFill>
                  <a:schemeClr val="accent5"/>
                </a:solidFill>
              </a:rPr>
              <a:t>)</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System.out.print</a:t>
            </a:r>
            <a:r>
              <a:rPr lang="en-US" sz="2000" dirty="0" smtClean="0">
                <a:solidFill>
                  <a:schemeClr val="accent5"/>
                </a:solidFill>
              </a:rPr>
              <a:t>(s + “ ”);</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System.out.println</a:t>
            </a:r>
            <a:r>
              <a:rPr lang="en-US" sz="2000" dirty="0" smtClean="0">
                <a:solidFill>
                  <a:schemeClr val="accent5"/>
                </a:solidFill>
              </a:rPr>
              <a:t>();</a:t>
            </a:r>
          </a:p>
          <a:p>
            <a:pPr marL="0" indent="0">
              <a:buNone/>
            </a:pPr>
            <a:r>
              <a:rPr lang="en-US" sz="2000" dirty="0" smtClean="0">
                <a:solidFill>
                  <a:schemeClr val="accent5"/>
                </a:solidFill>
              </a:rPr>
              <a:t>}</a:t>
            </a:r>
          </a:p>
          <a:p>
            <a:pPr marL="0" indent="0">
              <a:buNone/>
            </a:pPr>
            <a:r>
              <a:rPr lang="en-US" sz="2000" dirty="0">
                <a:solidFill>
                  <a:schemeClr val="accent5"/>
                </a:solidFill>
              </a:rPr>
              <a:t>p</a:t>
            </a:r>
            <a:r>
              <a:rPr lang="en-US" sz="2000" dirty="0" smtClean="0">
                <a:solidFill>
                  <a:schemeClr val="accent5"/>
                </a:solidFill>
              </a:rPr>
              <a:t>ublic static void main(String[] </a:t>
            </a:r>
            <a:r>
              <a:rPr lang="en-US" sz="2000" dirty="0" err="1" smtClean="0">
                <a:solidFill>
                  <a:schemeClr val="accent5"/>
                </a:solidFill>
              </a:rPr>
              <a:t>args</a:t>
            </a:r>
            <a:r>
              <a:rPr lang="en-US" sz="2000" dirty="0" smtClean="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printArray</a:t>
            </a:r>
            <a:r>
              <a:rPr lang="en-US" sz="2000" dirty="0" smtClean="0">
                <a:solidFill>
                  <a:schemeClr val="accent5"/>
                </a:solidFill>
              </a:rPr>
              <a:t>(“one”, “two”, “three”);</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printArray</a:t>
            </a:r>
            <a:r>
              <a:rPr lang="en-US" sz="2000" dirty="0" smtClean="0">
                <a:solidFill>
                  <a:schemeClr val="accent5"/>
                </a:solidFill>
              </a:rPr>
              <a:t>(“23”);</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printArray</a:t>
            </a:r>
            <a:r>
              <a:rPr lang="en-US" sz="2000" dirty="0" smtClean="0">
                <a:solidFill>
                  <a:schemeClr val="accent5"/>
                </a:solidFill>
              </a:rPr>
              <a:t>(new String[]{“hi”, “Java”});</a:t>
            </a:r>
          </a:p>
          <a:p>
            <a:pPr marL="0" indent="0">
              <a:buNone/>
            </a:pPr>
            <a:r>
              <a:rPr lang="en-US" sz="2000" dirty="0">
                <a:solidFill>
                  <a:schemeClr val="accent5"/>
                </a:solidFill>
              </a:rPr>
              <a:t> </a:t>
            </a:r>
            <a:r>
              <a:rPr lang="en-US" sz="2000" dirty="0" smtClean="0">
                <a:solidFill>
                  <a:schemeClr val="accent5"/>
                </a:solidFill>
              </a:rPr>
              <a:t> </a:t>
            </a:r>
            <a:r>
              <a:rPr lang="en-US" sz="2000" dirty="0" err="1" smtClean="0">
                <a:solidFill>
                  <a:schemeClr val="accent5"/>
                </a:solidFill>
              </a:rPr>
              <a:t>printArray</a:t>
            </a:r>
            <a:r>
              <a:rPr lang="en-US" sz="2000" dirty="0" smtClean="0">
                <a:solidFill>
                  <a:schemeClr val="accent5"/>
                </a:solidFill>
              </a:rPr>
              <a:t>();</a:t>
            </a:r>
          </a:p>
          <a:p>
            <a:pPr marL="0" indent="0">
              <a:buNone/>
            </a:pPr>
            <a:r>
              <a:rPr lang="en-US" sz="2000" dirty="0" smtClean="0">
                <a:solidFill>
                  <a:schemeClr val="accent5"/>
                </a:solidFill>
              </a:rPr>
              <a:t>}</a:t>
            </a:r>
            <a:r>
              <a:rPr lang="en-US" sz="2000" dirty="0">
                <a:solidFill>
                  <a:schemeClr val="accent5"/>
                </a:solidFill>
              </a:rPr>
              <a:t> </a:t>
            </a:r>
            <a:r>
              <a:rPr lang="en-US" sz="2000" dirty="0" smtClean="0">
                <a:solidFill>
                  <a:schemeClr val="accent5"/>
                </a:solidFill>
              </a:rPr>
              <a:t>/*Output:</a:t>
            </a:r>
          </a:p>
          <a:p>
            <a:pPr marL="0" indent="0">
              <a:buNone/>
            </a:pPr>
            <a:r>
              <a:rPr lang="en-US" sz="2000" dirty="0" smtClean="0">
                <a:solidFill>
                  <a:schemeClr val="accent5"/>
                </a:solidFill>
              </a:rPr>
              <a:t>one two three</a:t>
            </a:r>
          </a:p>
          <a:p>
            <a:pPr marL="0" indent="0">
              <a:buNone/>
            </a:pPr>
            <a:r>
              <a:rPr lang="en-US" sz="2000" dirty="0" smtClean="0">
                <a:solidFill>
                  <a:schemeClr val="accent5"/>
                </a:solidFill>
              </a:rPr>
              <a:t>23</a:t>
            </a:r>
          </a:p>
          <a:p>
            <a:pPr marL="0" indent="0">
              <a:buNone/>
            </a:pPr>
            <a:r>
              <a:rPr lang="en-US" sz="2000" dirty="0">
                <a:solidFill>
                  <a:schemeClr val="accent5"/>
                </a:solidFill>
              </a:rPr>
              <a:t>h</a:t>
            </a:r>
            <a:r>
              <a:rPr lang="en-US" sz="2000" dirty="0" smtClean="0">
                <a:solidFill>
                  <a:schemeClr val="accent5"/>
                </a:solidFill>
              </a:rPr>
              <a:t>i Java</a:t>
            </a:r>
          </a:p>
          <a:p>
            <a:pPr marL="0" indent="0">
              <a:buNone/>
            </a:pPr>
            <a:endParaRPr lang="en-US" sz="2000" dirty="0" smtClean="0">
              <a:solidFill>
                <a:schemeClr val="accent5"/>
              </a:solidFill>
            </a:endParaRPr>
          </a:p>
          <a:p>
            <a:pPr marL="0" indent="0">
              <a:buNone/>
            </a:pPr>
            <a:r>
              <a:rPr lang="en-US" sz="2000" dirty="0" smtClean="0">
                <a:solidFill>
                  <a:schemeClr val="accent5"/>
                </a:solidFill>
              </a:rPr>
              <a:t>*/</a:t>
            </a:r>
          </a:p>
        </p:txBody>
      </p:sp>
      <p:sp>
        <p:nvSpPr>
          <p:cNvPr id="5" name="Slide Number Placeholder 4"/>
          <p:cNvSpPr>
            <a:spLocks noGrp="1"/>
          </p:cNvSpPr>
          <p:nvPr>
            <p:ph type="sldNum" sz="quarter" idx="12"/>
          </p:nvPr>
        </p:nvSpPr>
        <p:spPr/>
        <p:txBody>
          <a:bodyPr/>
          <a:lstStyle/>
          <a:p>
            <a:fld id="{965D6772-41C1-4987-827C-16EA866C2326}" type="slidenum">
              <a:rPr lang="en-US" smtClean="0"/>
              <a:t>39</a:t>
            </a:fld>
            <a:endParaRPr lang="en-US"/>
          </a:p>
        </p:txBody>
      </p:sp>
    </p:spTree>
    <p:extLst>
      <p:ext uri="{BB962C8B-B14F-4D97-AF65-F5344CB8AC3E}">
        <p14:creationId xmlns:p14="http://schemas.microsoft.com/office/powerpoint/2010/main" val="17980299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Garbage Collection</a:t>
            </a:r>
            <a:endParaRPr lang="en-US" dirty="0"/>
          </a:p>
        </p:txBody>
      </p:sp>
      <p:sp>
        <p:nvSpPr>
          <p:cNvPr id="5" name="Content Placeholder 4"/>
          <p:cNvSpPr>
            <a:spLocks noGrp="1"/>
          </p:cNvSpPr>
          <p:nvPr>
            <p:ph idx="1"/>
          </p:nvPr>
        </p:nvSpPr>
        <p:spPr>
          <a:xfrm>
            <a:off x="838200" y="1825624"/>
            <a:ext cx="10515600" cy="4473575"/>
          </a:xfrm>
        </p:spPr>
        <p:txBody>
          <a:bodyPr>
            <a:normAutofit lnSpcReduction="10000"/>
          </a:bodyPr>
          <a:lstStyle/>
          <a:p>
            <a:r>
              <a:rPr lang="en-US" dirty="0" smtClean="0"/>
              <a:t>Java automatically deletes an object and recovers its memory when there are no references to that object</a:t>
            </a:r>
          </a:p>
          <a:p>
            <a:r>
              <a:rPr lang="en-US" dirty="0" smtClean="0"/>
              <a:t>Typically two ways of disconnecting references from objects:</a:t>
            </a:r>
          </a:p>
          <a:p>
            <a:pPr lvl="1"/>
            <a:r>
              <a:rPr lang="en-US" dirty="0" smtClean="0"/>
              <a:t>When a reference variable goes out of its scope</a:t>
            </a:r>
          </a:p>
          <a:p>
            <a:pPr lvl="1"/>
            <a:r>
              <a:rPr lang="en-US" dirty="0" smtClean="0"/>
              <a:t>Explicitly assign null to the reference: </a:t>
            </a:r>
            <a:r>
              <a:rPr lang="en-US" dirty="0" smtClean="0">
                <a:solidFill>
                  <a:schemeClr val="accent5"/>
                </a:solidFill>
              </a:rPr>
              <a:t>ref = null;</a:t>
            </a:r>
          </a:p>
          <a:p>
            <a:pPr lvl="1"/>
            <a:endParaRPr lang="en-US" dirty="0"/>
          </a:p>
          <a:p>
            <a:r>
              <a:rPr lang="en-US" dirty="0" smtClean="0"/>
              <a:t>However, garbage collection is </a:t>
            </a:r>
            <a:r>
              <a:rPr lang="en-US" dirty="0" smtClean="0">
                <a:solidFill>
                  <a:srgbClr val="FF0000"/>
                </a:solidFill>
              </a:rPr>
              <a:t>not guaranteed</a:t>
            </a:r>
            <a:r>
              <a:rPr lang="en-US" dirty="0" smtClean="0"/>
              <a:t>!</a:t>
            </a:r>
          </a:p>
          <a:p>
            <a:pPr lvl="1"/>
            <a:r>
              <a:rPr lang="en-US" dirty="0" smtClean="0"/>
              <a:t>Garbage collection incurs overhead</a:t>
            </a:r>
          </a:p>
          <a:p>
            <a:pPr lvl="1"/>
            <a:r>
              <a:rPr lang="en-US" dirty="0" smtClean="0"/>
              <a:t>If JVM isn’t close to running out of memory, it might not waste time recovering memory!</a:t>
            </a:r>
          </a:p>
          <a:p>
            <a:pPr lvl="1"/>
            <a:r>
              <a:rPr lang="en-US" dirty="0" smtClean="0"/>
              <a:t>As a programmer, you can call </a:t>
            </a:r>
            <a:r>
              <a:rPr lang="en-US" dirty="0" err="1" smtClean="0">
                <a:solidFill>
                  <a:schemeClr val="accent5"/>
                </a:solidFill>
              </a:rPr>
              <a:t>System.gc</a:t>
            </a:r>
            <a:r>
              <a:rPr lang="en-US" dirty="0" smtClean="0">
                <a:solidFill>
                  <a:schemeClr val="accent5"/>
                </a:solidFill>
              </a:rPr>
              <a:t>() </a:t>
            </a:r>
            <a:r>
              <a:rPr lang="en-US" dirty="0" smtClean="0"/>
              <a:t>to force a garbage collection.</a:t>
            </a:r>
            <a:endParaRPr lang="en-US" dirty="0"/>
          </a:p>
        </p:txBody>
      </p:sp>
      <p:sp>
        <p:nvSpPr>
          <p:cNvPr id="3" name="Slide Number Placeholder 2"/>
          <p:cNvSpPr>
            <a:spLocks noGrp="1"/>
          </p:cNvSpPr>
          <p:nvPr>
            <p:ph type="sldNum" sz="quarter" idx="12"/>
          </p:nvPr>
        </p:nvSpPr>
        <p:spPr/>
        <p:txBody>
          <a:bodyPr/>
          <a:lstStyle/>
          <a:p>
            <a:fld id="{965D6772-41C1-4987-827C-16EA866C2326}" type="slidenum">
              <a:rPr lang="en-US" smtClean="0"/>
              <a:t>40</a:t>
            </a:fld>
            <a:endParaRPr lang="en-US"/>
          </a:p>
        </p:txBody>
      </p:sp>
    </p:spTree>
    <p:extLst>
      <p:ext uri="{BB962C8B-B14F-4D97-AF65-F5344CB8AC3E}">
        <p14:creationId xmlns:p14="http://schemas.microsoft.com/office/powerpoint/2010/main" val="38441421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Garbage </a:t>
            </a:r>
            <a:r>
              <a:rPr lang="en-US" dirty="0" smtClean="0"/>
              <a:t>Collection (Cont.)</a:t>
            </a:r>
            <a:endParaRPr lang="en-US" dirty="0"/>
          </a:p>
        </p:txBody>
      </p:sp>
      <p:sp>
        <p:nvSpPr>
          <p:cNvPr id="3" name="Content Placeholder 2"/>
          <p:cNvSpPr>
            <a:spLocks noGrp="1"/>
          </p:cNvSpPr>
          <p:nvPr>
            <p:ph sz="half" idx="1"/>
          </p:nvPr>
        </p:nvSpPr>
        <p:spPr/>
        <p:txBody>
          <a:bodyPr>
            <a:normAutofit fontScale="92500" lnSpcReduction="20000"/>
          </a:bodyPr>
          <a:lstStyle/>
          <a:p>
            <a:r>
              <a:rPr lang="en-US" dirty="0" smtClean="0"/>
              <a:t>Garbage collection is only about memory:</a:t>
            </a:r>
          </a:p>
          <a:p>
            <a:pPr lvl="1"/>
            <a:r>
              <a:rPr lang="en-US" dirty="0" smtClean="0"/>
              <a:t>Only recovers the memory previously allocated for the object using the </a:t>
            </a:r>
            <a:r>
              <a:rPr lang="en-US" dirty="0" smtClean="0">
                <a:solidFill>
                  <a:schemeClr val="accent5"/>
                </a:solidFill>
              </a:rPr>
              <a:t>new</a:t>
            </a:r>
            <a:r>
              <a:rPr lang="en-US" dirty="0" smtClean="0"/>
              <a:t> keyword</a:t>
            </a:r>
          </a:p>
          <a:p>
            <a:pPr lvl="1"/>
            <a:r>
              <a:rPr lang="en-US" dirty="0" smtClean="0"/>
              <a:t>No other cleanup is performed</a:t>
            </a:r>
          </a:p>
          <a:p>
            <a:r>
              <a:rPr lang="en-US" dirty="0" smtClean="0"/>
              <a:t>What about the memory (in the heap) allocated </a:t>
            </a:r>
            <a:r>
              <a:rPr lang="en-US" dirty="0" smtClean="0">
                <a:solidFill>
                  <a:srgbClr val="FF0000"/>
                </a:solidFill>
              </a:rPr>
              <a:t>not</a:t>
            </a:r>
            <a:r>
              <a:rPr lang="en-US" dirty="0" smtClean="0"/>
              <a:t> using </a:t>
            </a:r>
            <a:r>
              <a:rPr lang="en-US" dirty="0" smtClean="0">
                <a:solidFill>
                  <a:schemeClr val="accent5"/>
                </a:solidFill>
              </a:rPr>
              <a:t>new</a:t>
            </a:r>
            <a:r>
              <a:rPr lang="en-US" dirty="0" smtClean="0"/>
              <a:t>?</a:t>
            </a:r>
          </a:p>
          <a:p>
            <a:pPr lvl="1"/>
            <a:r>
              <a:rPr lang="en-US" dirty="0" smtClean="0"/>
              <a:t>This could happen through </a:t>
            </a:r>
            <a:r>
              <a:rPr lang="en-US" i="1" dirty="0" smtClean="0"/>
              <a:t>native methods</a:t>
            </a:r>
            <a:r>
              <a:rPr lang="en-US" dirty="0" smtClean="0"/>
              <a:t>, a way to call non-Java code from Java</a:t>
            </a:r>
          </a:p>
          <a:p>
            <a:pPr lvl="1"/>
            <a:r>
              <a:rPr lang="en-US" dirty="0" smtClean="0"/>
              <a:t>Override </a:t>
            </a:r>
            <a:r>
              <a:rPr lang="en-US" dirty="0" smtClean="0">
                <a:solidFill>
                  <a:schemeClr val="accent5"/>
                </a:solidFill>
              </a:rPr>
              <a:t>finalize() </a:t>
            </a:r>
            <a:r>
              <a:rPr lang="en-US" dirty="0" smtClean="0"/>
              <a:t>in</a:t>
            </a:r>
            <a:r>
              <a:rPr lang="en-US" dirty="0" smtClean="0">
                <a:solidFill>
                  <a:schemeClr val="accent5"/>
                </a:solidFill>
              </a:rPr>
              <a:t> </a:t>
            </a:r>
            <a:r>
              <a:rPr lang="en-US" dirty="0" err="1" smtClean="0">
                <a:solidFill>
                  <a:schemeClr val="accent5"/>
                </a:solidFill>
              </a:rPr>
              <a:t>java.lang.Object</a:t>
            </a:r>
            <a:r>
              <a:rPr lang="en-US" dirty="0" smtClean="0">
                <a:solidFill>
                  <a:schemeClr val="accent5"/>
                </a:solidFill>
              </a:rPr>
              <a:t> </a:t>
            </a:r>
            <a:r>
              <a:rPr lang="en-US" dirty="0" smtClean="0"/>
              <a:t>to release these specially allocated memory</a:t>
            </a:r>
          </a:p>
          <a:p>
            <a:pPr lvl="1"/>
            <a:endParaRPr lang="en-US" dirty="0"/>
          </a:p>
        </p:txBody>
      </p:sp>
      <p:sp>
        <p:nvSpPr>
          <p:cNvPr id="4" name="Content Placeholder 3"/>
          <p:cNvSpPr>
            <a:spLocks noGrp="1"/>
          </p:cNvSpPr>
          <p:nvPr>
            <p:ph sz="half" idx="2"/>
          </p:nvPr>
        </p:nvSpPr>
        <p:spPr/>
        <p:txBody>
          <a:bodyPr>
            <a:normAutofit fontScale="92500" lnSpcReduction="20000"/>
          </a:bodyPr>
          <a:lstStyle/>
          <a:p>
            <a:r>
              <a:rPr lang="en-US" dirty="0" smtClean="0"/>
              <a:t>You must perform cleanup!</a:t>
            </a:r>
          </a:p>
          <a:p>
            <a:pPr lvl="1"/>
            <a:r>
              <a:rPr lang="en-US" dirty="0" smtClean="0"/>
              <a:t>If some cleanup (other than memory reclaim) is needed when deleting an object, you, as the programmer, are responsible to do it.</a:t>
            </a:r>
          </a:p>
          <a:p>
            <a:pPr lvl="1"/>
            <a:r>
              <a:rPr lang="en-US" dirty="0" smtClean="0"/>
              <a:t>You have to do it by defining and explicitly calling an appropriate method of the object</a:t>
            </a:r>
          </a:p>
          <a:p>
            <a:pPr lvl="1"/>
            <a:r>
              <a:rPr lang="en-US" dirty="0">
                <a:solidFill>
                  <a:schemeClr val="accent5"/>
                </a:solidFill>
              </a:rPr>
              <a:t>f</a:t>
            </a:r>
            <a:r>
              <a:rPr lang="en-US" dirty="0" smtClean="0">
                <a:solidFill>
                  <a:schemeClr val="accent5"/>
                </a:solidFill>
              </a:rPr>
              <a:t>inalize() </a:t>
            </a:r>
            <a:r>
              <a:rPr lang="en-US" dirty="0" smtClean="0"/>
              <a:t>shouldn’t be used for performing cleanup!</a:t>
            </a:r>
          </a:p>
          <a:p>
            <a:pPr lvl="1"/>
            <a:r>
              <a:rPr lang="en-US" dirty="0" smtClean="0"/>
              <a:t>This is very different than the destructor in C++: </a:t>
            </a:r>
            <a:r>
              <a:rPr lang="en-US" dirty="0" smtClean="0">
                <a:solidFill>
                  <a:schemeClr val="accent5"/>
                </a:solidFill>
              </a:rPr>
              <a:t>~</a:t>
            </a:r>
            <a:r>
              <a:rPr lang="en-US" dirty="0" err="1" smtClean="0">
                <a:solidFill>
                  <a:schemeClr val="accent5"/>
                </a:solidFill>
              </a:rPr>
              <a:t>ClassName</a:t>
            </a:r>
            <a:r>
              <a:rPr lang="en-US" dirty="0" smtClean="0">
                <a:solidFill>
                  <a:schemeClr val="accent5"/>
                </a:solidFill>
              </a:rPr>
              <a:t>() {…}</a:t>
            </a:r>
          </a:p>
        </p:txBody>
      </p:sp>
      <p:sp>
        <p:nvSpPr>
          <p:cNvPr id="5" name="Slide Number Placeholder 4"/>
          <p:cNvSpPr>
            <a:spLocks noGrp="1"/>
          </p:cNvSpPr>
          <p:nvPr>
            <p:ph type="sldNum" sz="quarter" idx="12"/>
          </p:nvPr>
        </p:nvSpPr>
        <p:spPr/>
        <p:txBody>
          <a:bodyPr/>
          <a:lstStyle/>
          <a:p>
            <a:fld id="{965D6772-41C1-4987-827C-16EA866C2326}" type="slidenum">
              <a:rPr lang="en-US" smtClean="0"/>
              <a:t>41</a:t>
            </a:fld>
            <a:endParaRPr lang="en-US"/>
          </a:p>
        </p:txBody>
      </p:sp>
    </p:spTree>
    <p:extLst>
      <p:ext uri="{BB962C8B-B14F-4D97-AF65-F5344CB8AC3E}">
        <p14:creationId xmlns:p14="http://schemas.microsoft.com/office/powerpoint/2010/main" val="10882474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Termination Condition</a:t>
            </a:r>
            <a:endParaRPr lang="en-US" dirty="0"/>
          </a:p>
        </p:txBody>
      </p:sp>
      <p:sp>
        <p:nvSpPr>
          <p:cNvPr id="3" name="Content Placeholder 2"/>
          <p:cNvSpPr>
            <a:spLocks noGrp="1"/>
          </p:cNvSpPr>
          <p:nvPr>
            <p:ph sz="half" idx="1"/>
          </p:nvPr>
        </p:nvSpPr>
        <p:spPr>
          <a:xfrm>
            <a:off x="838200" y="1371599"/>
            <a:ext cx="5181600" cy="5147734"/>
          </a:xfrm>
        </p:spPr>
        <p:txBody>
          <a:bodyPr>
            <a:noAutofit/>
          </a:bodyPr>
          <a:lstStyle/>
          <a:p>
            <a:pPr marL="0" indent="0">
              <a:buNone/>
            </a:pPr>
            <a:r>
              <a:rPr lang="en-US" sz="2000" dirty="0">
                <a:solidFill>
                  <a:schemeClr val="accent5"/>
                </a:solidFill>
              </a:rPr>
              <a:t>class Book {</a:t>
            </a:r>
          </a:p>
          <a:p>
            <a:pPr marL="0" indent="0">
              <a:buNone/>
            </a:pPr>
            <a:r>
              <a:rPr lang="en-US" sz="2000" dirty="0">
                <a:solidFill>
                  <a:schemeClr val="accent5"/>
                </a:solidFill>
              </a:rPr>
              <a:t>  </a:t>
            </a:r>
            <a:r>
              <a:rPr lang="en-US" sz="2000" dirty="0" err="1">
                <a:solidFill>
                  <a:schemeClr val="accent5"/>
                </a:solidFill>
              </a:rPr>
              <a:t>boolean</a:t>
            </a:r>
            <a:r>
              <a:rPr lang="en-US" sz="2000" dirty="0">
                <a:solidFill>
                  <a:schemeClr val="accent5"/>
                </a:solidFill>
              </a:rPr>
              <a:t> </a:t>
            </a:r>
            <a:r>
              <a:rPr lang="en-US" sz="2000" dirty="0" err="1">
                <a:solidFill>
                  <a:schemeClr val="accent5"/>
                </a:solidFill>
              </a:rPr>
              <a:t>checkedOut</a:t>
            </a:r>
            <a:r>
              <a:rPr lang="en-US" sz="2000" dirty="0">
                <a:solidFill>
                  <a:schemeClr val="accent5"/>
                </a:solidFill>
              </a:rPr>
              <a:t> = false;</a:t>
            </a:r>
          </a:p>
          <a:p>
            <a:pPr marL="0" indent="0">
              <a:buNone/>
            </a:pPr>
            <a:r>
              <a:rPr lang="en-US" sz="2000" dirty="0">
                <a:solidFill>
                  <a:schemeClr val="accent5"/>
                </a:solidFill>
              </a:rPr>
              <a:t>  Book(</a:t>
            </a:r>
            <a:r>
              <a:rPr lang="en-US" sz="2000" dirty="0" err="1">
                <a:solidFill>
                  <a:schemeClr val="accent5"/>
                </a:solidFill>
              </a:rPr>
              <a:t>boolean</a:t>
            </a:r>
            <a:r>
              <a:rPr lang="en-US" sz="2000" dirty="0">
                <a:solidFill>
                  <a:schemeClr val="accent5"/>
                </a:solidFill>
              </a:rPr>
              <a:t> </a:t>
            </a:r>
            <a:r>
              <a:rPr lang="en-US" sz="2000" dirty="0" err="1">
                <a:solidFill>
                  <a:schemeClr val="accent5"/>
                </a:solidFill>
              </a:rPr>
              <a:t>checkOut</a:t>
            </a:r>
            <a:r>
              <a:rPr lang="en-US" sz="2000" dirty="0">
                <a:solidFill>
                  <a:schemeClr val="accent5"/>
                </a:solidFill>
              </a:rPr>
              <a:t>) {</a:t>
            </a:r>
          </a:p>
          <a:p>
            <a:pPr marL="0" indent="0">
              <a:buNone/>
            </a:pPr>
            <a:r>
              <a:rPr lang="en-US" sz="2000" dirty="0">
                <a:solidFill>
                  <a:schemeClr val="accent5"/>
                </a:solidFill>
              </a:rPr>
              <a:t>    </a:t>
            </a:r>
            <a:r>
              <a:rPr lang="en-US" sz="2000" dirty="0" err="1">
                <a:solidFill>
                  <a:schemeClr val="accent5"/>
                </a:solidFill>
              </a:rPr>
              <a:t>checkedOut</a:t>
            </a:r>
            <a:r>
              <a:rPr lang="en-US" sz="2000" dirty="0">
                <a:solidFill>
                  <a:schemeClr val="accent5"/>
                </a:solidFill>
              </a:rPr>
              <a:t> = </a:t>
            </a:r>
            <a:r>
              <a:rPr lang="en-US" sz="2000" dirty="0" err="1">
                <a:solidFill>
                  <a:schemeClr val="accent5"/>
                </a:solidFill>
              </a:rPr>
              <a:t>checkOut</a:t>
            </a:r>
            <a:r>
              <a:rPr lang="en-US" sz="2000" dirty="0">
                <a:solidFill>
                  <a:schemeClr val="accent5"/>
                </a:solidFill>
              </a:rPr>
              <a:t>;</a:t>
            </a:r>
          </a:p>
          <a:p>
            <a:pPr marL="0" indent="0">
              <a:buNone/>
            </a:pPr>
            <a:r>
              <a:rPr lang="en-US" sz="2000" dirty="0">
                <a:solidFill>
                  <a:schemeClr val="accent5"/>
                </a:solidFill>
              </a:rPr>
              <a:t>  }</a:t>
            </a:r>
          </a:p>
          <a:p>
            <a:pPr marL="0" indent="0">
              <a:buNone/>
            </a:pPr>
            <a:r>
              <a:rPr lang="en-US" sz="2000" dirty="0">
                <a:solidFill>
                  <a:schemeClr val="accent5"/>
                </a:solidFill>
              </a:rPr>
              <a:t>  void </a:t>
            </a:r>
            <a:r>
              <a:rPr lang="en-US" sz="2000" dirty="0" err="1">
                <a:solidFill>
                  <a:schemeClr val="accent5"/>
                </a:solidFill>
              </a:rPr>
              <a:t>checkIn</a:t>
            </a:r>
            <a:r>
              <a:rPr lang="en-US" sz="2000" dirty="0">
                <a:solidFill>
                  <a:schemeClr val="accent5"/>
                </a:solidFill>
              </a:rPr>
              <a:t>() {</a:t>
            </a:r>
          </a:p>
          <a:p>
            <a:pPr marL="0" indent="0">
              <a:buNone/>
            </a:pPr>
            <a:r>
              <a:rPr lang="en-US" sz="2000" dirty="0">
                <a:solidFill>
                  <a:schemeClr val="accent5"/>
                </a:solidFill>
              </a:rPr>
              <a:t>    </a:t>
            </a:r>
            <a:r>
              <a:rPr lang="en-US" sz="2000" dirty="0" err="1">
                <a:solidFill>
                  <a:schemeClr val="accent5"/>
                </a:solidFill>
              </a:rPr>
              <a:t>checkedOut</a:t>
            </a:r>
            <a:r>
              <a:rPr lang="en-US" sz="2000" dirty="0">
                <a:solidFill>
                  <a:schemeClr val="accent5"/>
                </a:solidFill>
              </a:rPr>
              <a:t> = false;</a:t>
            </a:r>
          </a:p>
          <a:p>
            <a:pPr marL="0" indent="0">
              <a:buNone/>
            </a:pPr>
            <a:r>
              <a:rPr lang="en-US" sz="2000" dirty="0">
                <a:solidFill>
                  <a:schemeClr val="accent5"/>
                </a:solidFill>
              </a:rPr>
              <a:t>  }</a:t>
            </a:r>
          </a:p>
          <a:p>
            <a:pPr marL="0" indent="0">
              <a:buNone/>
            </a:pPr>
            <a:r>
              <a:rPr lang="en-US" sz="2000" dirty="0">
                <a:solidFill>
                  <a:schemeClr val="accent5"/>
                </a:solidFill>
              </a:rPr>
              <a:t>  protected void finalize() {</a:t>
            </a:r>
          </a:p>
          <a:p>
            <a:pPr marL="0" indent="0">
              <a:buNone/>
            </a:pPr>
            <a:r>
              <a:rPr lang="en-US" sz="2000" dirty="0">
                <a:solidFill>
                  <a:schemeClr val="accent5"/>
                </a:solidFill>
              </a:rPr>
              <a:t>    if(</a:t>
            </a:r>
            <a:r>
              <a:rPr lang="en-US" sz="2000" dirty="0" err="1">
                <a:solidFill>
                  <a:schemeClr val="accent5"/>
                </a:solidFill>
              </a:rPr>
              <a:t>checkedOut</a:t>
            </a:r>
            <a:r>
              <a:rPr lang="en-US" sz="2000" dirty="0">
                <a:solidFill>
                  <a:schemeClr val="accent5"/>
                </a:solidFill>
              </a:rPr>
              <a:t>)</a:t>
            </a:r>
          </a:p>
          <a:p>
            <a:pPr marL="0" indent="0">
              <a:buNone/>
            </a:pPr>
            <a:r>
              <a:rPr lang="en-US" sz="2000" dirty="0">
                <a:solidFill>
                  <a:schemeClr val="accent5"/>
                </a:solidFill>
              </a:rPr>
              <a:t>      </a:t>
            </a:r>
            <a:r>
              <a:rPr lang="en-US" sz="2000" dirty="0" err="1">
                <a:solidFill>
                  <a:schemeClr val="accent5"/>
                </a:solidFill>
              </a:rPr>
              <a:t>System.out.println</a:t>
            </a:r>
            <a:r>
              <a:rPr lang="en-US" sz="2000" dirty="0">
                <a:solidFill>
                  <a:schemeClr val="accent5"/>
                </a:solidFill>
              </a:rPr>
              <a:t>("Error: checked out");</a:t>
            </a:r>
          </a:p>
          <a:p>
            <a:pPr marL="0" indent="0">
              <a:buNone/>
            </a:pPr>
            <a:r>
              <a:rPr lang="en-US" sz="2000" dirty="0" smtClean="0">
                <a:solidFill>
                  <a:schemeClr val="accent5"/>
                </a:solidFill>
              </a:rPr>
              <a:t>  }</a:t>
            </a:r>
            <a:endParaRPr lang="en-US" sz="2000" dirty="0">
              <a:solidFill>
                <a:schemeClr val="accent5"/>
              </a:solidFill>
            </a:endParaRPr>
          </a:p>
          <a:p>
            <a:pPr marL="0" indent="0">
              <a:buNone/>
            </a:pPr>
            <a:r>
              <a:rPr lang="en-US" sz="2000" dirty="0">
                <a:solidFill>
                  <a:schemeClr val="accent5"/>
                </a:solidFill>
              </a:rPr>
              <a:t>}</a:t>
            </a:r>
          </a:p>
        </p:txBody>
      </p:sp>
      <p:sp>
        <p:nvSpPr>
          <p:cNvPr id="4" name="Content Placeholder 3"/>
          <p:cNvSpPr>
            <a:spLocks noGrp="1"/>
          </p:cNvSpPr>
          <p:nvPr>
            <p:ph sz="half" idx="2"/>
          </p:nvPr>
        </p:nvSpPr>
        <p:spPr>
          <a:xfrm>
            <a:off x="6172200" y="1371599"/>
            <a:ext cx="5181600" cy="5147734"/>
          </a:xfrm>
        </p:spPr>
        <p:txBody>
          <a:bodyPr>
            <a:noAutofit/>
          </a:bodyPr>
          <a:lstStyle/>
          <a:p>
            <a:pPr marL="0" indent="0">
              <a:buNone/>
            </a:pPr>
            <a:r>
              <a:rPr lang="en-US" sz="2000" dirty="0">
                <a:solidFill>
                  <a:schemeClr val="accent5"/>
                </a:solidFill>
              </a:rPr>
              <a:t>public class </a:t>
            </a:r>
            <a:r>
              <a:rPr lang="en-US" sz="2000" dirty="0" err="1">
                <a:solidFill>
                  <a:schemeClr val="accent5"/>
                </a:solidFill>
              </a:rPr>
              <a:t>TerminationCondition</a:t>
            </a:r>
            <a:r>
              <a:rPr lang="en-US" sz="2000" dirty="0">
                <a:solidFill>
                  <a:schemeClr val="accent5"/>
                </a:solidFill>
              </a:rPr>
              <a:t> {</a:t>
            </a:r>
          </a:p>
          <a:p>
            <a:pPr marL="0" indent="0">
              <a:buNone/>
            </a:pPr>
            <a:r>
              <a:rPr lang="en-US" sz="2000" dirty="0">
                <a:solidFill>
                  <a:schemeClr val="accent5"/>
                </a:solidFill>
              </a:rPr>
              <a:t>  public static void main(String[] </a:t>
            </a:r>
            <a:r>
              <a:rPr lang="en-US" sz="2000" dirty="0" err="1">
                <a:solidFill>
                  <a:schemeClr val="accent5"/>
                </a:solidFill>
              </a:rPr>
              <a:t>args</a:t>
            </a:r>
            <a:r>
              <a:rPr lang="en-US" sz="2000" dirty="0">
                <a:solidFill>
                  <a:schemeClr val="accent5"/>
                </a:solidFill>
              </a:rPr>
              <a:t>) {</a:t>
            </a:r>
          </a:p>
          <a:p>
            <a:pPr marL="0" indent="0">
              <a:buNone/>
            </a:pPr>
            <a:r>
              <a:rPr lang="en-US" sz="2000" dirty="0">
                <a:solidFill>
                  <a:schemeClr val="accent5"/>
                </a:solidFill>
              </a:rPr>
              <a:t>    Book novel = new Book(true);</a:t>
            </a:r>
          </a:p>
          <a:p>
            <a:pPr marL="0" indent="0">
              <a:buNone/>
            </a:pPr>
            <a:r>
              <a:rPr lang="en-US" sz="2000" dirty="0" smtClean="0">
                <a:solidFill>
                  <a:schemeClr val="accent5"/>
                </a:solidFill>
              </a:rPr>
              <a:t>    </a:t>
            </a:r>
            <a:r>
              <a:rPr lang="en-US" sz="2000" dirty="0" err="1" smtClean="0">
                <a:solidFill>
                  <a:schemeClr val="accent5"/>
                </a:solidFill>
              </a:rPr>
              <a:t>novel.checkIn</a:t>
            </a:r>
            <a:r>
              <a:rPr lang="en-US" sz="2000" dirty="0" smtClean="0">
                <a:solidFill>
                  <a:schemeClr val="accent5"/>
                </a:solidFill>
              </a:rPr>
              <a:t>(); // proper cleanup</a:t>
            </a:r>
          </a:p>
          <a:p>
            <a:pPr marL="0" indent="0">
              <a:buNone/>
            </a:pPr>
            <a:endParaRPr lang="en-US" sz="2000" dirty="0">
              <a:solidFill>
                <a:schemeClr val="accent5"/>
              </a:solidFill>
            </a:endParaRPr>
          </a:p>
          <a:p>
            <a:pPr marL="0" indent="0">
              <a:buNone/>
            </a:pPr>
            <a:r>
              <a:rPr lang="en-US" sz="2000" dirty="0">
                <a:solidFill>
                  <a:schemeClr val="accent5"/>
                </a:solidFill>
              </a:rPr>
              <a:t>    // Drop the reference, forget to clean up:</a:t>
            </a:r>
          </a:p>
          <a:p>
            <a:pPr marL="0" indent="0">
              <a:buNone/>
            </a:pPr>
            <a:r>
              <a:rPr lang="en-US" sz="2000" dirty="0">
                <a:solidFill>
                  <a:schemeClr val="accent5"/>
                </a:solidFill>
              </a:rPr>
              <a:t>    new Book(true</a:t>
            </a:r>
            <a:r>
              <a:rPr lang="en-US" sz="2000" dirty="0" smtClean="0">
                <a:solidFill>
                  <a:schemeClr val="accent5"/>
                </a:solidFill>
              </a:rPr>
              <a:t>);</a:t>
            </a:r>
          </a:p>
          <a:p>
            <a:pPr marL="0" indent="0">
              <a:buNone/>
            </a:pPr>
            <a:endParaRPr lang="en-US" sz="2000" dirty="0">
              <a:solidFill>
                <a:schemeClr val="accent5"/>
              </a:solidFill>
            </a:endParaRPr>
          </a:p>
          <a:p>
            <a:pPr marL="0" indent="0">
              <a:buNone/>
            </a:pPr>
            <a:r>
              <a:rPr lang="en-US" sz="2000" dirty="0">
                <a:solidFill>
                  <a:schemeClr val="accent5"/>
                </a:solidFill>
              </a:rPr>
              <a:t>    // Force garbage collection &amp; finalization:</a:t>
            </a:r>
          </a:p>
          <a:p>
            <a:pPr marL="0" indent="0">
              <a:buNone/>
            </a:pPr>
            <a:r>
              <a:rPr lang="en-US" sz="2000" dirty="0">
                <a:solidFill>
                  <a:schemeClr val="accent5"/>
                </a:solidFill>
              </a:rPr>
              <a:t>    </a:t>
            </a:r>
            <a:r>
              <a:rPr lang="en-US" sz="2000" dirty="0" err="1">
                <a:solidFill>
                  <a:schemeClr val="accent5"/>
                </a:solidFill>
              </a:rPr>
              <a:t>System.gc</a:t>
            </a:r>
            <a:r>
              <a:rPr lang="en-US" sz="2000" dirty="0">
                <a:solidFill>
                  <a:schemeClr val="accent5"/>
                </a:solidFill>
              </a:rPr>
              <a:t>();</a:t>
            </a:r>
          </a:p>
          <a:p>
            <a:pPr marL="0" indent="0">
              <a:buNone/>
            </a:pPr>
            <a:r>
              <a:rPr lang="en-US" sz="2000" dirty="0">
                <a:solidFill>
                  <a:schemeClr val="accent5"/>
                </a:solidFill>
              </a:rPr>
              <a:t>  }</a:t>
            </a:r>
          </a:p>
          <a:p>
            <a:pPr marL="0" indent="0">
              <a:buNone/>
            </a:pPr>
            <a:r>
              <a:rPr lang="en-US" sz="2000" dirty="0">
                <a:solidFill>
                  <a:schemeClr val="accent5"/>
                </a:solidFill>
              </a:rPr>
              <a:t>} </a:t>
            </a:r>
            <a:r>
              <a:rPr lang="en-US" sz="2000" dirty="0" smtClean="0">
                <a:solidFill>
                  <a:schemeClr val="accent5"/>
                </a:solidFill>
              </a:rPr>
              <a:t>// This program prints out “Error</a:t>
            </a:r>
            <a:r>
              <a:rPr lang="en-US" sz="2000" dirty="0">
                <a:solidFill>
                  <a:schemeClr val="accent5"/>
                </a:solidFill>
              </a:rPr>
              <a:t>: checked </a:t>
            </a:r>
            <a:r>
              <a:rPr lang="en-US" sz="2000" dirty="0" smtClean="0">
                <a:solidFill>
                  <a:schemeClr val="accent5"/>
                </a:solidFill>
              </a:rPr>
              <a:t>out”</a:t>
            </a:r>
            <a:endParaRPr lang="en-US" sz="2000" dirty="0">
              <a:solidFill>
                <a:schemeClr val="accent5"/>
              </a:solidFill>
            </a:endParaRPr>
          </a:p>
        </p:txBody>
      </p:sp>
      <p:sp>
        <p:nvSpPr>
          <p:cNvPr id="5" name="Slide Number Placeholder 4"/>
          <p:cNvSpPr>
            <a:spLocks noGrp="1"/>
          </p:cNvSpPr>
          <p:nvPr>
            <p:ph type="sldNum" sz="quarter" idx="12"/>
          </p:nvPr>
        </p:nvSpPr>
        <p:spPr/>
        <p:txBody>
          <a:bodyPr/>
          <a:lstStyle/>
          <a:p>
            <a:fld id="{965D6772-41C1-4987-827C-16EA866C2326}" type="slidenum">
              <a:rPr lang="en-US" smtClean="0"/>
              <a:t>42</a:t>
            </a:fld>
            <a:endParaRPr lang="en-US"/>
          </a:p>
        </p:txBody>
      </p:sp>
    </p:spTree>
    <p:extLst>
      <p:ext uri="{BB962C8B-B14F-4D97-AF65-F5344CB8AC3E}">
        <p14:creationId xmlns:p14="http://schemas.microsoft.com/office/powerpoint/2010/main" val="13536446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Enumerated Types</a:t>
            </a:r>
            <a:endParaRPr lang="en-US" dirty="0"/>
          </a:p>
        </p:txBody>
      </p:sp>
      <p:sp>
        <p:nvSpPr>
          <p:cNvPr id="3" name="Content Placeholder 2"/>
          <p:cNvSpPr>
            <a:spLocks noGrp="1"/>
          </p:cNvSpPr>
          <p:nvPr>
            <p:ph sz="half" idx="1"/>
          </p:nvPr>
        </p:nvSpPr>
        <p:spPr/>
        <p:txBody>
          <a:bodyPr>
            <a:normAutofit/>
          </a:bodyPr>
          <a:lstStyle/>
          <a:p>
            <a:r>
              <a:rPr lang="en-US" dirty="0" smtClean="0"/>
              <a:t>Used to group together a set of constants</a:t>
            </a:r>
          </a:p>
          <a:p>
            <a:r>
              <a:rPr lang="en-US" dirty="0" smtClean="0"/>
              <a:t>Can be used like in C++:</a:t>
            </a:r>
          </a:p>
          <a:p>
            <a:pPr marL="0" indent="0">
              <a:buNone/>
            </a:pPr>
            <a:endParaRPr lang="en-US" sz="2000" dirty="0"/>
          </a:p>
          <a:p>
            <a:pPr marL="0" indent="0">
              <a:buNone/>
            </a:pPr>
            <a:r>
              <a:rPr lang="en-US" sz="1800" dirty="0" err="1">
                <a:solidFill>
                  <a:schemeClr val="accent5"/>
                </a:solidFill>
              </a:rPr>
              <a:t>enum</a:t>
            </a:r>
            <a:r>
              <a:rPr lang="en-US" sz="1800" dirty="0">
                <a:solidFill>
                  <a:schemeClr val="accent5"/>
                </a:solidFill>
              </a:rPr>
              <a:t> Day {</a:t>
            </a:r>
          </a:p>
          <a:p>
            <a:pPr marL="0" indent="0">
              <a:buNone/>
            </a:pPr>
            <a:r>
              <a:rPr lang="en-US" sz="1800" dirty="0">
                <a:solidFill>
                  <a:schemeClr val="accent5"/>
                </a:solidFill>
              </a:rPr>
              <a:t>    MONDAY, TUESDAY, WEDNESDAY,</a:t>
            </a:r>
          </a:p>
          <a:p>
            <a:pPr marL="0" indent="0">
              <a:buNone/>
            </a:pPr>
            <a:r>
              <a:rPr lang="en-US" sz="1800" dirty="0">
                <a:solidFill>
                  <a:schemeClr val="accent5"/>
                </a:solidFill>
              </a:rPr>
              <a:t>    THURSDAY, FRIDAY, SATURDAY,</a:t>
            </a:r>
          </a:p>
          <a:p>
            <a:pPr marL="0" indent="0">
              <a:buNone/>
            </a:pPr>
            <a:r>
              <a:rPr lang="en-US" sz="1800" dirty="0">
                <a:solidFill>
                  <a:schemeClr val="accent5"/>
                </a:solidFill>
              </a:rPr>
              <a:t>    SUNDAY</a:t>
            </a:r>
          </a:p>
          <a:p>
            <a:pPr marL="0" indent="0">
              <a:buNone/>
            </a:pPr>
            <a:r>
              <a:rPr lang="en-US" sz="1800" dirty="0">
                <a:solidFill>
                  <a:schemeClr val="accent5"/>
                </a:solidFill>
              </a:rPr>
              <a:t>}</a:t>
            </a:r>
          </a:p>
        </p:txBody>
      </p:sp>
      <p:sp>
        <p:nvSpPr>
          <p:cNvPr id="4" name="Content Placeholder 3"/>
          <p:cNvSpPr>
            <a:spLocks noGrp="1"/>
          </p:cNvSpPr>
          <p:nvPr>
            <p:ph sz="half" idx="2"/>
          </p:nvPr>
        </p:nvSpPr>
        <p:spPr>
          <a:xfrm>
            <a:off x="5777088" y="169334"/>
            <a:ext cx="5181600" cy="6581422"/>
          </a:xfrm>
        </p:spPr>
        <p:txBody>
          <a:bodyPr>
            <a:noAutofit/>
          </a:bodyPr>
          <a:lstStyle/>
          <a:p>
            <a:pPr marL="0" indent="0">
              <a:buNone/>
            </a:pPr>
            <a:r>
              <a:rPr lang="en-US" sz="1600" dirty="0">
                <a:solidFill>
                  <a:schemeClr val="accent5"/>
                </a:solidFill>
              </a:rPr>
              <a:t>public class </a:t>
            </a:r>
            <a:r>
              <a:rPr lang="en-US" sz="1600" dirty="0" err="1">
                <a:solidFill>
                  <a:schemeClr val="accent5"/>
                </a:solidFill>
              </a:rPr>
              <a:t>EnumDaysInAWeek</a:t>
            </a:r>
            <a:r>
              <a:rPr lang="en-US" sz="1600" dirty="0">
                <a:solidFill>
                  <a:schemeClr val="accent5"/>
                </a:solidFill>
              </a:rPr>
              <a:t> {</a:t>
            </a:r>
          </a:p>
          <a:p>
            <a:pPr marL="0" indent="0">
              <a:buNone/>
            </a:pPr>
            <a:r>
              <a:rPr lang="en-US" sz="1600" dirty="0">
                <a:solidFill>
                  <a:schemeClr val="accent5"/>
                </a:solidFill>
              </a:rPr>
              <a:t>  Day </a:t>
            </a:r>
            <a:r>
              <a:rPr lang="en-US" sz="1600" dirty="0" err="1">
                <a:solidFill>
                  <a:schemeClr val="accent5"/>
                </a:solidFill>
              </a:rPr>
              <a:t>day</a:t>
            </a:r>
            <a:r>
              <a:rPr lang="en-US" sz="1600" dirty="0">
                <a:solidFill>
                  <a:schemeClr val="accent5"/>
                </a:solidFill>
              </a:rPr>
              <a:t>;</a:t>
            </a:r>
          </a:p>
          <a:p>
            <a:pPr marL="0" indent="0">
              <a:buNone/>
            </a:pPr>
            <a:r>
              <a:rPr lang="en-US" sz="1600" dirty="0">
                <a:solidFill>
                  <a:schemeClr val="accent5"/>
                </a:solidFill>
              </a:rPr>
              <a:t>  public </a:t>
            </a:r>
            <a:r>
              <a:rPr lang="en-US" sz="1600" dirty="0" err="1">
                <a:solidFill>
                  <a:schemeClr val="accent5"/>
                </a:solidFill>
              </a:rPr>
              <a:t>EnumDaysInAWeek</a:t>
            </a:r>
            <a:r>
              <a:rPr lang="en-US" sz="1600" dirty="0">
                <a:solidFill>
                  <a:schemeClr val="accent5"/>
                </a:solidFill>
              </a:rPr>
              <a:t>(Day d) </a:t>
            </a:r>
            <a:r>
              <a:rPr lang="en-US" sz="1600" dirty="0" smtClean="0">
                <a:solidFill>
                  <a:schemeClr val="accent5"/>
                </a:solidFill>
              </a:rPr>
              <a:t>{ day </a:t>
            </a:r>
            <a:r>
              <a:rPr lang="en-US" sz="1600" dirty="0">
                <a:solidFill>
                  <a:schemeClr val="accent5"/>
                </a:solidFill>
              </a:rPr>
              <a:t>= d</a:t>
            </a:r>
            <a:r>
              <a:rPr lang="en-US" sz="1600" dirty="0" smtClean="0">
                <a:solidFill>
                  <a:schemeClr val="accent5"/>
                </a:solidFill>
              </a:rPr>
              <a:t>; }</a:t>
            </a:r>
            <a:endParaRPr lang="en-US" sz="1600" dirty="0">
              <a:solidFill>
                <a:schemeClr val="accent5"/>
              </a:solidFill>
            </a:endParaRPr>
          </a:p>
          <a:p>
            <a:pPr marL="0" indent="0">
              <a:buNone/>
            </a:pPr>
            <a:r>
              <a:rPr lang="en-US" sz="1600" dirty="0">
                <a:solidFill>
                  <a:schemeClr val="accent5"/>
                </a:solidFill>
              </a:rPr>
              <a:t>  public void </a:t>
            </a:r>
            <a:r>
              <a:rPr lang="en-US" sz="1600" dirty="0" err="1">
                <a:solidFill>
                  <a:schemeClr val="accent5"/>
                </a:solidFill>
              </a:rPr>
              <a:t>tellIt</a:t>
            </a:r>
            <a:r>
              <a:rPr lang="en-US" sz="1600" dirty="0">
                <a:solidFill>
                  <a:schemeClr val="accent5"/>
                </a:solidFill>
              </a:rPr>
              <a:t>() {</a:t>
            </a:r>
          </a:p>
          <a:p>
            <a:pPr marL="0" indent="0">
              <a:buNone/>
            </a:pPr>
            <a:r>
              <a:rPr lang="en-US" sz="1600" dirty="0">
                <a:solidFill>
                  <a:schemeClr val="accent5"/>
                </a:solidFill>
              </a:rPr>
              <a:t>    switch(day) {</a:t>
            </a:r>
          </a:p>
          <a:p>
            <a:pPr marL="0" indent="0">
              <a:buNone/>
            </a:pPr>
            <a:r>
              <a:rPr lang="en-US" sz="1600" dirty="0">
                <a:solidFill>
                  <a:schemeClr val="accent5"/>
                </a:solidFill>
              </a:rPr>
              <a:t>      case SATURDAY: case SUNDAY:</a:t>
            </a:r>
          </a:p>
          <a:p>
            <a:pPr marL="0" indent="0">
              <a:buNone/>
            </a:pPr>
            <a:r>
              <a:rPr lang="en-US" sz="1600" dirty="0">
                <a:solidFill>
                  <a:schemeClr val="accent5"/>
                </a:solidFill>
              </a:rPr>
              <a:t>        </a:t>
            </a:r>
            <a:r>
              <a:rPr lang="en-US" sz="1600" dirty="0" err="1">
                <a:solidFill>
                  <a:schemeClr val="accent5"/>
                </a:solidFill>
              </a:rPr>
              <a:t>System.out.println</a:t>
            </a:r>
            <a:r>
              <a:rPr lang="en-US" sz="1600" dirty="0">
                <a:solidFill>
                  <a:schemeClr val="accent5"/>
                </a:solidFill>
              </a:rPr>
              <a:t>("Weekends are great</a:t>
            </a:r>
            <a:r>
              <a:rPr lang="en-US" sz="1600" dirty="0" smtClean="0">
                <a:solidFill>
                  <a:schemeClr val="accent5"/>
                </a:solidFill>
              </a:rPr>
              <a:t>!"); break</a:t>
            </a:r>
            <a:r>
              <a:rPr lang="en-US" sz="1600" dirty="0">
                <a:solidFill>
                  <a:schemeClr val="accent5"/>
                </a:solidFill>
              </a:rPr>
              <a:t>;</a:t>
            </a:r>
          </a:p>
          <a:p>
            <a:pPr marL="0" indent="0">
              <a:buNone/>
            </a:pPr>
            <a:r>
              <a:rPr lang="en-US" sz="1600" dirty="0">
                <a:solidFill>
                  <a:schemeClr val="accent5"/>
                </a:solidFill>
              </a:rPr>
              <a:t>      default:</a:t>
            </a:r>
          </a:p>
          <a:p>
            <a:pPr marL="0" indent="0">
              <a:buNone/>
            </a:pPr>
            <a:r>
              <a:rPr lang="en-US" sz="1600" dirty="0">
                <a:solidFill>
                  <a:schemeClr val="accent5"/>
                </a:solidFill>
              </a:rPr>
              <a:t>        </a:t>
            </a:r>
            <a:r>
              <a:rPr lang="en-US" sz="1600" dirty="0" err="1">
                <a:solidFill>
                  <a:schemeClr val="accent5"/>
                </a:solidFill>
              </a:rPr>
              <a:t>System.out.println</a:t>
            </a:r>
            <a:r>
              <a:rPr lang="en-US" sz="1600" dirty="0">
                <a:solidFill>
                  <a:schemeClr val="accent5"/>
                </a:solidFill>
              </a:rPr>
              <a:t>("Weekdays are bad</a:t>
            </a:r>
            <a:r>
              <a:rPr lang="en-US" sz="1600" dirty="0" smtClean="0">
                <a:solidFill>
                  <a:schemeClr val="accent5"/>
                </a:solidFill>
              </a:rPr>
              <a:t>."); break; </a:t>
            </a:r>
          </a:p>
          <a:p>
            <a:pPr marL="0" indent="0">
              <a:buNone/>
            </a:pPr>
            <a:r>
              <a:rPr lang="en-US" sz="1600" dirty="0">
                <a:solidFill>
                  <a:schemeClr val="accent5"/>
                </a:solidFill>
              </a:rPr>
              <a:t> </a:t>
            </a:r>
            <a:r>
              <a:rPr lang="en-US" sz="1600" dirty="0" smtClean="0">
                <a:solidFill>
                  <a:schemeClr val="accent5"/>
                </a:solidFill>
              </a:rPr>
              <a:t>   }</a:t>
            </a:r>
          </a:p>
          <a:p>
            <a:pPr marL="0" indent="0">
              <a:buNone/>
            </a:pPr>
            <a:r>
              <a:rPr lang="en-US" sz="1600" dirty="0">
                <a:solidFill>
                  <a:schemeClr val="accent5"/>
                </a:solidFill>
              </a:rPr>
              <a:t> </a:t>
            </a:r>
            <a:r>
              <a:rPr lang="en-US" sz="1600" dirty="0" smtClean="0">
                <a:solidFill>
                  <a:schemeClr val="accent5"/>
                </a:solidFill>
              </a:rPr>
              <a:t> }</a:t>
            </a:r>
            <a:endParaRPr lang="en-US" sz="1600" dirty="0">
              <a:solidFill>
                <a:schemeClr val="accent5"/>
              </a:solidFill>
            </a:endParaRPr>
          </a:p>
          <a:p>
            <a:pPr marL="0" indent="0">
              <a:buNone/>
            </a:pPr>
            <a:r>
              <a:rPr lang="en-US" sz="1600" dirty="0">
                <a:solidFill>
                  <a:schemeClr val="accent5"/>
                </a:solidFill>
              </a:rPr>
              <a:t>  public static void main(String[] </a:t>
            </a:r>
            <a:r>
              <a:rPr lang="en-US" sz="1600" dirty="0" err="1">
                <a:solidFill>
                  <a:schemeClr val="accent5"/>
                </a:solidFill>
              </a:rPr>
              <a:t>args</a:t>
            </a:r>
            <a:r>
              <a:rPr lang="en-US" sz="1600" dirty="0">
                <a:solidFill>
                  <a:schemeClr val="accent5"/>
                </a:solidFill>
              </a:rPr>
              <a:t>) {</a:t>
            </a:r>
          </a:p>
          <a:p>
            <a:pPr marL="0" indent="0">
              <a:buNone/>
            </a:pPr>
            <a:r>
              <a:rPr lang="en-US" sz="1600" dirty="0">
                <a:solidFill>
                  <a:schemeClr val="accent5"/>
                </a:solidFill>
              </a:rPr>
              <a:t>    </a:t>
            </a:r>
            <a:r>
              <a:rPr lang="en-US" sz="1600" dirty="0" err="1">
                <a:solidFill>
                  <a:schemeClr val="accent5"/>
                </a:solidFill>
              </a:rPr>
              <a:t>EnumDaysInAWeek</a:t>
            </a:r>
            <a:r>
              <a:rPr lang="en-US" sz="1600" dirty="0">
                <a:solidFill>
                  <a:schemeClr val="accent5"/>
                </a:solidFill>
              </a:rPr>
              <a:t> d1 = new </a:t>
            </a:r>
            <a:r>
              <a:rPr lang="en-US" sz="1600" dirty="0" err="1">
                <a:solidFill>
                  <a:schemeClr val="accent5"/>
                </a:solidFill>
              </a:rPr>
              <a:t>EnumDaysInAWeek</a:t>
            </a:r>
            <a:r>
              <a:rPr lang="en-US" sz="1600" dirty="0">
                <a:solidFill>
                  <a:schemeClr val="accent5"/>
                </a:solidFill>
              </a:rPr>
              <a:t>(</a:t>
            </a:r>
            <a:r>
              <a:rPr lang="en-US" sz="1600" dirty="0" err="1">
                <a:solidFill>
                  <a:schemeClr val="accent5"/>
                </a:solidFill>
              </a:rPr>
              <a:t>Day.MONDAY</a:t>
            </a:r>
            <a:r>
              <a:rPr lang="en-US" sz="1600" dirty="0">
                <a:solidFill>
                  <a:schemeClr val="accent5"/>
                </a:solidFill>
              </a:rPr>
              <a:t>);</a:t>
            </a:r>
          </a:p>
          <a:p>
            <a:pPr marL="0" indent="0">
              <a:buNone/>
            </a:pPr>
            <a:r>
              <a:rPr lang="en-US" sz="1600" dirty="0">
                <a:solidFill>
                  <a:schemeClr val="accent5"/>
                </a:solidFill>
              </a:rPr>
              <a:t>    d1.tellIt();</a:t>
            </a:r>
          </a:p>
          <a:p>
            <a:pPr marL="0" indent="0">
              <a:buNone/>
            </a:pPr>
            <a:r>
              <a:rPr lang="en-US" sz="1600" dirty="0">
                <a:solidFill>
                  <a:schemeClr val="accent5"/>
                </a:solidFill>
              </a:rPr>
              <a:t>    </a:t>
            </a:r>
            <a:r>
              <a:rPr lang="en-US" sz="1600" dirty="0" err="1">
                <a:solidFill>
                  <a:schemeClr val="accent5"/>
                </a:solidFill>
              </a:rPr>
              <a:t>EnumDaysInAWeek</a:t>
            </a:r>
            <a:r>
              <a:rPr lang="en-US" sz="1600" dirty="0">
                <a:solidFill>
                  <a:schemeClr val="accent5"/>
                </a:solidFill>
              </a:rPr>
              <a:t> d2 = new </a:t>
            </a:r>
            <a:r>
              <a:rPr lang="en-US" sz="1600" dirty="0" err="1">
                <a:solidFill>
                  <a:schemeClr val="accent5"/>
                </a:solidFill>
              </a:rPr>
              <a:t>EnumDaysInAWeek</a:t>
            </a:r>
            <a:r>
              <a:rPr lang="en-US" sz="1600" dirty="0">
                <a:solidFill>
                  <a:schemeClr val="accent5"/>
                </a:solidFill>
              </a:rPr>
              <a:t>(</a:t>
            </a:r>
            <a:r>
              <a:rPr lang="en-US" sz="1600" dirty="0" err="1">
                <a:solidFill>
                  <a:schemeClr val="accent5"/>
                </a:solidFill>
              </a:rPr>
              <a:t>Day.SUNDAY</a:t>
            </a:r>
            <a:r>
              <a:rPr lang="en-US" sz="1600" dirty="0">
                <a:solidFill>
                  <a:schemeClr val="accent5"/>
                </a:solidFill>
              </a:rPr>
              <a:t>);</a:t>
            </a:r>
          </a:p>
          <a:p>
            <a:pPr marL="0" indent="0">
              <a:buNone/>
            </a:pPr>
            <a:r>
              <a:rPr lang="en-US" sz="1600" dirty="0">
                <a:solidFill>
                  <a:schemeClr val="accent5"/>
                </a:solidFill>
              </a:rPr>
              <a:t>    d2.tellIt();</a:t>
            </a:r>
          </a:p>
          <a:p>
            <a:pPr marL="0" indent="0">
              <a:buNone/>
            </a:pPr>
            <a:r>
              <a:rPr lang="en-US" sz="1600" dirty="0">
                <a:solidFill>
                  <a:schemeClr val="accent5"/>
                </a:solidFill>
              </a:rPr>
              <a:t>  }</a:t>
            </a:r>
          </a:p>
          <a:p>
            <a:pPr marL="0" indent="0">
              <a:buNone/>
            </a:pPr>
            <a:r>
              <a:rPr lang="en-US" sz="1600" dirty="0">
                <a:solidFill>
                  <a:schemeClr val="accent5"/>
                </a:solidFill>
              </a:rPr>
              <a:t>}</a:t>
            </a:r>
          </a:p>
        </p:txBody>
      </p:sp>
      <p:sp>
        <p:nvSpPr>
          <p:cNvPr id="5" name="TextBox 4"/>
          <p:cNvSpPr txBox="1"/>
          <p:nvPr/>
        </p:nvSpPr>
        <p:spPr>
          <a:xfrm>
            <a:off x="9774766" y="3655716"/>
            <a:ext cx="2367843" cy="1323439"/>
          </a:xfrm>
          <a:prstGeom prst="rect">
            <a:avLst/>
          </a:prstGeom>
          <a:noFill/>
        </p:spPr>
        <p:txBody>
          <a:bodyPr wrap="square" rtlCol="0">
            <a:spAutoFit/>
          </a:bodyPr>
          <a:lstStyle/>
          <a:p>
            <a:r>
              <a:rPr lang="en-US" sz="2000" dirty="0" smtClean="0">
                <a:solidFill>
                  <a:schemeClr val="accent5"/>
                </a:solidFill>
              </a:rPr>
              <a:t>/* Output:</a:t>
            </a:r>
          </a:p>
          <a:p>
            <a:r>
              <a:rPr lang="en-US" sz="2000" dirty="0">
                <a:solidFill>
                  <a:schemeClr val="accent5"/>
                </a:solidFill>
              </a:rPr>
              <a:t>Weekdays are bad</a:t>
            </a:r>
            <a:r>
              <a:rPr lang="en-US" sz="2000" dirty="0" smtClean="0">
                <a:solidFill>
                  <a:schemeClr val="accent5"/>
                </a:solidFill>
              </a:rPr>
              <a:t>.</a:t>
            </a:r>
          </a:p>
          <a:p>
            <a:r>
              <a:rPr lang="en-US" sz="2000" dirty="0">
                <a:solidFill>
                  <a:schemeClr val="accent5"/>
                </a:solidFill>
              </a:rPr>
              <a:t>Weekends are </a:t>
            </a:r>
            <a:r>
              <a:rPr lang="en-US" sz="2000" dirty="0" smtClean="0">
                <a:solidFill>
                  <a:schemeClr val="accent5"/>
                </a:solidFill>
              </a:rPr>
              <a:t>great!</a:t>
            </a:r>
            <a:endParaRPr lang="en-US" sz="2000" dirty="0">
              <a:solidFill>
                <a:schemeClr val="accent5"/>
              </a:solidFill>
            </a:endParaRPr>
          </a:p>
          <a:p>
            <a:r>
              <a:rPr lang="en-US" sz="2000" dirty="0" smtClean="0">
                <a:solidFill>
                  <a:schemeClr val="accent5"/>
                </a:solidFill>
              </a:rPr>
              <a:t>*/</a:t>
            </a:r>
            <a:endParaRPr lang="en-US" sz="2000" dirty="0">
              <a:solidFill>
                <a:schemeClr val="accent5"/>
              </a:solidFill>
            </a:endParaRPr>
          </a:p>
        </p:txBody>
      </p:sp>
      <p:sp>
        <p:nvSpPr>
          <p:cNvPr id="6" name="Slide Number Placeholder 5"/>
          <p:cNvSpPr>
            <a:spLocks noGrp="1"/>
          </p:cNvSpPr>
          <p:nvPr>
            <p:ph type="sldNum" sz="quarter" idx="12"/>
          </p:nvPr>
        </p:nvSpPr>
        <p:spPr/>
        <p:txBody>
          <a:bodyPr/>
          <a:lstStyle/>
          <a:p>
            <a:fld id="{965D6772-41C1-4987-827C-16EA866C2326}" type="slidenum">
              <a:rPr lang="en-US" smtClean="0"/>
              <a:t>43</a:t>
            </a:fld>
            <a:endParaRPr lang="en-US"/>
          </a:p>
        </p:txBody>
      </p:sp>
    </p:spTree>
    <p:extLst>
      <p:ext uri="{BB962C8B-B14F-4D97-AF65-F5344CB8AC3E}">
        <p14:creationId xmlns:p14="http://schemas.microsoft.com/office/powerpoint/2010/main" val="34738003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Powerful Java </a:t>
            </a:r>
            <a:r>
              <a:rPr lang="en-US" dirty="0" err="1" smtClean="0"/>
              <a:t>Enum</a:t>
            </a:r>
            <a:endParaRPr lang="en-US" dirty="0"/>
          </a:p>
        </p:txBody>
      </p:sp>
      <p:sp>
        <p:nvSpPr>
          <p:cNvPr id="3" name="Content Placeholder 2"/>
          <p:cNvSpPr>
            <a:spLocks noGrp="1"/>
          </p:cNvSpPr>
          <p:nvPr>
            <p:ph sz="half" idx="1"/>
          </p:nvPr>
        </p:nvSpPr>
        <p:spPr>
          <a:xfrm>
            <a:off x="745067" y="1825625"/>
            <a:ext cx="5274733" cy="4351338"/>
          </a:xfrm>
        </p:spPr>
        <p:txBody>
          <a:bodyPr>
            <a:normAutofit lnSpcReduction="10000"/>
          </a:bodyPr>
          <a:lstStyle/>
          <a:p>
            <a:r>
              <a:rPr lang="en-US" dirty="0" err="1">
                <a:solidFill>
                  <a:schemeClr val="accent5"/>
                </a:solidFill>
              </a:rPr>
              <a:t>e</a:t>
            </a:r>
            <a:r>
              <a:rPr lang="en-US" dirty="0" err="1" smtClean="0">
                <a:solidFill>
                  <a:schemeClr val="accent5"/>
                </a:solidFill>
              </a:rPr>
              <a:t>num</a:t>
            </a:r>
            <a:r>
              <a:rPr lang="en-US" dirty="0" smtClean="0">
                <a:solidFill>
                  <a:schemeClr val="accent5"/>
                </a:solidFill>
              </a:rPr>
              <a:t>{…} </a:t>
            </a:r>
            <a:r>
              <a:rPr lang="en-US" dirty="0" smtClean="0"/>
              <a:t>defines a class that implicitly extends </a:t>
            </a:r>
            <a:r>
              <a:rPr lang="en-US" dirty="0" err="1" smtClean="0">
                <a:solidFill>
                  <a:schemeClr val="accent5"/>
                </a:solidFill>
              </a:rPr>
              <a:t>java.lang.Enum</a:t>
            </a:r>
            <a:endParaRPr lang="en-US" dirty="0" smtClean="0">
              <a:solidFill>
                <a:schemeClr val="accent5"/>
              </a:solidFill>
            </a:endParaRPr>
          </a:p>
          <a:p>
            <a:r>
              <a:rPr lang="en-US" dirty="0" smtClean="0"/>
              <a:t>The </a:t>
            </a:r>
            <a:r>
              <a:rPr lang="en-US" dirty="0" err="1" smtClean="0"/>
              <a:t>enum</a:t>
            </a:r>
            <a:r>
              <a:rPr lang="en-US" dirty="0" smtClean="0"/>
              <a:t> body can include fields and methods</a:t>
            </a:r>
          </a:p>
          <a:p>
            <a:r>
              <a:rPr lang="en-US" dirty="0" smtClean="0"/>
              <a:t>A few built-in methods:</a:t>
            </a:r>
          </a:p>
          <a:p>
            <a:pPr lvl="1"/>
            <a:r>
              <a:rPr lang="en-US" dirty="0" err="1" smtClean="0">
                <a:solidFill>
                  <a:schemeClr val="accent5"/>
                </a:solidFill>
              </a:rPr>
              <a:t>toString</a:t>
            </a:r>
            <a:r>
              <a:rPr lang="en-US" dirty="0" smtClean="0">
                <a:solidFill>
                  <a:schemeClr val="accent5"/>
                </a:solidFill>
              </a:rPr>
              <a:t>(): </a:t>
            </a:r>
            <a:r>
              <a:rPr lang="en-US" dirty="0" smtClean="0"/>
              <a:t>prints out the constant name</a:t>
            </a:r>
            <a:endParaRPr lang="en-US" dirty="0" smtClean="0">
              <a:solidFill>
                <a:schemeClr val="accent5"/>
              </a:solidFill>
            </a:endParaRPr>
          </a:p>
          <a:p>
            <a:pPr lvl="1"/>
            <a:r>
              <a:rPr lang="en-US" dirty="0" smtClean="0">
                <a:solidFill>
                  <a:schemeClr val="accent5"/>
                </a:solidFill>
              </a:rPr>
              <a:t>values()</a:t>
            </a:r>
            <a:r>
              <a:rPr lang="en-US" dirty="0" smtClean="0"/>
              <a:t>: returns an array for all the constants in their declaration order</a:t>
            </a:r>
          </a:p>
          <a:p>
            <a:pPr lvl="1"/>
            <a:r>
              <a:rPr lang="en-US" dirty="0" smtClean="0">
                <a:solidFill>
                  <a:schemeClr val="accent5"/>
                </a:solidFill>
              </a:rPr>
              <a:t>ordinal()</a:t>
            </a:r>
            <a:r>
              <a:rPr lang="en-US" dirty="0" smtClean="0"/>
              <a:t>: indicates a constant’s declaration order</a:t>
            </a:r>
            <a:endParaRPr lang="en-US" dirty="0"/>
          </a:p>
        </p:txBody>
      </p:sp>
      <p:sp>
        <p:nvSpPr>
          <p:cNvPr id="4" name="Content Placeholder 3"/>
          <p:cNvSpPr>
            <a:spLocks noGrp="1"/>
          </p:cNvSpPr>
          <p:nvPr>
            <p:ph sz="half" idx="2"/>
          </p:nvPr>
        </p:nvSpPr>
        <p:spPr/>
        <p:txBody>
          <a:bodyPr>
            <a:normAutofit lnSpcReduction="10000"/>
          </a:bodyPr>
          <a:lstStyle/>
          <a:p>
            <a:r>
              <a:rPr lang="en-US" dirty="0" smtClean="0"/>
              <a:t>Syntax:</a:t>
            </a:r>
          </a:p>
          <a:p>
            <a:pPr lvl="1"/>
            <a:r>
              <a:rPr lang="en-US" dirty="0" smtClean="0"/>
              <a:t>All constant names are in uppercase letters</a:t>
            </a:r>
          </a:p>
          <a:p>
            <a:pPr lvl="1"/>
            <a:r>
              <a:rPr lang="en-US" dirty="0" smtClean="0"/>
              <a:t>Constants are declared first (possibly with arguments) prior to any fields or methods</a:t>
            </a:r>
          </a:p>
          <a:p>
            <a:pPr lvl="1"/>
            <a:r>
              <a:rPr lang="en-US" dirty="0" smtClean="0"/>
              <a:t>The constructor is defined</a:t>
            </a:r>
          </a:p>
          <a:p>
            <a:pPr lvl="2"/>
            <a:r>
              <a:rPr lang="en-US" dirty="0" smtClean="0"/>
              <a:t>Used to create constants only</a:t>
            </a:r>
          </a:p>
          <a:p>
            <a:pPr lvl="2"/>
            <a:r>
              <a:rPr lang="en-US" dirty="0" smtClean="0"/>
              <a:t>You cannot invoke an </a:t>
            </a:r>
            <a:r>
              <a:rPr lang="en-US" dirty="0" err="1" smtClean="0"/>
              <a:t>enum</a:t>
            </a:r>
            <a:r>
              <a:rPr lang="en-US" dirty="0" smtClean="0"/>
              <a:t> constructor yourself!</a:t>
            </a:r>
            <a:endParaRPr lang="en-US" dirty="0"/>
          </a:p>
        </p:txBody>
      </p:sp>
      <p:sp>
        <p:nvSpPr>
          <p:cNvPr id="5" name="Slide Number Placeholder 4"/>
          <p:cNvSpPr>
            <a:spLocks noGrp="1"/>
          </p:cNvSpPr>
          <p:nvPr>
            <p:ph type="sldNum" sz="quarter" idx="12"/>
          </p:nvPr>
        </p:nvSpPr>
        <p:spPr/>
        <p:txBody>
          <a:bodyPr/>
          <a:lstStyle/>
          <a:p>
            <a:fld id="{965D6772-41C1-4987-827C-16EA866C2326}" type="slidenum">
              <a:rPr lang="en-US" smtClean="0"/>
              <a:t>44</a:t>
            </a:fld>
            <a:endParaRPr lang="en-US"/>
          </a:p>
        </p:txBody>
      </p:sp>
    </p:spTree>
    <p:extLst>
      <p:ext uri="{BB962C8B-B14F-4D97-AF65-F5344CB8AC3E}">
        <p14:creationId xmlns:p14="http://schemas.microsoft.com/office/powerpoint/2010/main" val="29575719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Revised </a:t>
            </a:r>
            <a:r>
              <a:rPr lang="en-US" dirty="0" err="1" smtClean="0"/>
              <a:t>WeekDay</a:t>
            </a:r>
            <a:r>
              <a:rPr lang="en-US" dirty="0" smtClean="0"/>
              <a:t> Example</a:t>
            </a:r>
            <a:endParaRPr lang="en-US" dirty="0"/>
          </a:p>
        </p:txBody>
      </p:sp>
      <p:sp>
        <p:nvSpPr>
          <p:cNvPr id="3" name="Content Placeholder 2"/>
          <p:cNvSpPr>
            <a:spLocks noGrp="1"/>
          </p:cNvSpPr>
          <p:nvPr>
            <p:ph sz="half" idx="1"/>
          </p:nvPr>
        </p:nvSpPr>
        <p:spPr/>
        <p:txBody>
          <a:bodyPr>
            <a:normAutofit/>
          </a:bodyPr>
          <a:lstStyle/>
          <a:p>
            <a:pPr marL="0" indent="0">
              <a:buNone/>
            </a:pPr>
            <a:r>
              <a:rPr lang="en-US" sz="2000" dirty="0">
                <a:solidFill>
                  <a:schemeClr val="accent5"/>
                </a:solidFill>
              </a:rPr>
              <a:t>public </a:t>
            </a:r>
            <a:r>
              <a:rPr lang="en-US" sz="2000" dirty="0" err="1">
                <a:solidFill>
                  <a:schemeClr val="accent5"/>
                </a:solidFill>
              </a:rPr>
              <a:t>enum</a:t>
            </a:r>
            <a:r>
              <a:rPr lang="en-US" sz="2000" dirty="0">
                <a:solidFill>
                  <a:schemeClr val="accent5"/>
                </a:solidFill>
              </a:rPr>
              <a:t> </a:t>
            </a:r>
            <a:r>
              <a:rPr lang="en-US" sz="2000" dirty="0" err="1">
                <a:solidFill>
                  <a:schemeClr val="accent5"/>
                </a:solidFill>
              </a:rPr>
              <a:t>EnumWeekDay</a:t>
            </a:r>
            <a:r>
              <a:rPr lang="en-US" sz="2000" dirty="0">
                <a:solidFill>
                  <a:schemeClr val="accent5"/>
                </a:solidFill>
              </a:rPr>
              <a:t> {</a:t>
            </a:r>
          </a:p>
          <a:p>
            <a:pPr marL="0" indent="0">
              <a:buNone/>
            </a:pPr>
            <a:r>
              <a:rPr lang="en-US" sz="2000" dirty="0">
                <a:solidFill>
                  <a:schemeClr val="accent5"/>
                </a:solidFill>
              </a:rPr>
              <a:t>  MONDAY(21), TUESDAY(45), </a:t>
            </a:r>
          </a:p>
          <a:p>
            <a:pPr marL="0" indent="0">
              <a:buNone/>
            </a:pPr>
            <a:r>
              <a:rPr lang="en-US" sz="2000" dirty="0">
                <a:solidFill>
                  <a:schemeClr val="accent5"/>
                </a:solidFill>
              </a:rPr>
              <a:t>  WEDNESDAY(0), THURSDAY(2), </a:t>
            </a:r>
          </a:p>
          <a:p>
            <a:pPr marL="0" indent="0">
              <a:buNone/>
            </a:pPr>
            <a:r>
              <a:rPr lang="en-US" sz="2000" dirty="0">
                <a:solidFill>
                  <a:schemeClr val="accent5"/>
                </a:solidFill>
              </a:rPr>
              <a:t>  FRIDAY(3), SATURDAY(1), SUNDAY(23);</a:t>
            </a:r>
          </a:p>
          <a:p>
            <a:pPr marL="0" indent="0">
              <a:buNone/>
            </a:pPr>
            <a:endParaRPr lang="en-US" sz="2000" dirty="0">
              <a:solidFill>
                <a:schemeClr val="accent5"/>
              </a:solidFill>
            </a:endParaRPr>
          </a:p>
          <a:p>
            <a:pPr marL="0" indent="0">
              <a:buNone/>
            </a:pPr>
            <a:r>
              <a:rPr lang="en-US" sz="2000" dirty="0">
                <a:solidFill>
                  <a:schemeClr val="accent5"/>
                </a:solidFill>
              </a:rPr>
              <a:t>  private </a:t>
            </a:r>
            <a:r>
              <a:rPr lang="en-US" sz="2000" dirty="0" err="1">
                <a:solidFill>
                  <a:schemeClr val="accent5"/>
                </a:solidFill>
              </a:rPr>
              <a:t>int</a:t>
            </a:r>
            <a:r>
              <a:rPr lang="en-US" sz="2000" dirty="0">
                <a:solidFill>
                  <a:schemeClr val="accent5"/>
                </a:solidFill>
              </a:rPr>
              <a:t> lucky;</a:t>
            </a:r>
          </a:p>
          <a:p>
            <a:pPr marL="0" indent="0">
              <a:buNone/>
            </a:pPr>
            <a:r>
              <a:rPr lang="en-US" sz="2000" dirty="0">
                <a:solidFill>
                  <a:schemeClr val="accent5"/>
                </a:solidFill>
              </a:rPr>
              <a:t>  </a:t>
            </a:r>
            <a:r>
              <a:rPr lang="en-US" sz="2000" dirty="0" err="1">
                <a:solidFill>
                  <a:schemeClr val="accent5"/>
                </a:solidFill>
              </a:rPr>
              <a:t>EnumWeekDay</a:t>
            </a:r>
            <a:r>
              <a:rPr lang="en-US" sz="2000" dirty="0">
                <a:solidFill>
                  <a:schemeClr val="accent5"/>
                </a:solidFill>
              </a:rPr>
              <a:t>(</a:t>
            </a:r>
            <a:r>
              <a:rPr lang="en-US" sz="2000" dirty="0" err="1">
                <a:solidFill>
                  <a:schemeClr val="accent5"/>
                </a:solidFill>
              </a:rPr>
              <a:t>int</a:t>
            </a:r>
            <a:r>
              <a:rPr lang="en-US" sz="2000" dirty="0">
                <a:solidFill>
                  <a:schemeClr val="accent5"/>
                </a:solidFill>
              </a:rPr>
              <a:t> </a:t>
            </a:r>
            <a:r>
              <a:rPr lang="en-US" sz="2000" dirty="0" err="1">
                <a:solidFill>
                  <a:schemeClr val="accent5"/>
                </a:solidFill>
              </a:rPr>
              <a:t>num</a:t>
            </a:r>
            <a:r>
              <a:rPr lang="en-US" sz="2000" dirty="0">
                <a:solidFill>
                  <a:schemeClr val="accent5"/>
                </a:solidFill>
              </a:rPr>
              <a:t>) { lucky = </a:t>
            </a:r>
            <a:r>
              <a:rPr lang="en-US" sz="2000" dirty="0" err="1">
                <a:solidFill>
                  <a:schemeClr val="accent5"/>
                </a:solidFill>
              </a:rPr>
              <a:t>num</a:t>
            </a:r>
            <a:r>
              <a:rPr lang="en-US" sz="2000" dirty="0">
                <a:solidFill>
                  <a:schemeClr val="accent5"/>
                </a:solidFill>
              </a:rPr>
              <a:t>; </a:t>
            </a:r>
            <a:r>
              <a:rPr lang="en-US" sz="2000" dirty="0" smtClean="0">
                <a:solidFill>
                  <a:schemeClr val="accent5"/>
                </a:solidFill>
              </a:rPr>
              <a:t>}</a:t>
            </a:r>
          </a:p>
          <a:p>
            <a:pPr marL="0" indent="0">
              <a:buNone/>
            </a:pPr>
            <a:endParaRPr lang="en-US" sz="2000" dirty="0">
              <a:solidFill>
                <a:schemeClr val="accent5"/>
              </a:solidFill>
            </a:endParaRPr>
          </a:p>
          <a:p>
            <a:pPr marL="0" indent="0">
              <a:buNone/>
            </a:pPr>
            <a:r>
              <a:rPr lang="en-US" sz="2000" dirty="0">
                <a:solidFill>
                  <a:schemeClr val="accent5"/>
                </a:solidFill>
              </a:rPr>
              <a:t>  void </a:t>
            </a:r>
            <a:r>
              <a:rPr lang="en-US" sz="2000" dirty="0" err="1">
                <a:solidFill>
                  <a:schemeClr val="accent5"/>
                </a:solidFill>
              </a:rPr>
              <a:t>luckyNum</a:t>
            </a:r>
            <a:r>
              <a:rPr lang="en-US" sz="2000" dirty="0">
                <a:solidFill>
                  <a:schemeClr val="accent5"/>
                </a:solidFill>
              </a:rPr>
              <a:t>(</a:t>
            </a:r>
            <a:r>
              <a:rPr lang="en-US" sz="2000" dirty="0" err="1">
                <a:solidFill>
                  <a:schemeClr val="accent5"/>
                </a:solidFill>
              </a:rPr>
              <a:t>int</a:t>
            </a:r>
            <a:r>
              <a:rPr lang="en-US" sz="2000" dirty="0">
                <a:solidFill>
                  <a:schemeClr val="accent5"/>
                </a:solidFill>
              </a:rPr>
              <a:t> </a:t>
            </a:r>
            <a:r>
              <a:rPr lang="en-US" sz="2000" dirty="0" err="1">
                <a:solidFill>
                  <a:schemeClr val="accent5"/>
                </a:solidFill>
              </a:rPr>
              <a:t>num</a:t>
            </a:r>
            <a:r>
              <a:rPr lang="en-US" sz="2000" dirty="0">
                <a:solidFill>
                  <a:schemeClr val="accent5"/>
                </a:solidFill>
              </a:rPr>
              <a:t>) { lucky = </a:t>
            </a:r>
            <a:r>
              <a:rPr lang="en-US" sz="2000" dirty="0" err="1">
                <a:solidFill>
                  <a:schemeClr val="accent5"/>
                </a:solidFill>
              </a:rPr>
              <a:t>num</a:t>
            </a:r>
            <a:r>
              <a:rPr lang="en-US" sz="2000" dirty="0">
                <a:solidFill>
                  <a:schemeClr val="accent5"/>
                </a:solidFill>
              </a:rPr>
              <a:t>; }</a:t>
            </a:r>
          </a:p>
          <a:p>
            <a:pPr marL="0" indent="0">
              <a:buNone/>
            </a:pPr>
            <a:r>
              <a:rPr lang="en-US" sz="2000" dirty="0">
                <a:solidFill>
                  <a:schemeClr val="accent5"/>
                </a:solidFill>
              </a:rPr>
              <a:t>  </a:t>
            </a:r>
            <a:r>
              <a:rPr lang="en-US" sz="2000" dirty="0" err="1">
                <a:solidFill>
                  <a:schemeClr val="accent5"/>
                </a:solidFill>
              </a:rPr>
              <a:t>int</a:t>
            </a:r>
            <a:r>
              <a:rPr lang="en-US" sz="2000" dirty="0">
                <a:solidFill>
                  <a:schemeClr val="accent5"/>
                </a:solidFill>
              </a:rPr>
              <a:t> </a:t>
            </a:r>
            <a:r>
              <a:rPr lang="en-US" sz="2000" dirty="0" err="1">
                <a:solidFill>
                  <a:schemeClr val="accent5"/>
                </a:solidFill>
              </a:rPr>
              <a:t>luckyNum</a:t>
            </a:r>
            <a:r>
              <a:rPr lang="en-US" sz="2000" dirty="0">
                <a:solidFill>
                  <a:schemeClr val="accent5"/>
                </a:solidFill>
              </a:rPr>
              <a:t>() { return lucky; }</a:t>
            </a:r>
          </a:p>
        </p:txBody>
      </p:sp>
      <p:sp>
        <p:nvSpPr>
          <p:cNvPr id="4" name="Content Placeholder 3"/>
          <p:cNvSpPr>
            <a:spLocks noGrp="1"/>
          </p:cNvSpPr>
          <p:nvPr>
            <p:ph sz="half" idx="2"/>
          </p:nvPr>
        </p:nvSpPr>
        <p:spPr>
          <a:xfrm>
            <a:off x="6019800" y="1690688"/>
            <a:ext cx="5624689" cy="4757739"/>
          </a:xfrm>
        </p:spPr>
        <p:txBody>
          <a:bodyPr>
            <a:normAutofit/>
          </a:bodyPr>
          <a:lstStyle/>
          <a:p>
            <a:pPr marL="0" indent="0">
              <a:buNone/>
            </a:pPr>
            <a:r>
              <a:rPr lang="en-US" sz="2000" dirty="0">
                <a:solidFill>
                  <a:schemeClr val="accent5"/>
                </a:solidFill>
              </a:rPr>
              <a:t>public static void main(String[] </a:t>
            </a:r>
            <a:r>
              <a:rPr lang="en-US" sz="2000" dirty="0" err="1">
                <a:solidFill>
                  <a:schemeClr val="accent5"/>
                </a:solidFill>
              </a:rPr>
              <a:t>args</a:t>
            </a:r>
            <a:r>
              <a:rPr lang="en-US" sz="2000" dirty="0">
                <a:solidFill>
                  <a:schemeClr val="accent5"/>
                </a:solidFill>
              </a:rPr>
              <a:t>) {</a:t>
            </a:r>
          </a:p>
          <a:p>
            <a:pPr marL="0" indent="0">
              <a:buNone/>
            </a:pPr>
            <a:r>
              <a:rPr lang="en-US" sz="2000" dirty="0">
                <a:solidFill>
                  <a:schemeClr val="accent5"/>
                </a:solidFill>
              </a:rPr>
              <a:t>    for(</a:t>
            </a:r>
            <a:r>
              <a:rPr lang="en-US" sz="2000" dirty="0" err="1">
                <a:solidFill>
                  <a:schemeClr val="accent5"/>
                </a:solidFill>
              </a:rPr>
              <a:t>EnumWeekDay</a:t>
            </a:r>
            <a:r>
              <a:rPr lang="en-US" sz="2000" dirty="0">
                <a:solidFill>
                  <a:schemeClr val="accent5"/>
                </a:solidFill>
              </a:rPr>
              <a:t> d : </a:t>
            </a:r>
            <a:r>
              <a:rPr lang="en-US" sz="2000" dirty="0" err="1">
                <a:solidFill>
                  <a:schemeClr val="accent5"/>
                </a:solidFill>
              </a:rPr>
              <a:t>EnumWeekDay.values</a:t>
            </a:r>
            <a:r>
              <a:rPr lang="en-US" sz="2000" dirty="0">
                <a:solidFill>
                  <a:schemeClr val="accent5"/>
                </a:solidFill>
              </a:rPr>
              <a:t>()) {</a:t>
            </a:r>
          </a:p>
          <a:p>
            <a:pPr marL="0" indent="0">
              <a:buNone/>
            </a:pPr>
            <a:r>
              <a:rPr lang="en-US" sz="2000" dirty="0">
                <a:solidFill>
                  <a:schemeClr val="accent5"/>
                </a:solidFill>
              </a:rPr>
              <a:t>      </a:t>
            </a:r>
            <a:r>
              <a:rPr lang="en-US" sz="2000" dirty="0" err="1">
                <a:solidFill>
                  <a:schemeClr val="accent5"/>
                </a:solidFill>
              </a:rPr>
              <a:t>System.out.println</a:t>
            </a:r>
            <a:r>
              <a:rPr lang="en-US" sz="2000" dirty="0">
                <a:solidFill>
                  <a:schemeClr val="accent5"/>
                </a:solidFill>
              </a:rPr>
              <a:t>(d + ", ordinal: " + </a:t>
            </a:r>
            <a:r>
              <a:rPr lang="en-US" sz="2000" dirty="0" err="1">
                <a:solidFill>
                  <a:schemeClr val="accent5"/>
                </a:solidFill>
              </a:rPr>
              <a:t>d.ordinal</a:t>
            </a:r>
            <a:r>
              <a:rPr lang="en-US" sz="2000" dirty="0">
                <a:solidFill>
                  <a:schemeClr val="accent5"/>
                </a:solidFill>
              </a:rPr>
              <a:t>() </a:t>
            </a:r>
          </a:p>
          <a:p>
            <a:pPr marL="0" indent="0">
              <a:buNone/>
            </a:pPr>
            <a:r>
              <a:rPr lang="en-US" sz="2000" dirty="0">
                <a:solidFill>
                  <a:schemeClr val="accent5"/>
                </a:solidFill>
              </a:rPr>
              <a:t>        + ", lucky: " + </a:t>
            </a:r>
            <a:r>
              <a:rPr lang="en-US" sz="2000" dirty="0" err="1">
                <a:solidFill>
                  <a:schemeClr val="accent5"/>
                </a:solidFill>
              </a:rPr>
              <a:t>d.luckyNum</a:t>
            </a:r>
            <a:r>
              <a:rPr lang="en-US" sz="2000" dirty="0">
                <a:solidFill>
                  <a:schemeClr val="accent5"/>
                </a:solidFill>
              </a:rPr>
              <a:t>());</a:t>
            </a:r>
          </a:p>
          <a:p>
            <a:pPr marL="0" indent="0">
              <a:buNone/>
            </a:pPr>
            <a:r>
              <a:rPr lang="en-US" sz="2000" dirty="0">
                <a:solidFill>
                  <a:schemeClr val="accent5"/>
                </a:solidFill>
              </a:rPr>
              <a:t>    }</a:t>
            </a:r>
          </a:p>
          <a:p>
            <a:pPr marL="0" indent="0">
              <a:buNone/>
            </a:pPr>
            <a:r>
              <a:rPr lang="en-US" sz="2000" dirty="0">
                <a:solidFill>
                  <a:schemeClr val="accent5"/>
                </a:solidFill>
              </a:rPr>
              <a:t>  }</a:t>
            </a:r>
          </a:p>
          <a:p>
            <a:pPr marL="0" indent="0">
              <a:buNone/>
            </a:pPr>
            <a:r>
              <a:rPr lang="en-US" sz="2000" dirty="0" smtClean="0">
                <a:solidFill>
                  <a:schemeClr val="accent5"/>
                </a:solidFill>
              </a:rPr>
              <a:t>} </a:t>
            </a:r>
          </a:p>
        </p:txBody>
      </p:sp>
      <p:sp>
        <p:nvSpPr>
          <p:cNvPr id="5" name="TextBox 4"/>
          <p:cNvSpPr txBox="1"/>
          <p:nvPr/>
        </p:nvSpPr>
        <p:spPr>
          <a:xfrm>
            <a:off x="7076721" y="3868639"/>
            <a:ext cx="4277079" cy="2585323"/>
          </a:xfrm>
          <a:prstGeom prst="rect">
            <a:avLst/>
          </a:prstGeom>
          <a:noFill/>
        </p:spPr>
        <p:txBody>
          <a:bodyPr wrap="square" rtlCol="0">
            <a:spAutoFit/>
          </a:bodyPr>
          <a:lstStyle/>
          <a:p>
            <a:r>
              <a:rPr lang="en-US" dirty="0" smtClean="0">
                <a:solidFill>
                  <a:schemeClr val="accent5"/>
                </a:solidFill>
              </a:rPr>
              <a:t>/* Output:</a:t>
            </a:r>
          </a:p>
          <a:p>
            <a:r>
              <a:rPr lang="en-US" dirty="0">
                <a:solidFill>
                  <a:schemeClr val="accent5"/>
                </a:solidFill>
              </a:rPr>
              <a:t>MONDAY, ordinal: 0, lucky: 21</a:t>
            </a:r>
          </a:p>
          <a:p>
            <a:r>
              <a:rPr lang="en-US" dirty="0" smtClean="0">
                <a:solidFill>
                  <a:schemeClr val="accent5"/>
                </a:solidFill>
              </a:rPr>
              <a:t>TUESDAY</a:t>
            </a:r>
            <a:r>
              <a:rPr lang="en-US" dirty="0">
                <a:solidFill>
                  <a:schemeClr val="accent5"/>
                </a:solidFill>
              </a:rPr>
              <a:t>, ordinal: </a:t>
            </a:r>
            <a:r>
              <a:rPr lang="en-US" dirty="0" smtClean="0">
                <a:solidFill>
                  <a:schemeClr val="accent5"/>
                </a:solidFill>
              </a:rPr>
              <a:t>1, </a:t>
            </a:r>
            <a:r>
              <a:rPr lang="en-US" dirty="0">
                <a:solidFill>
                  <a:schemeClr val="accent5"/>
                </a:solidFill>
              </a:rPr>
              <a:t>lucky: </a:t>
            </a:r>
            <a:r>
              <a:rPr lang="en-US" dirty="0" smtClean="0">
                <a:solidFill>
                  <a:schemeClr val="accent5"/>
                </a:solidFill>
              </a:rPr>
              <a:t>45</a:t>
            </a:r>
            <a:endParaRPr lang="en-US" dirty="0">
              <a:solidFill>
                <a:schemeClr val="accent5"/>
              </a:solidFill>
            </a:endParaRPr>
          </a:p>
          <a:p>
            <a:r>
              <a:rPr lang="en-US" dirty="0" smtClean="0">
                <a:solidFill>
                  <a:schemeClr val="accent5"/>
                </a:solidFill>
              </a:rPr>
              <a:t>WEDNESDAY</a:t>
            </a:r>
            <a:r>
              <a:rPr lang="en-US" dirty="0">
                <a:solidFill>
                  <a:schemeClr val="accent5"/>
                </a:solidFill>
              </a:rPr>
              <a:t>, ordinal: </a:t>
            </a:r>
            <a:r>
              <a:rPr lang="en-US" dirty="0" smtClean="0">
                <a:solidFill>
                  <a:schemeClr val="accent5"/>
                </a:solidFill>
              </a:rPr>
              <a:t>2, </a:t>
            </a:r>
            <a:r>
              <a:rPr lang="en-US" dirty="0">
                <a:solidFill>
                  <a:schemeClr val="accent5"/>
                </a:solidFill>
              </a:rPr>
              <a:t>lucky: 0</a:t>
            </a:r>
            <a:endParaRPr lang="en-US" dirty="0" smtClean="0">
              <a:solidFill>
                <a:schemeClr val="accent5"/>
              </a:solidFill>
            </a:endParaRPr>
          </a:p>
          <a:p>
            <a:r>
              <a:rPr lang="en-US" dirty="0" smtClean="0">
                <a:solidFill>
                  <a:schemeClr val="accent5"/>
                </a:solidFill>
              </a:rPr>
              <a:t>THURSDAY</a:t>
            </a:r>
            <a:r>
              <a:rPr lang="en-US" dirty="0">
                <a:solidFill>
                  <a:schemeClr val="accent5"/>
                </a:solidFill>
              </a:rPr>
              <a:t>, ordinal: </a:t>
            </a:r>
            <a:r>
              <a:rPr lang="en-US" dirty="0" smtClean="0">
                <a:solidFill>
                  <a:schemeClr val="accent5"/>
                </a:solidFill>
              </a:rPr>
              <a:t>3, </a:t>
            </a:r>
            <a:r>
              <a:rPr lang="en-US" dirty="0">
                <a:solidFill>
                  <a:schemeClr val="accent5"/>
                </a:solidFill>
              </a:rPr>
              <a:t>lucky: 2</a:t>
            </a:r>
            <a:endParaRPr lang="en-US" dirty="0" smtClean="0">
              <a:solidFill>
                <a:schemeClr val="accent5"/>
              </a:solidFill>
            </a:endParaRPr>
          </a:p>
          <a:p>
            <a:r>
              <a:rPr lang="en-US" dirty="0" smtClean="0">
                <a:solidFill>
                  <a:schemeClr val="accent5"/>
                </a:solidFill>
              </a:rPr>
              <a:t>FRIDAY, ordinal: 4, lucky: 3</a:t>
            </a:r>
          </a:p>
          <a:p>
            <a:r>
              <a:rPr lang="en-US" dirty="0" smtClean="0">
                <a:solidFill>
                  <a:schemeClr val="accent5"/>
                </a:solidFill>
              </a:rPr>
              <a:t>SATURDAY</a:t>
            </a:r>
            <a:r>
              <a:rPr lang="en-US" dirty="0">
                <a:solidFill>
                  <a:schemeClr val="accent5"/>
                </a:solidFill>
              </a:rPr>
              <a:t>, ordinal: </a:t>
            </a:r>
            <a:r>
              <a:rPr lang="en-US" dirty="0" smtClean="0">
                <a:solidFill>
                  <a:schemeClr val="accent5"/>
                </a:solidFill>
              </a:rPr>
              <a:t>5, </a:t>
            </a:r>
            <a:r>
              <a:rPr lang="en-US" dirty="0">
                <a:solidFill>
                  <a:schemeClr val="accent5"/>
                </a:solidFill>
              </a:rPr>
              <a:t>lucky: </a:t>
            </a:r>
            <a:r>
              <a:rPr lang="en-US" dirty="0" smtClean="0">
                <a:solidFill>
                  <a:schemeClr val="accent5"/>
                </a:solidFill>
              </a:rPr>
              <a:t>1</a:t>
            </a:r>
            <a:endParaRPr lang="en-US" dirty="0">
              <a:solidFill>
                <a:schemeClr val="accent5"/>
              </a:solidFill>
            </a:endParaRPr>
          </a:p>
          <a:p>
            <a:r>
              <a:rPr lang="en-US" dirty="0" smtClean="0">
                <a:solidFill>
                  <a:schemeClr val="accent5"/>
                </a:solidFill>
              </a:rPr>
              <a:t>SUNDAY</a:t>
            </a:r>
            <a:r>
              <a:rPr lang="en-US" dirty="0">
                <a:solidFill>
                  <a:schemeClr val="accent5"/>
                </a:solidFill>
              </a:rPr>
              <a:t>, ordinal: </a:t>
            </a:r>
            <a:r>
              <a:rPr lang="en-US" dirty="0" smtClean="0">
                <a:solidFill>
                  <a:schemeClr val="accent5"/>
                </a:solidFill>
              </a:rPr>
              <a:t>6, </a:t>
            </a:r>
            <a:r>
              <a:rPr lang="en-US" dirty="0">
                <a:solidFill>
                  <a:schemeClr val="accent5"/>
                </a:solidFill>
              </a:rPr>
              <a:t>lucky: </a:t>
            </a:r>
            <a:r>
              <a:rPr lang="en-US" dirty="0" smtClean="0">
                <a:solidFill>
                  <a:schemeClr val="accent5"/>
                </a:solidFill>
              </a:rPr>
              <a:t>23</a:t>
            </a:r>
            <a:endParaRPr lang="en-US" dirty="0">
              <a:solidFill>
                <a:schemeClr val="accent5"/>
              </a:solidFill>
            </a:endParaRPr>
          </a:p>
          <a:p>
            <a:r>
              <a:rPr lang="en-US" dirty="0" smtClean="0">
                <a:solidFill>
                  <a:schemeClr val="accent5"/>
                </a:solidFill>
              </a:rPr>
              <a:t>*/</a:t>
            </a:r>
            <a:endParaRPr lang="en-US" dirty="0">
              <a:solidFill>
                <a:schemeClr val="accent5"/>
              </a:solidFill>
            </a:endParaRPr>
          </a:p>
        </p:txBody>
      </p:sp>
      <p:sp>
        <p:nvSpPr>
          <p:cNvPr id="6" name="Slide Number Placeholder 5"/>
          <p:cNvSpPr>
            <a:spLocks noGrp="1"/>
          </p:cNvSpPr>
          <p:nvPr>
            <p:ph type="sldNum" sz="quarter" idx="12"/>
          </p:nvPr>
        </p:nvSpPr>
        <p:spPr/>
        <p:txBody>
          <a:bodyPr/>
          <a:lstStyle/>
          <a:p>
            <a:fld id="{965D6772-41C1-4987-827C-16EA866C2326}" type="slidenum">
              <a:rPr lang="en-US" smtClean="0"/>
              <a:t>45</a:t>
            </a:fld>
            <a:endParaRPr lang="en-US"/>
          </a:p>
        </p:txBody>
      </p:sp>
    </p:spTree>
    <p:extLst>
      <p:ext uri="{BB962C8B-B14F-4D97-AF65-F5344CB8AC3E}">
        <p14:creationId xmlns:p14="http://schemas.microsoft.com/office/powerpoint/2010/main" val="5493581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3" name="Content Placeholder 2"/>
          <p:cNvSpPr>
            <a:spLocks noGrp="1"/>
          </p:cNvSpPr>
          <p:nvPr>
            <p:ph sz="half" idx="1"/>
          </p:nvPr>
        </p:nvSpPr>
        <p:spPr>
          <a:xfrm>
            <a:off x="838200" y="1825625"/>
            <a:ext cx="4580467" cy="4351338"/>
          </a:xfrm>
        </p:spPr>
        <p:txBody>
          <a:bodyPr>
            <a:normAutofit fontScale="92500" lnSpcReduction="20000"/>
          </a:bodyPr>
          <a:lstStyle/>
          <a:p>
            <a:r>
              <a:rPr lang="en-US" dirty="0" smtClean="0"/>
              <a:t>What if we move the contents of the static block to the constructor?</a:t>
            </a:r>
          </a:p>
          <a:p>
            <a:pPr marL="0" indent="0">
              <a:buNone/>
            </a:pPr>
            <a:endParaRPr lang="en-US" sz="2000" dirty="0"/>
          </a:p>
          <a:p>
            <a:pPr marL="0" indent="0">
              <a:buNone/>
            </a:pPr>
            <a:r>
              <a:rPr lang="en-US" sz="2000" dirty="0">
                <a:solidFill>
                  <a:schemeClr val="accent5"/>
                </a:solidFill>
              </a:rPr>
              <a:t>class Cup {</a:t>
            </a:r>
          </a:p>
          <a:p>
            <a:pPr marL="0" indent="0">
              <a:buNone/>
            </a:pPr>
            <a:r>
              <a:rPr lang="en-US" sz="2000" dirty="0">
                <a:solidFill>
                  <a:schemeClr val="accent5"/>
                </a:solidFill>
              </a:rPr>
              <a:t>  Cup(</a:t>
            </a:r>
            <a:r>
              <a:rPr lang="en-US" sz="2000" dirty="0" err="1">
                <a:solidFill>
                  <a:schemeClr val="accent5"/>
                </a:solidFill>
              </a:rPr>
              <a:t>int</a:t>
            </a:r>
            <a:r>
              <a:rPr lang="en-US" sz="2000" dirty="0">
                <a:solidFill>
                  <a:schemeClr val="accent5"/>
                </a:solidFill>
              </a:rPr>
              <a:t> marker) {</a:t>
            </a:r>
          </a:p>
          <a:p>
            <a:pPr marL="0" indent="0">
              <a:buNone/>
            </a:pPr>
            <a:r>
              <a:rPr lang="en-US" sz="2000" dirty="0">
                <a:solidFill>
                  <a:schemeClr val="accent5"/>
                </a:solidFill>
              </a:rPr>
              <a:t>    </a:t>
            </a:r>
            <a:r>
              <a:rPr lang="en-US" sz="2000" dirty="0" err="1">
                <a:solidFill>
                  <a:schemeClr val="accent5"/>
                </a:solidFill>
              </a:rPr>
              <a:t>System.out.println</a:t>
            </a:r>
            <a:r>
              <a:rPr lang="en-US" sz="2000" dirty="0">
                <a:solidFill>
                  <a:schemeClr val="accent5"/>
                </a:solidFill>
              </a:rPr>
              <a:t>("Cup(" + marker + ")");</a:t>
            </a:r>
          </a:p>
          <a:p>
            <a:pPr marL="0" indent="0">
              <a:buNone/>
            </a:pPr>
            <a:r>
              <a:rPr lang="en-US" sz="2000" dirty="0">
                <a:solidFill>
                  <a:schemeClr val="accent5"/>
                </a:solidFill>
              </a:rPr>
              <a:t>  }</a:t>
            </a:r>
          </a:p>
          <a:p>
            <a:pPr marL="0" indent="0">
              <a:buNone/>
            </a:pPr>
            <a:r>
              <a:rPr lang="en-US" sz="2000" dirty="0">
                <a:solidFill>
                  <a:schemeClr val="accent5"/>
                </a:solidFill>
              </a:rPr>
              <a:t>  void f(</a:t>
            </a:r>
            <a:r>
              <a:rPr lang="en-US" sz="2000" dirty="0" err="1">
                <a:solidFill>
                  <a:schemeClr val="accent5"/>
                </a:solidFill>
              </a:rPr>
              <a:t>int</a:t>
            </a:r>
            <a:r>
              <a:rPr lang="en-US" sz="2000" dirty="0">
                <a:solidFill>
                  <a:schemeClr val="accent5"/>
                </a:solidFill>
              </a:rPr>
              <a:t> marker) {</a:t>
            </a:r>
          </a:p>
          <a:p>
            <a:pPr marL="0" indent="0">
              <a:buNone/>
            </a:pPr>
            <a:r>
              <a:rPr lang="en-US" sz="2000" dirty="0">
                <a:solidFill>
                  <a:schemeClr val="accent5"/>
                </a:solidFill>
              </a:rPr>
              <a:t>    </a:t>
            </a:r>
            <a:r>
              <a:rPr lang="en-US" sz="2000" dirty="0" err="1">
                <a:solidFill>
                  <a:schemeClr val="accent5"/>
                </a:solidFill>
              </a:rPr>
              <a:t>System.out.println</a:t>
            </a:r>
            <a:r>
              <a:rPr lang="en-US" sz="2000" dirty="0">
                <a:solidFill>
                  <a:schemeClr val="accent5"/>
                </a:solidFill>
              </a:rPr>
              <a:t>("f(" + marker + ")");</a:t>
            </a:r>
          </a:p>
          <a:p>
            <a:pPr marL="0" indent="0">
              <a:buNone/>
            </a:pPr>
            <a:r>
              <a:rPr lang="en-US" sz="2000" dirty="0">
                <a:solidFill>
                  <a:schemeClr val="accent5"/>
                </a:solidFill>
              </a:rPr>
              <a:t>  }</a:t>
            </a:r>
          </a:p>
          <a:p>
            <a:pPr marL="0" indent="0">
              <a:buNone/>
            </a:pPr>
            <a:r>
              <a:rPr lang="en-US" sz="2000" dirty="0">
                <a:solidFill>
                  <a:schemeClr val="accent5"/>
                </a:solidFill>
              </a:rPr>
              <a:t>}</a:t>
            </a:r>
          </a:p>
        </p:txBody>
      </p:sp>
      <p:sp>
        <p:nvSpPr>
          <p:cNvPr id="4" name="Content Placeholder 3"/>
          <p:cNvSpPr>
            <a:spLocks noGrp="1"/>
          </p:cNvSpPr>
          <p:nvPr>
            <p:ph sz="half" idx="2"/>
          </p:nvPr>
        </p:nvSpPr>
        <p:spPr>
          <a:xfrm>
            <a:off x="5788378" y="365125"/>
            <a:ext cx="4324451" cy="6356350"/>
          </a:xfrm>
        </p:spPr>
        <p:txBody>
          <a:bodyPr>
            <a:normAutofit fontScale="92500" lnSpcReduction="20000"/>
          </a:bodyPr>
          <a:lstStyle/>
          <a:p>
            <a:pPr marL="0" indent="0">
              <a:buNone/>
            </a:pPr>
            <a:r>
              <a:rPr lang="en-US" sz="2000" dirty="0">
                <a:solidFill>
                  <a:schemeClr val="accent5"/>
                </a:solidFill>
              </a:rPr>
              <a:t>class Cups {</a:t>
            </a:r>
          </a:p>
          <a:p>
            <a:pPr marL="0" indent="0">
              <a:buNone/>
            </a:pPr>
            <a:r>
              <a:rPr lang="en-US" sz="2000" dirty="0">
                <a:solidFill>
                  <a:schemeClr val="accent5"/>
                </a:solidFill>
              </a:rPr>
              <a:t>  static Cup cup1;</a:t>
            </a:r>
          </a:p>
          <a:p>
            <a:pPr marL="0" indent="0">
              <a:buNone/>
            </a:pPr>
            <a:r>
              <a:rPr lang="en-US" sz="2000" dirty="0">
                <a:solidFill>
                  <a:schemeClr val="accent5"/>
                </a:solidFill>
              </a:rPr>
              <a:t>  static Cup cup2;</a:t>
            </a:r>
          </a:p>
          <a:p>
            <a:pPr marL="0" indent="0">
              <a:buNone/>
            </a:pPr>
            <a:r>
              <a:rPr lang="en-US" sz="2000" dirty="0">
                <a:solidFill>
                  <a:schemeClr val="accent5"/>
                </a:solidFill>
              </a:rPr>
              <a:t>  </a:t>
            </a:r>
            <a:r>
              <a:rPr lang="en-US" sz="2000" dirty="0">
                <a:solidFill>
                  <a:srgbClr val="FF0000"/>
                </a:solidFill>
              </a:rPr>
              <a:t>static</a:t>
            </a:r>
            <a:r>
              <a:rPr lang="en-US" sz="2000" dirty="0">
                <a:solidFill>
                  <a:schemeClr val="accent5"/>
                </a:solidFill>
              </a:rPr>
              <a:t> </a:t>
            </a:r>
            <a:r>
              <a:rPr lang="en-US" sz="2000" dirty="0" smtClean="0">
                <a:solidFill>
                  <a:schemeClr val="accent5"/>
                </a:solidFill>
              </a:rPr>
              <a:t>{</a:t>
            </a:r>
          </a:p>
          <a:p>
            <a:pPr marL="0" indent="0">
              <a:buNone/>
            </a:pPr>
            <a:r>
              <a:rPr lang="en-US" sz="2000" dirty="0">
                <a:solidFill>
                  <a:schemeClr val="accent5"/>
                </a:solidFill>
              </a:rPr>
              <a:t> </a:t>
            </a:r>
            <a:r>
              <a:rPr lang="en-US" sz="2000" dirty="0" smtClean="0">
                <a:solidFill>
                  <a:schemeClr val="accent5"/>
                </a:solidFill>
              </a:rPr>
              <a:t>   // cup1 </a:t>
            </a:r>
            <a:r>
              <a:rPr lang="en-US" sz="2000" dirty="0">
                <a:solidFill>
                  <a:schemeClr val="accent5"/>
                </a:solidFill>
              </a:rPr>
              <a:t>= new Cup(1);</a:t>
            </a:r>
          </a:p>
          <a:p>
            <a:pPr marL="0" indent="0">
              <a:buNone/>
            </a:pPr>
            <a:r>
              <a:rPr lang="en-US" sz="2000" dirty="0">
                <a:solidFill>
                  <a:schemeClr val="accent5"/>
                </a:solidFill>
              </a:rPr>
              <a:t>    </a:t>
            </a:r>
            <a:r>
              <a:rPr lang="en-US" sz="2000" dirty="0" smtClean="0">
                <a:solidFill>
                  <a:schemeClr val="accent5"/>
                </a:solidFill>
              </a:rPr>
              <a:t>// cup2 </a:t>
            </a:r>
            <a:r>
              <a:rPr lang="en-US" sz="2000" dirty="0">
                <a:solidFill>
                  <a:schemeClr val="accent5"/>
                </a:solidFill>
              </a:rPr>
              <a:t>= new Cup(2);</a:t>
            </a:r>
          </a:p>
          <a:p>
            <a:pPr marL="0" indent="0">
              <a:buNone/>
            </a:pPr>
            <a:r>
              <a:rPr lang="en-US" sz="2000" dirty="0" smtClean="0">
                <a:solidFill>
                  <a:schemeClr val="accent5"/>
                </a:solidFill>
              </a:rPr>
              <a:t>  }</a:t>
            </a:r>
            <a:endParaRPr lang="en-US" sz="2000" dirty="0">
              <a:solidFill>
                <a:schemeClr val="accent5"/>
              </a:solidFill>
            </a:endParaRPr>
          </a:p>
          <a:p>
            <a:pPr marL="0" indent="0">
              <a:buNone/>
            </a:pPr>
            <a:r>
              <a:rPr lang="en-US" sz="2000" dirty="0">
                <a:solidFill>
                  <a:schemeClr val="accent5"/>
                </a:solidFill>
              </a:rPr>
              <a:t>  Cups() {</a:t>
            </a:r>
          </a:p>
          <a:p>
            <a:pPr marL="0" indent="0">
              <a:buNone/>
            </a:pPr>
            <a:r>
              <a:rPr lang="en-US" sz="2000" dirty="0">
                <a:solidFill>
                  <a:schemeClr val="accent5"/>
                </a:solidFill>
              </a:rPr>
              <a:t>    </a:t>
            </a:r>
            <a:r>
              <a:rPr lang="en-US" sz="2000" dirty="0" err="1">
                <a:solidFill>
                  <a:schemeClr val="accent5"/>
                </a:solidFill>
              </a:rPr>
              <a:t>System.out.println</a:t>
            </a:r>
            <a:r>
              <a:rPr lang="en-US" sz="2000" dirty="0">
                <a:solidFill>
                  <a:schemeClr val="accent5"/>
                </a:solidFill>
              </a:rPr>
              <a:t>("Cups</a:t>
            </a:r>
            <a:r>
              <a:rPr lang="en-US" sz="2000" dirty="0" smtClean="0">
                <a:solidFill>
                  <a:schemeClr val="accent5"/>
                </a:solidFill>
              </a:rPr>
              <a:t>()");</a:t>
            </a:r>
          </a:p>
          <a:p>
            <a:pPr marL="0" indent="0">
              <a:buNone/>
            </a:pPr>
            <a:r>
              <a:rPr lang="en-US" sz="2000" dirty="0">
                <a:solidFill>
                  <a:schemeClr val="accent5"/>
                </a:solidFill>
              </a:rPr>
              <a:t> </a:t>
            </a:r>
            <a:r>
              <a:rPr lang="en-US" sz="2000" dirty="0" smtClean="0">
                <a:solidFill>
                  <a:schemeClr val="accent5"/>
                </a:solidFill>
              </a:rPr>
              <a:t>   </a:t>
            </a:r>
            <a:r>
              <a:rPr lang="en-US" sz="2000" dirty="0" smtClean="0">
                <a:solidFill>
                  <a:srgbClr val="FF0000"/>
                </a:solidFill>
              </a:rPr>
              <a:t>cup1 </a:t>
            </a:r>
            <a:r>
              <a:rPr lang="en-US" sz="2000" dirty="0">
                <a:solidFill>
                  <a:srgbClr val="FF0000"/>
                </a:solidFill>
              </a:rPr>
              <a:t>= new Cup(1);</a:t>
            </a:r>
          </a:p>
          <a:p>
            <a:pPr marL="0" indent="0">
              <a:buNone/>
            </a:pPr>
            <a:r>
              <a:rPr lang="en-US" sz="2000" dirty="0">
                <a:solidFill>
                  <a:schemeClr val="accent5"/>
                </a:solidFill>
              </a:rPr>
              <a:t>    </a:t>
            </a:r>
            <a:r>
              <a:rPr lang="en-US" sz="2000" dirty="0">
                <a:solidFill>
                  <a:srgbClr val="FF0000"/>
                </a:solidFill>
              </a:rPr>
              <a:t>cup2 = new Cup(2);</a:t>
            </a:r>
          </a:p>
          <a:p>
            <a:pPr marL="0" indent="0">
              <a:buNone/>
            </a:pPr>
            <a:r>
              <a:rPr lang="en-US" sz="2000" dirty="0">
                <a:solidFill>
                  <a:schemeClr val="accent5"/>
                </a:solidFill>
              </a:rPr>
              <a:t>  }</a:t>
            </a:r>
          </a:p>
          <a:p>
            <a:pPr marL="0" indent="0">
              <a:buNone/>
            </a:pPr>
            <a:r>
              <a:rPr lang="en-US" sz="2000" dirty="0" smtClean="0">
                <a:solidFill>
                  <a:schemeClr val="accent5"/>
                </a:solidFill>
              </a:rPr>
              <a:t>}</a:t>
            </a:r>
            <a:endParaRPr lang="en-US" sz="2000" dirty="0">
              <a:solidFill>
                <a:schemeClr val="accent5"/>
              </a:solidFill>
            </a:endParaRPr>
          </a:p>
          <a:p>
            <a:pPr marL="0" indent="0">
              <a:buNone/>
            </a:pPr>
            <a:r>
              <a:rPr lang="en-US" sz="2000" dirty="0">
                <a:solidFill>
                  <a:schemeClr val="accent5"/>
                </a:solidFill>
              </a:rPr>
              <a:t>public class </a:t>
            </a:r>
            <a:r>
              <a:rPr lang="en-US" sz="2000" dirty="0" err="1">
                <a:solidFill>
                  <a:schemeClr val="accent5"/>
                </a:solidFill>
              </a:rPr>
              <a:t>ExplicitStatic</a:t>
            </a:r>
            <a:r>
              <a:rPr lang="en-US" sz="2000" dirty="0">
                <a:solidFill>
                  <a:schemeClr val="accent5"/>
                </a:solidFill>
              </a:rPr>
              <a:t> {</a:t>
            </a:r>
          </a:p>
          <a:p>
            <a:pPr marL="0" indent="0">
              <a:buNone/>
            </a:pPr>
            <a:r>
              <a:rPr lang="en-US" sz="2000" dirty="0">
                <a:solidFill>
                  <a:schemeClr val="accent5"/>
                </a:solidFill>
              </a:rPr>
              <a:t>  public static void main(String[] </a:t>
            </a:r>
            <a:r>
              <a:rPr lang="en-US" sz="2000" dirty="0" err="1">
                <a:solidFill>
                  <a:schemeClr val="accent5"/>
                </a:solidFill>
              </a:rPr>
              <a:t>args</a:t>
            </a:r>
            <a:r>
              <a:rPr lang="en-US" sz="2000" dirty="0">
                <a:solidFill>
                  <a:schemeClr val="accent5"/>
                </a:solidFill>
              </a:rPr>
              <a:t>) {</a:t>
            </a:r>
          </a:p>
          <a:p>
            <a:pPr marL="0" indent="0">
              <a:buNone/>
            </a:pPr>
            <a:r>
              <a:rPr lang="en-US" sz="2000" dirty="0">
                <a:solidFill>
                  <a:schemeClr val="accent5"/>
                </a:solidFill>
              </a:rPr>
              <a:t>    </a:t>
            </a:r>
            <a:r>
              <a:rPr lang="en-US" sz="2000" dirty="0" err="1">
                <a:solidFill>
                  <a:schemeClr val="accent5"/>
                </a:solidFill>
              </a:rPr>
              <a:t>System.out.println</a:t>
            </a:r>
            <a:r>
              <a:rPr lang="en-US" sz="2000" dirty="0">
                <a:solidFill>
                  <a:schemeClr val="accent5"/>
                </a:solidFill>
              </a:rPr>
              <a:t>("Inside main()");</a:t>
            </a:r>
          </a:p>
          <a:p>
            <a:pPr marL="0" indent="0">
              <a:buNone/>
            </a:pPr>
            <a:r>
              <a:rPr lang="en-US" sz="2000" dirty="0">
                <a:solidFill>
                  <a:schemeClr val="accent5"/>
                </a:solidFill>
              </a:rPr>
              <a:t>    Cups.cup1.f(99);</a:t>
            </a:r>
          </a:p>
          <a:p>
            <a:pPr marL="0" indent="0">
              <a:buNone/>
            </a:pPr>
            <a:r>
              <a:rPr lang="en-US" sz="2000" dirty="0">
                <a:solidFill>
                  <a:schemeClr val="accent5"/>
                </a:solidFill>
              </a:rPr>
              <a:t>  </a:t>
            </a:r>
            <a:r>
              <a:rPr lang="en-US" sz="2000" dirty="0" smtClean="0">
                <a:solidFill>
                  <a:schemeClr val="accent5"/>
                </a:solidFill>
              </a:rPr>
              <a:t>}</a:t>
            </a:r>
          </a:p>
          <a:p>
            <a:pPr marL="0" indent="0">
              <a:buNone/>
            </a:pPr>
            <a:r>
              <a:rPr lang="en-US" sz="2000" dirty="0">
                <a:solidFill>
                  <a:schemeClr val="accent5"/>
                </a:solidFill>
              </a:rPr>
              <a:t>}</a:t>
            </a:r>
          </a:p>
        </p:txBody>
      </p:sp>
      <p:sp>
        <p:nvSpPr>
          <p:cNvPr id="6" name="Slide Number Placeholder 5"/>
          <p:cNvSpPr>
            <a:spLocks noGrp="1"/>
          </p:cNvSpPr>
          <p:nvPr>
            <p:ph type="sldNum" sz="quarter" idx="12"/>
          </p:nvPr>
        </p:nvSpPr>
        <p:spPr/>
        <p:txBody>
          <a:bodyPr/>
          <a:lstStyle/>
          <a:p>
            <a:fld id="{965D6772-41C1-4987-827C-16EA866C2326}" type="slidenum">
              <a:rPr lang="en-US" smtClean="0"/>
              <a:t>46</a:t>
            </a:fld>
            <a:endParaRPr lang="en-US"/>
          </a:p>
        </p:txBody>
      </p:sp>
    </p:spTree>
    <p:extLst>
      <p:ext uri="{BB962C8B-B14F-4D97-AF65-F5344CB8AC3E}">
        <p14:creationId xmlns:p14="http://schemas.microsoft.com/office/powerpoint/2010/main" val="25712245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Packages</a:t>
            </a:r>
            <a:endParaRPr lang="en-US" dirty="0"/>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965D6772-41C1-4987-827C-16EA866C2326}" type="slidenum">
              <a:rPr lang="en-US" smtClean="0"/>
              <a:t>47</a:t>
            </a:fld>
            <a:endParaRPr lang="en-US"/>
          </a:p>
        </p:txBody>
      </p:sp>
    </p:spTree>
    <p:extLst>
      <p:ext uri="{BB962C8B-B14F-4D97-AF65-F5344CB8AC3E}">
        <p14:creationId xmlns:p14="http://schemas.microsoft.com/office/powerpoint/2010/main" val="692846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A Package?</a:t>
            </a:r>
            <a:endParaRPr lang="en-US" dirty="0"/>
          </a:p>
        </p:txBody>
      </p:sp>
      <p:sp>
        <p:nvSpPr>
          <p:cNvPr id="3" name="Content Placeholder 2"/>
          <p:cNvSpPr>
            <a:spLocks noGrp="1"/>
          </p:cNvSpPr>
          <p:nvPr>
            <p:ph idx="1"/>
          </p:nvPr>
        </p:nvSpPr>
        <p:spPr/>
        <p:txBody>
          <a:bodyPr>
            <a:normAutofit/>
          </a:bodyPr>
          <a:lstStyle/>
          <a:p>
            <a:r>
              <a:rPr lang="en-US" dirty="0" smtClean="0"/>
              <a:t>A package is a group of related types, including classes, interfaces, enumerations, annotation types, etc.</a:t>
            </a:r>
          </a:p>
          <a:p>
            <a:r>
              <a:rPr lang="en-US" dirty="0" smtClean="0"/>
              <a:t>Why packages?</a:t>
            </a:r>
          </a:p>
          <a:p>
            <a:pPr lvl="1"/>
            <a:r>
              <a:rPr lang="en-US" dirty="0" smtClean="0"/>
              <a:t>Logically grouping types: </a:t>
            </a:r>
          </a:p>
          <a:p>
            <a:pPr lvl="2"/>
            <a:r>
              <a:rPr lang="en-US" dirty="0"/>
              <a:t>E</a:t>
            </a:r>
            <a:r>
              <a:rPr lang="en-US" dirty="0" smtClean="0"/>
              <a:t>asy to be found for reuse</a:t>
            </a:r>
          </a:p>
          <a:p>
            <a:pPr lvl="1"/>
            <a:r>
              <a:rPr lang="en-US" dirty="0" smtClean="0"/>
              <a:t>Namespace management: </a:t>
            </a:r>
          </a:p>
          <a:p>
            <a:pPr lvl="2"/>
            <a:r>
              <a:rPr lang="en-US" dirty="0"/>
              <a:t>E</a:t>
            </a:r>
            <a:r>
              <a:rPr lang="en-US" dirty="0" smtClean="0"/>
              <a:t>ach package creates a new namespace</a:t>
            </a:r>
          </a:p>
          <a:p>
            <a:pPr lvl="2"/>
            <a:r>
              <a:rPr lang="en-US" dirty="0" smtClean="0"/>
              <a:t>Allows types to have the same name if they are in different packages</a:t>
            </a:r>
          </a:p>
          <a:p>
            <a:pPr lvl="1"/>
            <a:r>
              <a:rPr lang="en-US" dirty="0" smtClean="0"/>
              <a:t>Access protection: </a:t>
            </a:r>
          </a:p>
          <a:p>
            <a:pPr lvl="2"/>
            <a:r>
              <a:rPr lang="en-US" dirty="0" smtClean="0"/>
              <a:t>The default access level (no modifier) allows types within the package to access one another yet restricts access for types outside the package</a:t>
            </a:r>
            <a:endParaRPr lang="en-US" dirty="0"/>
          </a:p>
        </p:txBody>
      </p:sp>
      <p:sp>
        <p:nvSpPr>
          <p:cNvPr id="4" name="Slide Number Placeholder 3"/>
          <p:cNvSpPr>
            <a:spLocks noGrp="1"/>
          </p:cNvSpPr>
          <p:nvPr>
            <p:ph type="sldNum" sz="quarter" idx="12"/>
          </p:nvPr>
        </p:nvSpPr>
        <p:spPr/>
        <p:txBody>
          <a:bodyPr/>
          <a:lstStyle/>
          <a:p>
            <a:fld id="{965D6772-41C1-4987-827C-16EA866C2326}" type="slidenum">
              <a:rPr lang="en-US" smtClean="0"/>
              <a:t>48</a:t>
            </a:fld>
            <a:endParaRPr lang="en-US"/>
          </a:p>
        </p:txBody>
      </p:sp>
    </p:spTree>
    <p:extLst>
      <p:ext uri="{BB962C8B-B14F-4D97-AF65-F5344CB8AC3E}">
        <p14:creationId xmlns:p14="http://schemas.microsoft.com/office/powerpoint/2010/main" val="12222791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A Package</a:t>
            </a:r>
            <a:endParaRPr lang="en-US" dirty="0"/>
          </a:p>
        </p:txBody>
      </p:sp>
      <p:sp>
        <p:nvSpPr>
          <p:cNvPr id="3" name="Content Placeholder 2"/>
          <p:cNvSpPr>
            <a:spLocks noGrp="1"/>
          </p:cNvSpPr>
          <p:nvPr>
            <p:ph idx="1"/>
          </p:nvPr>
        </p:nvSpPr>
        <p:spPr/>
        <p:txBody>
          <a:bodyPr/>
          <a:lstStyle/>
          <a:p>
            <a:r>
              <a:rPr lang="en-US" dirty="0" smtClean="0"/>
              <a:t>Put the package statement on top (the 1</a:t>
            </a:r>
            <a:r>
              <a:rPr lang="en-US" baseline="30000" dirty="0" smtClean="0"/>
              <a:t>st</a:t>
            </a:r>
            <a:r>
              <a:rPr lang="en-US" dirty="0" smtClean="0"/>
              <a:t> uncommented line) of every source file that you want to include in the package</a:t>
            </a:r>
          </a:p>
          <a:p>
            <a:pPr marL="0" indent="0">
              <a:buNone/>
            </a:pPr>
            <a:r>
              <a:rPr lang="en-US" sz="2000" dirty="0" smtClean="0"/>
              <a:t>	</a:t>
            </a:r>
            <a:r>
              <a:rPr lang="en-US" sz="2000" dirty="0" smtClean="0">
                <a:solidFill>
                  <a:schemeClr val="accent5"/>
                </a:solidFill>
              </a:rPr>
              <a:t>package ee5453;</a:t>
            </a:r>
          </a:p>
          <a:p>
            <a:pPr marL="0" indent="0">
              <a:buNone/>
            </a:pPr>
            <a:r>
              <a:rPr lang="en-US" sz="2000" dirty="0">
                <a:solidFill>
                  <a:schemeClr val="accent5"/>
                </a:solidFill>
              </a:rPr>
              <a:t>	</a:t>
            </a:r>
            <a:r>
              <a:rPr lang="en-US" sz="2000" dirty="0" smtClean="0">
                <a:solidFill>
                  <a:schemeClr val="accent5"/>
                </a:solidFill>
              </a:rPr>
              <a:t>……</a:t>
            </a:r>
            <a:endParaRPr lang="en-US" sz="2000" dirty="0">
              <a:solidFill>
                <a:schemeClr val="accent5"/>
              </a:solidFill>
            </a:endParaRPr>
          </a:p>
          <a:p>
            <a:r>
              <a:rPr lang="en-US" dirty="0" smtClean="0"/>
              <a:t>There can be only one package statement in each source file</a:t>
            </a:r>
          </a:p>
          <a:p>
            <a:r>
              <a:rPr lang="en-US" dirty="0" smtClean="0"/>
              <a:t>All types in the source file are included in the package</a:t>
            </a:r>
          </a:p>
          <a:p>
            <a:endParaRPr lang="en-US" dirty="0"/>
          </a:p>
          <a:p>
            <a:r>
              <a:rPr lang="en-US" dirty="0"/>
              <a:t>F</a:t>
            </a:r>
            <a:r>
              <a:rPr lang="en-US" dirty="0" smtClean="0"/>
              <a:t>iles in the same package must be in the same directory named by the package name</a:t>
            </a:r>
            <a:endParaRPr lang="en-US" dirty="0"/>
          </a:p>
        </p:txBody>
      </p:sp>
      <p:sp>
        <p:nvSpPr>
          <p:cNvPr id="4" name="Slide Number Placeholder 3"/>
          <p:cNvSpPr>
            <a:spLocks noGrp="1"/>
          </p:cNvSpPr>
          <p:nvPr>
            <p:ph type="sldNum" sz="quarter" idx="12"/>
          </p:nvPr>
        </p:nvSpPr>
        <p:spPr/>
        <p:txBody>
          <a:bodyPr/>
          <a:lstStyle/>
          <a:p>
            <a:fld id="{965D6772-41C1-4987-827C-16EA866C2326}" type="slidenum">
              <a:rPr lang="en-US" smtClean="0"/>
              <a:t>49</a:t>
            </a:fld>
            <a:endParaRPr lang="en-US"/>
          </a:p>
        </p:txBody>
      </p:sp>
    </p:spTree>
    <p:extLst>
      <p:ext uri="{BB962C8B-B14F-4D97-AF65-F5344CB8AC3E}">
        <p14:creationId xmlns:p14="http://schemas.microsoft.com/office/powerpoint/2010/main" val="38062553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Naming A Package</a:t>
            </a:r>
            <a:endParaRPr lang="en-US" dirty="0"/>
          </a:p>
        </p:txBody>
      </p:sp>
      <p:sp>
        <p:nvSpPr>
          <p:cNvPr id="3" name="Content Placeholder 2"/>
          <p:cNvSpPr>
            <a:spLocks noGrp="1"/>
          </p:cNvSpPr>
          <p:nvPr>
            <p:ph idx="1"/>
          </p:nvPr>
        </p:nvSpPr>
        <p:spPr/>
        <p:txBody>
          <a:bodyPr/>
          <a:lstStyle/>
          <a:p>
            <a:r>
              <a:rPr lang="en-US" dirty="0" smtClean="0"/>
              <a:t>A package name has all letters in lowercases</a:t>
            </a:r>
          </a:p>
          <a:p>
            <a:r>
              <a:rPr lang="en-US" dirty="0"/>
              <a:t>A</a:t>
            </a:r>
            <a:r>
              <a:rPr lang="en-US" dirty="0" smtClean="0"/>
              <a:t>n organization should use its revised Internet domain name to begin their package names:</a:t>
            </a:r>
          </a:p>
          <a:p>
            <a:pPr lvl="1"/>
            <a:r>
              <a:rPr lang="en-US" dirty="0" smtClean="0"/>
              <a:t>E.g. a package in UTSA should be named as </a:t>
            </a:r>
            <a:r>
              <a:rPr lang="en-US" dirty="0" err="1" smtClean="0">
                <a:solidFill>
                  <a:schemeClr val="accent5"/>
                </a:solidFill>
              </a:rPr>
              <a:t>edu.utsa.packagename</a:t>
            </a:r>
            <a:endParaRPr lang="en-US" dirty="0" smtClean="0">
              <a:solidFill>
                <a:schemeClr val="accent5"/>
              </a:solidFill>
            </a:endParaRPr>
          </a:p>
          <a:p>
            <a:pPr lvl="1"/>
            <a:r>
              <a:rPr lang="en-US" dirty="0" smtClean="0"/>
              <a:t>Further name collisions within an organization should be handled by convention</a:t>
            </a:r>
          </a:p>
          <a:p>
            <a:r>
              <a:rPr lang="en-US" dirty="0" smtClean="0"/>
              <a:t>As a result, the package directory should follow a certain hierarchy:</a:t>
            </a:r>
          </a:p>
          <a:p>
            <a:pPr lvl="1"/>
            <a:r>
              <a:rPr lang="en-US" dirty="0" smtClean="0"/>
              <a:t>E.g. the UTSA ee5453 package should be in &lt;path&gt;/</a:t>
            </a:r>
            <a:r>
              <a:rPr lang="en-US" dirty="0" err="1" smtClean="0"/>
              <a:t>edu</a:t>
            </a:r>
            <a:r>
              <a:rPr lang="en-US" dirty="0" smtClean="0"/>
              <a:t>/</a:t>
            </a:r>
            <a:r>
              <a:rPr lang="en-US" dirty="0" err="1" smtClean="0"/>
              <a:t>utsa</a:t>
            </a:r>
            <a:r>
              <a:rPr lang="en-US" dirty="0" smtClean="0"/>
              <a:t>/ee5453</a:t>
            </a:r>
          </a:p>
          <a:p>
            <a:pPr lvl="1"/>
            <a:r>
              <a:rPr lang="en-US" dirty="0" smtClean="0"/>
              <a:t>Java packages begin with </a:t>
            </a:r>
            <a:r>
              <a:rPr lang="en-US" dirty="0" smtClean="0">
                <a:solidFill>
                  <a:schemeClr val="accent5"/>
                </a:solidFill>
              </a:rPr>
              <a:t>java.</a:t>
            </a:r>
            <a:r>
              <a:rPr lang="en-US" dirty="0" smtClean="0"/>
              <a:t> or </a:t>
            </a:r>
            <a:r>
              <a:rPr lang="en-US" dirty="0" err="1" smtClean="0">
                <a:solidFill>
                  <a:schemeClr val="accent5"/>
                </a:solidFill>
              </a:rPr>
              <a:t>javax</a:t>
            </a:r>
            <a:r>
              <a:rPr lang="en-US" dirty="0" smtClean="0">
                <a:solidFill>
                  <a:schemeClr val="accent5"/>
                </a:solidFill>
              </a:rPr>
              <a:t>.</a:t>
            </a:r>
          </a:p>
          <a:p>
            <a:r>
              <a:rPr lang="en-US" dirty="0" smtClean="0"/>
              <a:t>Where should &lt;path&gt; be?</a:t>
            </a:r>
            <a:endParaRPr lang="en-US" dirty="0"/>
          </a:p>
        </p:txBody>
      </p:sp>
      <p:sp>
        <p:nvSpPr>
          <p:cNvPr id="4" name="Slide Number Placeholder 3"/>
          <p:cNvSpPr>
            <a:spLocks noGrp="1"/>
          </p:cNvSpPr>
          <p:nvPr>
            <p:ph type="sldNum" sz="quarter" idx="12"/>
          </p:nvPr>
        </p:nvSpPr>
        <p:spPr/>
        <p:txBody>
          <a:bodyPr/>
          <a:lstStyle/>
          <a:p>
            <a:fld id="{965D6772-41C1-4987-827C-16EA866C2326}" type="slidenum">
              <a:rPr lang="en-US" smtClean="0"/>
              <a:t>50</a:t>
            </a:fld>
            <a:endParaRPr lang="en-US"/>
          </a:p>
        </p:txBody>
      </p:sp>
    </p:spTree>
    <p:extLst>
      <p:ext uri="{BB962C8B-B14F-4D97-AF65-F5344CB8AC3E}">
        <p14:creationId xmlns:p14="http://schemas.microsoft.com/office/powerpoint/2010/main" val="39231912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Locating A Package</a:t>
            </a:r>
            <a:endParaRPr lang="en-US" dirty="0"/>
          </a:p>
        </p:txBody>
      </p:sp>
      <p:sp>
        <p:nvSpPr>
          <p:cNvPr id="3" name="Content Placeholder 2"/>
          <p:cNvSpPr>
            <a:spLocks noGrp="1"/>
          </p:cNvSpPr>
          <p:nvPr>
            <p:ph idx="1"/>
          </p:nvPr>
        </p:nvSpPr>
        <p:spPr/>
        <p:txBody>
          <a:bodyPr>
            <a:normAutofit/>
          </a:bodyPr>
          <a:lstStyle/>
          <a:p>
            <a:r>
              <a:rPr lang="en-US" dirty="0" smtClean="0"/>
              <a:t>$CLASSPATH is a system variable where the Java compiler and JVM look for class files</a:t>
            </a:r>
          </a:p>
          <a:p>
            <a:pPr lvl="1"/>
            <a:r>
              <a:rPr lang="en-US" dirty="0" smtClean="0"/>
              <a:t>So &lt;path&gt; should be included in $CLASSPATH</a:t>
            </a:r>
          </a:p>
          <a:p>
            <a:r>
              <a:rPr lang="en-US" dirty="0" smtClean="0"/>
              <a:t>How to set $CLASSPATH?</a:t>
            </a:r>
          </a:p>
          <a:p>
            <a:pPr lvl="1"/>
            <a:r>
              <a:rPr lang="en-US" dirty="0" smtClean="0"/>
              <a:t>Same as setting up $PATH when installing Java</a:t>
            </a:r>
          </a:p>
          <a:p>
            <a:r>
              <a:rPr lang="en-US" dirty="0" smtClean="0"/>
              <a:t>By default, $CLASSPATH contains the Java platform classes and the current working directory.</a:t>
            </a:r>
          </a:p>
          <a:p>
            <a:pPr lvl="1"/>
            <a:r>
              <a:rPr lang="en-US" dirty="0" smtClean="0"/>
              <a:t>If you explicitly set your $CLASSPATH, remember to include the CWD “.”!</a:t>
            </a:r>
          </a:p>
          <a:p>
            <a:r>
              <a:rPr lang="en-US" dirty="0" smtClean="0"/>
              <a:t>Only .class files are needed in the packages!</a:t>
            </a:r>
          </a:p>
          <a:p>
            <a:pPr lvl="1"/>
            <a:r>
              <a:rPr lang="en-US" dirty="0" smtClean="0"/>
              <a:t>So that you don’t need to release your source code when providing packages</a:t>
            </a:r>
            <a:endParaRPr lang="en-US" dirty="0"/>
          </a:p>
        </p:txBody>
      </p:sp>
      <p:sp>
        <p:nvSpPr>
          <p:cNvPr id="4" name="Slide Number Placeholder 3"/>
          <p:cNvSpPr>
            <a:spLocks noGrp="1"/>
          </p:cNvSpPr>
          <p:nvPr>
            <p:ph type="sldNum" sz="quarter" idx="12"/>
          </p:nvPr>
        </p:nvSpPr>
        <p:spPr/>
        <p:txBody>
          <a:bodyPr/>
          <a:lstStyle/>
          <a:p>
            <a:fld id="{965D6772-41C1-4987-827C-16EA866C2326}" type="slidenum">
              <a:rPr lang="en-US" smtClean="0"/>
              <a:t>51</a:t>
            </a:fld>
            <a:endParaRPr lang="en-US"/>
          </a:p>
        </p:txBody>
      </p:sp>
    </p:spTree>
    <p:extLst>
      <p:ext uri="{BB962C8B-B14F-4D97-AF65-F5344CB8AC3E}">
        <p14:creationId xmlns:p14="http://schemas.microsoft.com/office/powerpoint/2010/main" val="19050385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Importing A Package</a:t>
            </a:r>
            <a:endParaRPr lang="en-US" dirty="0"/>
          </a:p>
        </p:txBody>
      </p:sp>
      <p:sp>
        <p:nvSpPr>
          <p:cNvPr id="3" name="Content Placeholder 2"/>
          <p:cNvSpPr>
            <a:spLocks noGrp="1"/>
          </p:cNvSpPr>
          <p:nvPr>
            <p:ph idx="1"/>
          </p:nvPr>
        </p:nvSpPr>
        <p:spPr>
          <a:xfrm>
            <a:off x="838200" y="1825625"/>
            <a:ext cx="10766778" cy="4351338"/>
          </a:xfrm>
        </p:spPr>
        <p:txBody>
          <a:bodyPr/>
          <a:lstStyle/>
          <a:p>
            <a:r>
              <a:rPr lang="en-US" dirty="0" smtClean="0"/>
              <a:t>To use a public package member outside its package, you can do one of the followings:</a:t>
            </a:r>
          </a:p>
          <a:p>
            <a:pPr lvl="1"/>
            <a:r>
              <a:rPr lang="en-US" dirty="0" smtClean="0"/>
              <a:t>Use its fully qualified name, e.g. </a:t>
            </a:r>
            <a:r>
              <a:rPr lang="en-US" dirty="0" err="1" smtClean="0">
                <a:solidFill>
                  <a:schemeClr val="accent5"/>
                </a:solidFill>
              </a:rPr>
              <a:t>java.util.Arrays</a:t>
            </a:r>
            <a:endParaRPr lang="en-US" dirty="0" smtClean="0">
              <a:solidFill>
                <a:schemeClr val="accent5"/>
              </a:solidFill>
            </a:endParaRPr>
          </a:p>
          <a:p>
            <a:pPr lvl="1"/>
            <a:r>
              <a:rPr lang="en-US" dirty="0" smtClean="0"/>
              <a:t>Import the member itself and then use its simple name: </a:t>
            </a:r>
            <a:r>
              <a:rPr lang="en-US" dirty="0" smtClean="0">
                <a:solidFill>
                  <a:schemeClr val="accent5"/>
                </a:solidFill>
              </a:rPr>
              <a:t>import </a:t>
            </a:r>
            <a:r>
              <a:rPr lang="en-US" dirty="0" err="1" smtClean="0">
                <a:solidFill>
                  <a:schemeClr val="accent5"/>
                </a:solidFill>
              </a:rPr>
              <a:t>java.util.Arrays</a:t>
            </a:r>
            <a:r>
              <a:rPr lang="en-US" dirty="0" smtClean="0">
                <a:solidFill>
                  <a:schemeClr val="accent5"/>
                </a:solidFill>
              </a:rPr>
              <a:t>;</a:t>
            </a:r>
          </a:p>
          <a:p>
            <a:pPr lvl="1"/>
            <a:r>
              <a:rPr lang="en-US" dirty="0" smtClean="0"/>
              <a:t>Import the entire package by using the wildcard character *: </a:t>
            </a:r>
            <a:r>
              <a:rPr lang="en-US" dirty="0" smtClean="0">
                <a:solidFill>
                  <a:schemeClr val="accent5"/>
                </a:solidFill>
              </a:rPr>
              <a:t>import </a:t>
            </a:r>
            <a:r>
              <a:rPr lang="en-US" dirty="0" err="1" smtClean="0">
                <a:solidFill>
                  <a:schemeClr val="accent5"/>
                </a:solidFill>
              </a:rPr>
              <a:t>java.util</a:t>
            </a:r>
            <a:r>
              <a:rPr lang="en-US" dirty="0" smtClean="0">
                <a:solidFill>
                  <a:schemeClr val="accent5"/>
                </a:solidFill>
              </a:rPr>
              <a:t>.*;</a:t>
            </a:r>
          </a:p>
          <a:p>
            <a:r>
              <a:rPr lang="en-US" dirty="0" smtClean="0"/>
              <a:t>For convenience, Java automatically imports two packages for each source file:</a:t>
            </a:r>
          </a:p>
          <a:p>
            <a:pPr lvl="1"/>
            <a:r>
              <a:rPr lang="en-US" dirty="0" smtClean="0"/>
              <a:t>The </a:t>
            </a:r>
            <a:r>
              <a:rPr lang="en-US" dirty="0" err="1" smtClean="0">
                <a:solidFill>
                  <a:schemeClr val="accent5"/>
                </a:solidFill>
              </a:rPr>
              <a:t>java.lang</a:t>
            </a:r>
            <a:r>
              <a:rPr lang="en-US" dirty="0" smtClean="0"/>
              <a:t> package</a:t>
            </a:r>
          </a:p>
          <a:p>
            <a:pPr lvl="1"/>
            <a:r>
              <a:rPr lang="en-US" dirty="0" smtClean="0"/>
              <a:t>The current package (named or unnamed)</a:t>
            </a:r>
          </a:p>
          <a:p>
            <a:pPr lvl="2"/>
            <a:r>
              <a:rPr lang="en-US" dirty="0" smtClean="0"/>
              <a:t>The </a:t>
            </a:r>
            <a:r>
              <a:rPr lang="en-US" i="1" dirty="0" smtClean="0"/>
              <a:t>default package</a:t>
            </a:r>
            <a:r>
              <a:rPr lang="en-US" dirty="0" smtClean="0"/>
              <a:t>: files in the same directory but don’t have an explicit package name have package access to each other.</a:t>
            </a:r>
            <a:endParaRPr lang="en-US" dirty="0"/>
          </a:p>
        </p:txBody>
      </p:sp>
      <p:sp>
        <p:nvSpPr>
          <p:cNvPr id="4" name="Slide Number Placeholder 3"/>
          <p:cNvSpPr>
            <a:spLocks noGrp="1"/>
          </p:cNvSpPr>
          <p:nvPr>
            <p:ph type="sldNum" sz="quarter" idx="12"/>
          </p:nvPr>
        </p:nvSpPr>
        <p:spPr/>
        <p:txBody>
          <a:bodyPr/>
          <a:lstStyle/>
          <a:p>
            <a:fld id="{965D6772-41C1-4987-827C-16EA866C2326}" type="slidenum">
              <a:rPr lang="en-US" smtClean="0"/>
              <a:t>52</a:t>
            </a:fld>
            <a:endParaRPr lang="en-US"/>
          </a:p>
        </p:txBody>
      </p:sp>
    </p:spTree>
    <p:extLst>
      <p:ext uri="{BB962C8B-B14F-4D97-AF65-F5344CB8AC3E}">
        <p14:creationId xmlns:p14="http://schemas.microsoft.com/office/powerpoint/2010/main" val="17504314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Managing Source</a:t>
            </a:r>
            <a:endParaRPr lang="en-US" dirty="0"/>
          </a:p>
        </p:txBody>
      </p:sp>
      <p:sp>
        <p:nvSpPr>
          <p:cNvPr id="3" name="Content Placeholder 2"/>
          <p:cNvSpPr>
            <a:spLocks noGrp="1"/>
          </p:cNvSpPr>
          <p:nvPr>
            <p:ph idx="1"/>
          </p:nvPr>
        </p:nvSpPr>
        <p:spPr/>
        <p:txBody>
          <a:bodyPr>
            <a:normAutofit lnSpcReduction="10000"/>
          </a:bodyPr>
          <a:lstStyle/>
          <a:p>
            <a:r>
              <a:rPr lang="en-US" dirty="0" smtClean="0"/>
              <a:t>A .java source file can have at most one public type (class or interface)</a:t>
            </a:r>
          </a:p>
          <a:p>
            <a:r>
              <a:rPr lang="en-US" dirty="0" smtClean="0"/>
              <a:t>In a .java file:</a:t>
            </a:r>
          </a:p>
          <a:p>
            <a:pPr lvl="1"/>
            <a:r>
              <a:rPr lang="en-US" dirty="0" smtClean="0"/>
              <a:t>The file name has to be the same as the public class in it</a:t>
            </a:r>
          </a:p>
          <a:p>
            <a:pPr lvl="1"/>
            <a:r>
              <a:rPr lang="en-US" dirty="0" smtClean="0"/>
              <a:t>No restriction on the file name if there’s no public class (but a meaningful one is expected)</a:t>
            </a:r>
          </a:p>
          <a:p>
            <a:pPr lvl="1"/>
            <a:r>
              <a:rPr lang="en-US" dirty="0" smtClean="0"/>
              <a:t>If both the main method and a public class exist, the main method has to be in the public class.</a:t>
            </a:r>
          </a:p>
          <a:p>
            <a:r>
              <a:rPr lang="en-US" dirty="0" smtClean="0"/>
              <a:t>These rules are mainly for efficiency and code readability</a:t>
            </a:r>
          </a:p>
          <a:p>
            <a:r>
              <a:rPr lang="en-US" dirty="0" smtClean="0"/>
              <a:t>When compiling a .java source file, the compiler creates a different .class file for each class/interface defined in the source.</a:t>
            </a:r>
          </a:p>
        </p:txBody>
      </p:sp>
      <p:sp>
        <p:nvSpPr>
          <p:cNvPr id="4" name="Slide Number Placeholder 3"/>
          <p:cNvSpPr>
            <a:spLocks noGrp="1"/>
          </p:cNvSpPr>
          <p:nvPr>
            <p:ph type="sldNum" sz="quarter" idx="12"/>
          </p:nvPr>
        </p:nvSpPr>
        <p:spPr/>
        <p:txBody>
          <a:bodyPr/>
          <a:lstStyle/>
          <a:p>
            <a:fld id="{965D6772-41C1-4987-827C-16EA866C2326}" type="slidenum">
              <a:rPr lang="en-US" smtClean="0"/>
              <a:t>53</a:t>
            </a:fld>
            <a:endParaRPr lang="en-US"/>
          </a:p>
        </p:txBody>
      </p:sp>
    </p:spTree>
    <p:extLst>
      <p:ext uri="{BB962C8B-B14F-4D97-AF65-F5344CB8AC3E}">
        <p14:creationId xmlns:p14="http://schemas.microsoft.com/office/powerpoint/2010/main" val="32401937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Case Study</a:t>
            </a:r>
            <a:endParaRPr lang="en-US" dirty="0"/>
          </a:p>
        </p:txBody>
      </p:sp>
      <p:sp>
        <p:nvSpPr>
          <p:cNvPr id="5" name="Content Placeholder 4"/>
          <p:cNvSpPr>
            <a:spLocks noGrp="1"/>
          </p:cNvSpPr>
          <p:nvPr>
            <p:ph idx="1"/>
          </p:nvPr>
        </p:nvSpPr>
        <p:spPr/>
        <p:txBody>
          <a:bodyPr/>
          <a:lstStyle/>
          <a:p>
            <a:r>
              <a:rPr lang="en-US" dirty="0" smtClean="0"/>
              <a:t>Pick a directory in your platform for storing all your packages</a:t>
            </a:r>
          </a:p>
          <a:p>
            <a:pPr lvl="1"/>
            <a:r>
              <a:rPr lang="en-US" dirty="0" smtClean="0"/>
              <a:t>E.g. suppose /path/to/packages is where your packages will be located</a:t>
            </a:r>
          </a:p>
          <a:p>
            <a:pPr lvl="1"/>
            <a:r>
              <a:rPr lang="en-US" dirty="0" smtClean="0"/>
              <a:t>Add /path/to/packages to $CLASSPATH, following the instructions below:</a:t>
            </a:r>
          </a:p>
          <a:p>
            <a:pPr lvl="1"/>
            <a:r>
              <a:rPr lang="en-US" dirty="0">
                <a:hlinkClick r:id="rId2"/>
              </a:rPr>
              <a:t>http://</a:t>
            </a:r>
            <a:r>
              <a:rPr lang="en-US" dirty="0" smtClean="0">
                <a:hlinkClick r:id="rId2"/>
              </a:rPr>
              <a:t>docs.oracle.com/javase/tutorial/essential/environment/paths.html</a:t>
            </a:r>
            <a:endParaRPr lang="en-US" dirty="0" smtClean="0"/>
          </a:p>
          <a:p>
            <a:pPr lvl="1"/>
            <a:r>
              <a:rPr lang="en-US" dirty="0" smtClean="0"/>
              <a:t>In bash Shell, “export CLASSPATH=.:/path/to/package”. Including CWD “.” is necessary!</a:t>
            </a:r>
            <a:endParaRPr lang="en-US" dirty="0"/>
          </a:p>
          <a:p>
            <a:r>
              <a:rPr lang="en-US" dirty="0" smtClean="0"/>
              <a:t>In /path/to/packages, create a directory </a:t>
            </a:r>
            <a:r>
              <a:rPr lang="en-US" dirty="0" err="1" smtClean="0"/>
              <a:t>edu</a:t>
            </a:r>
            <a:r>
              <a:rPr lang="en-US" dirty="0" smtClean="0"/>
              <a:t>, then a subdirectory </a:t>
            </a:r>
            <a:r>
              <a:rPr lang="en-US" dirty="0" err="1" smtClean="0"/>
              <a:t>utsa</a:t>
            </a:r>
            <a:r>
              <a:rPr lang="en-US" dirty="0"/>
              <a:t> </a:t>
            </a:r>
            <a:r>
              <a:rPr lang="en-US" dirty="0" smtClean="0"/>
              <a:t>in </a:t>
            </a:r>
            <a:r>
              <a:rPr lang="en-US" dirty="0" err="1" smtClean="0"/>
              <a:t>edu</a:t>
            </a:r>
            <a:r>
              <a:rPr lang="en-US" dirty="0" smtClean="0"/>
              <a:t>, then a subdirectory ee5453 in </a:t>
            </a:r>
            <a:r>
              <a:rPr lang="en-US" dirty="0" err="1" smtClean="0"/>
              <a:t>utsa</a:t>
            </a:r>
            <a:endParaRPr lang="en-US" dirty="0" smtClean="0"/>
          </a:p>
          <a:p>
            <a:r>
              <a:rPr lang="en-US" dirty="0" smtClean="0"/>
              <a:t>Cd into /path/to/packages/</a:t>
            </a:r>
            <a:r>
              <a:rPr lang="en-US" dirty="0" err="1" smtClean="0"/>
              <a:t>edu</a:t>
            </a:r>
            <a:r>
              <a:rPr lang="en-US" dirty="0" smtClean="0"/>
              <a:t>/</a:t>
            </a:r>
            <a:r>
              <a:rPr lang="en-US" dirty="0" err="1" smtClean="0"/>
              <a:t>utsa</a:t>
            </a:r>
            <a:r>
              <a:rPr lang="en-US" dirty="0" smtClean="0"/>
              <a:t>/ee5453</a:t>
            </a:r>
          </a:p>
          <a:p>
            <a:pPr lvl="1"/>
            <a:r>
              <a:rPr lang="en-US" dirty="0" smtClean="0"/>
              <a:t>This is where you will be creating a package named edu.utsa.ee5453</a:t>
            </a:r>
            <a:endParaRPr lang="en-US" dirty="0"/>
          </a:p>
        </p:txBody>
      </p:sp>
      <p:sp>
        <p:nvSpPr>
          <p:cNvPr id="3" name="Slide Number Placeholder 2"/>
          <p:cNvSpPr>
            <a:spLocks noGrp="1"/>
          </p:cNvSpPr>
          <p:nvPr>
            <p:ph type="sldNum" sz="quarter" idx="12"/>
          </p:nvPr>
        </p:nvSpPr>
        <p:spPr/>
        <p:txBody>
          <a:bodyPr/>
          <a:lstStyle/>
          <a:p>
            <a:fld id="{965D6772-41C1-4987-827C-16EA866C2326}" type="slidenum">
              <a:rPr lang="en-US" smtClean="0"/>
              <a:t>54</a:t>
            </a:fld>
            <a:endParaRPr lang="en-US"/>
          </a:p>
        </p:txBody>
      </p:sp>
    </p:spTree>
    <p:extLst>
      <p:ext uri="{BB962C8B-B14F-4D97-AF65-F5344CB8AC3E}">
        <p14:creationId xmlns:p14="http://schemas.microsoft.com/office/powerpoint/2010/main" val="18894440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Case Study (Cont.)</a:t>
            </a:r>
            <a:endParaRPr lang="en-US" dirty="0"/>
          </a:p>
        </p:txBody>
      </p:sp>
      <p:sp>
        <p:nvSpPr>
          <p:cNvPr id="4" name="Content Placeholder 3"/>
          <p:cNvSpPr>
            <a:spLocks noGrp="1"/>
          </p:cNvSpPr>
          <p:nvPr>
            <p:ph sz="half" idx="1"/>
          </p:nvPr>
        </p:nvSpPr>
        <p:spPr>
          <a:xfrm>
            <a:off x="519545" y="1690688"/>
            <a:ext cx="5500255" cy="4486275"/>
          </a:xfrm>
        </p:spPr>
        <p:txBody>
          <a:bodyPr>
            <a:normAutofit lnSpcReduction="10000"/>
          </a:bodyPr>
          <a:lstStyle/>
          <a:p>
            <a:r>
              <a:rPr lang="en-US" dirty="0" smtClean="0"/>
              <a:t>In the ee5453 directory, create a source file Vehicle.java:</a:t>
            </a:r>
          </a:p>
          <a:p>
            <a:endParaRPr lang="en-US" dirty="0" smtClean="0"/>
          </a:p>
          <a:p>
            <a:pPr marL="0" indent="0">
              <a:buNone/>
            </a:pPr>
            <a:r>
              <a:rPr lang="en-US" sz="2000" dirty="0">
                <a:solidFill>
                  <a:schemeClr val="accent5"/>
                </a:solidFill>
              </a:rPr>
              <a:t>package edu.utsa.ee5453;</a:t>
            </a:r>
          </a:p>
          <a:p>
            <a:pPr marL="0" indent="0">
              <a:buNone/>
            </a:pPr>
            <a:endParaRPr lang="en-US" sz="2000" dirty="0">
              <a:solidFill>
                <a:schemeClr val="accent5"/>
              </a:solidFill>
            </a:endParaRPr>
          </a:p>
          <a:p>
            <a:pPr marL="0" indent="0">
              <a:buNone/>
            </a:pPr>
            <a:r>
              <a:rPr lang="en-US" sz="2000" dirty="0">
                <a:solidFill>
                  <a:schemeClr val="accent5"/>
                </a:solidFill>
              </a:rPr>
              <a:t>class Engine {</a:t>
            </a:r>
          </a:p>
          <a:p>
            <a:pPr marL="0" indent="0">
              <a:buNone/>
            </a:pPr>
            <a:r>
              <a:rPr lang="en-US" sz="2000" dirty="0">
                <a:solidFill>
                  <a:schemeClr val="accent5"/>
                </a:solidFill>
              </a:rPr>
              <a:t>  Engine() { </a:t>
            </a:r>
            <a:r>
              <a:rPr lang="en-US" sz="2000" dirty="0" err="1">
                <a:solidFill>
                  <a:schemeClr val="accent5"/>
                </a:solidFill>
              </a:rPr>
              <a:t>System.out.println</a:t>
            </a:r>
            <a:r>
              <a:rPr lang="en-US" sz="2000" dirty="0">
                <a:solidFill>
                  <a:schemeClr val="accent5"/>
                </a:solidFill>
              </a:rPr>
              <a:t>("Engine added!"); }</a:t>
            </a:r>
          </a:p>
          <a:p>
            <a:pPr marL="0" indent="0">
              <a:buNone/>
            </a:pPr>
            <a:r>
              <a:rPr lang="en-US" sz="2000" dirty="0" smtClean="0">
                <a:solidFill>
                  <a:schemeClr val="accent5"/>
                </a:solidFill>
              </a:rPr>
              <a:t>}</a:t>
            </a:r>
            <a:endParaRPr lang="en-US" sz="2000" dirty="0">
              <a:solidFill>
                <a:schemeClr val="accent5"/>
              </a:solidFill>
            </a:endParaRPr>
          </a:p>
          <a:p>
            <a:pPr marL="0" indent="0">
              <a:buNone/>
            </a:pPr>
            <a:r>
              <a:rPr lang="en-US" sz="2000" dirty="0">
                <a:solidFill>
                  <a:schemeClr val="accent5"/>
                </a:solidFill>
              </a:rPr>
              <a:t>class Trunk {</a:t>
            </a:r>
          </a:p>
          <a:p>
            <a:pPr marL="0" indent="0">
              <a:buNone/>
            </a:pPr>
            <a:r>
              <a:rPr lang="en-US" sz="2000" dirty="0">
                <a:solidFill>
                  <a:schemeClr val="accent5"/>
                </a:solidFill>
              </a:rPr>
              <a:t>  Trunk() { </a:t>
            </a:r>
            <a:r>
              <a:rPr lang="en-US" sz="2000" dirty="0" err="1">
                <a:solidFill>
                  <a:schemeClr val="accent5"/>
                </a:solidFill>
              </a:rPr>
              <a:t>System.out.println</a:t>
            </a:r>
            <a:r>
              <a:rPr lang="en-US" sz="2000" dirty="0">
                <a:solidFill>
                  <a:schemeClr val="accent5"/>
                </a:solidFill>
              </a:rPr>
              <a:t>("Trunk added!"); }</a:t>
            </a:r>
          </a:p>
          <a:p>
            <a:pPr marL="0" indent="0">
              <a:buNone/>
            </a:pPr>
            <a:r>
              <a:rPr lang="en-US" sz="2000" dirty="0">
                <a:solidFill>
                  <a:schemeClr val="accent5"/>
                </a:solidFill>
              </a:rPr>
              <a:t>}</a:t>
            </a:r>
            <a:endParaRPr lang="en-US" sz="2000" dirty="0" smtClean="0">
              <a:solidFill>
                <a:schemeClr val="accent5"/>
              </a:solidFill>
            </a:endParaRPr>
          </a:p>
        </p:txBody>
      </p:sp>
      <p:sp>
        <p:nvSpPr>
          <p:cNvPr id="5" name="Content Placeholder 4"/>
          <p:cNvSpPr>
            <a:spLocks noGrp="1"/>
          </p:cNvSpPr>
          <p:nvPr>
            <p:ph sz="half" idx="2"/>
          </p:nvPr>
        </p:nvSpPr>
        <p:spPr>
          <a:xfrm>
            <a:off x="6172200" y="644236"/>
            <a:ext cx="5181600" cy="5532727"/>
          </a:xfrm>
        </p:spPr>
        <p:txBody>
          <a:bodyPr>
            <a:normAutofit lnSpcReduction="10000"/>
          </a:bodyPr>
          <a:lstStyle/>
          <a:p>
            <a:pPr marL="0" indent="0">
              <a:buNone/>
            </a:pPr>
            <a:r>
              <a:rPr lang="en-US" sz="2000" dirty="0">
                <a:solidFill>
                  <a:schemeClr val="accent5"/>
                </a:solidFill>
              </a:rPr>
              <a:t>public class Vehicle {</a:t>
            </a:r>
          </a:p>
          <a:p>
            <a:pPr marL="0" indent="0">
              <a:buNone/>
            </a:pPr>
            <a:r>
              <a:rPr lang="en-US" sz="2000" dirty="0">
                <a:solidFill>
                  <a:schemeClr val="accent5"/>
                </a:solidFill>
              </a:rPr>
              <a:t>  Engine </a:t>
            </a:r>
            <a:r>
              <a:rPr lang="en-US" sz="2000" dirty="0" err="1">
                <a:solidFill>
                  <a:schemeClr val="accent5"/>
                </a:solidFill>
              </a:rPr>
              <a:t>engine</a:t>
            </a:r>
            <a:r>
              <a:rPr lang="en-US" sz="2000" dirty="0">
                <a:solidFill>
                  <a:schemeClr val="accent5"/>
                </a:solidFill>
              </a:rPr>
              <a:t>;</a:t>
            </a:r>
          </a:p>
          <a:p>
            <a:pPr marL="0" indent="0">
              <a:buNone/>
            </a:pPr>
            <a:r>
              <a:rPr lang="en-US" sz="2000" dirty="0">
                <a:solidFill>
                  <a:schemeClr val="accent5"/>
                </a:solidFill>
              </a:rPr>
              <a:t>  Trunk </a:t>
            </a:r>
            <a:r>
              <a:rPr lang="en-US" sz="2000" dirty="0" err="1">
                <a:solidFill>
                  <a:schemeClr val="accent5"/>
                </a:solidFill>
              </a:rPr>
              <a:t>trunk</a:t>
            </a:r>
            <a:r>
              <a:rPr lang="en-US" sz="2000" dirty="0">
                <a:solidFill>
                  <a:schemeClr val="accent5"/>
                </a:solidFill>
              </a:rPr>
              <a:t>;</a:t>
            </a:r>
          </a:p>
          <a:p>
            <a:pPr marL="0" indent="0">
              <a:buNone/>
            </a:pPr>
            <a:endParaRPr lang="en-US" sz="2000" dirty="0">
              <a:solidFill>
                <a:schemeClr val="accent5"/>
              </a:solidFill>
            </a:endParaRPr>
          </a:p>
          <a:p>
            <a:pPr marL="0" indent="0">
              <a:buNone/>
            </a:pPr>
            <a:r>
              <a:rPr lang="en-US" sz="2000" dirty="0">
                <a:solidFill>
                  <a:schemeClr val="accent5"/>
                </a:solidFill>
              </a:rPr>
              <a:t>  public Vehicle() {</a:t>
            </a:r>
          </a:p>
          <a:p>
            <a:pPr marL="0" indent="0">
              <a:buNone/>
            </a:pPr>
            <a:r>
              <a:rPr lang="en-US" sz="2000" dirty="0">
                <a:solidFill>
                  <a:schemeClr val="accent5"/>
                </a:solidFill>
              </a:rPr>
              <a:t>    engine = new Engine();</a:t>
            </a:r>
          </a:p>
          <a:p>
            <a:pPr marL="0" indent="0">
              <a:buNone/>
            </a:pPr>
            <a:r>
              <a:rPr lang="en-US" sz="2000" dirty="0">
                <a:solidFill>
                  <a:schemeClr val="accent5"/>
                </a:solidFill>
              </a:rPr>
              <a:t>    trunk = new Trunk();</a:t>
            </a:r>
          </a:p>
          <a:p>
            <a:pPr marL="0" indent="0">
              <a:buNone/>
            </a:pPr>
            <a:r>
              <a:rPr lang="en-US" sz="2000" dirty="0">
                <a:solidFill>
                  <a:schemeClr val="accent5"/>
                </a:solidFill>
              </a:rPr>
              <a:t>    </a:t>
            </a:r>
            <a:r>
              <a:rPr lang="en-US" sz="2000" dirty="0" err="1">
                <a:solidFill>
                  <a:schemeClr val="accent5"/>
                </a:solidFill>
              </a:rPr>
              <a:t>System.out.println</a:t>
            </a:r>
            <a:r>
              <a:rPr lang="en-US" sz="2000" dirty="0">
                <a:solidFill>
                  <a:schemeClr val="accent5"/>
                </a:solidFill>
              </a:rPr>
              <a:t>("Vehicle done!");</a:t>
            </a:r>
          </a:p>
          <a:p>
            <a:pPr marL="0" indent="0">
              <a:buNone/>
            </a:pPr>
            <a:r>
              <a:rPr lang="en-US" sz="2000" dirty="0">
                <a:solidFill>
                  <a:schemeClr val="accent5"/>
                </a:solidFill>
              </a:rPr>
              <a:t>  }</a:t>
            </a:r>
          </a:p>
          <a:p>
            <a:pPr marL="0" indent="0">
              <a:buNone/>
            </a:pPr>
            <a:endParaRPr lang="en-US" sz="2000" dirty="0">
              <a:solidFill>
                <a:schemeClr val="accent5"/>
              </a:solidFill>
            </a:endParaRPr>
          </a:p>
          <a:p>
            <a:pPr marL="0" indent="0">
              <a:buNone/>
            </a:pPr>
            <a:r>
              <a:rPr lang="en-US" sz="2000" dirty="0">
                <a:solidFill>
                  <a:schemeClr val="accent5"/>
                </a:solidFill>
              </a:rPr>
              <a:t>  public static void main(String[] </a:t>
            </a:r>
            <a:r>
              <a:rPr lang="en-US" sz="2000" dirty="0" err="1">
                <a:solidFill>
                  <a:schemeClr val="accent5"/>
                </a:solidFill>
              </a:rPr>
              <a:t>args</a:t>
            </a:r>
            <a:r>
              <a:rPr lang="en-US" sz="2000" dirty="0">
                <a:solidFill>
                  <a:schemeClr val="accent5"/>
                </a:solidFill>
              </a:rPr>
              <a:t>) {</a:t>
            </a:r>
          </a:p>
          <a:p>
            <a:pPr marL="0" indent="0">
              <a:buNone/>
            </a:pPr>
            <a:r>
              <a:rPr lang="en-US" sz="2000" dirty="0">
                <a:solidFill>
                  <a:schemeClr val="accent5"/>
                </a:solidFill>
              </a:rPr>
              <a:t>    Vehicle v = new Vehicle();</a:t>
            </a:r>
          </a:p>
          <a:p>
            <a:pPr marL="0" indent="0">
              <a:buNone/>
            </a:pPr>
            <a:r>
              <a:rPr lang="en-US" sz="2000" dirty="0">
                <a:solidFill>
                  <a:schemeClr val="accent5"/>
                </a:solidFill>
              </a:rPr>
              <a:t>    </a:t>
            </a:r>
            <a:r>
              <a:rPr lang="en-US" sz="2000" dirty="0" err="1">
                <a:solidFill>
                  <a:schemeClr val="accent5"/>
                </a:solidFill>
              </a:rPr>
              <a:t>System.out.println</a:t>
            </a:r>
            <a:r>
              <a:rPr lang="en-US" sz="2000" dirty="0">
                <a:solidFill>
                  <a:schemeClr val="accent5"/>
                </a:solidFill>
              </a:rPr>
              <a:t>("Vehicle demo in itself!");</a:t>
            </a:r>
          </a:p>
          <a:p>
            <a:pPr marL="0" indent="0">
              <a:buNone/>
            </a:pPr>
            <a:r>
              <a:rPr lang="en-US" sz="2000" dirty="0">
                <a:solidFill>
                  <a:schemeClr val="accent5"/>
                </a:solidFill>
              </a:rPr>
              <a:t>  }</a:t>
            </a:r>
          </a:p>
          <a:p>
            <a:pPr marL="0" indent="0">
              <a:buNone/>
            </a:pPr>
            <a:r>
              <a:rPr lang="en-US" sz="2000" dirty="0">
                <a:solidFill>
                  <a:schemeClr val="accent5"/>
                </a:solidFill>
              </a:rPr>
              <a:t>}</a:t>
            </a:r>
          </a:p>
        </p:txBody>
      </p:sp>
      <p:sp>
        <p:nvSpPr>
          <p:cNvPr id="3" name="Slide Number Placeholder 2"/>
          <p:cNvSpPr>
            <a:spLocks noGrp="1"/>
          </p:cNvSpPr>
          <p:nvPr>
            <p:ph type="sldNum" sz="quarter" idx="12"/>
          </p:nvPr>
        </p:nvSpPr>
        <p:spPr/>
        <p:txBody>
          <a:bodyPr/>
          <a:lstStyle/>
          <a:p>
            <a:fld id="{965D6772-41C1-4987-827C-16EA866C2326}" type="slidenum">
              <a:rPr lang="en-US" smtClean="0"/>
              <a:t>55</a:t>
            </a:fld>
            <a:endParaRPr lang="en-US"/>
          </a:p>
        </p:txBody>
      </p:sp>
    </p:spTree>
    <p:extLst>
      <p:ext uri="{BB962C8B-B14F-4D97-AF65-F5344CB8AC3E}">
        <p14:creationId xmlns:p14="http://schemas.microsoft.com/office/powerpoint/2010/main" val="7532414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Case Study (Cont.)</a:t>
            </a:r>
          </a:p>
        </p:txBody>
      </p:sp>
      <p:sp>
        <p:nvSpPr>
          <p:cNvPr id="3" name="Content Placeholder 2"/>
          <p:cNvSpPr>
            <a:spLocks noGrp="1"/>
          </p:cNvSpPr>
          <p:nvPr>
            <p:ph idx="1"/>
          </p:nvPr>
        </p:nvSpPr>
        <p:spPr/>
        <p:txBody>
          <a:bodyPr/>
          <a:lstStyle/>
          <a:p>
            <a:r>
              <a:rPr lang="en-US" dirty="0" smtClean="0"/>
              <a:t>In command line, compile Vehicle.java:</a:t>
            </a:r>
          </a:p>
          <a:p>
            <a:pPr marL="0" indent="0">
              <a:buNone/>
            </a:pPr>
            <a:r>
              <a:rPr lang="en-US" sz="2400" dirty="0" smtClean="0">
                <a:solidFill>
                  <a:schemeClr val="accent5"/>
                </a:solidFill>
              </a:rPr>
              <a:t>	</a:t>
            </a:r>
            <a:r>
              <a:rPr lang="en-US" sz="2400" dirty="0" err="1" smtClean="0">
                <a:solidFill>
                  <a:schemeClr val="accent5"/>
                </a:solidFill>
              </a:rPr>
              <a:t>javac</a:t>
            </a:r>
            <a:r>
              <a:rPr lang="en-US" sz="2400" dirty="0" smtClean="0">
                <a:solidFill>
                  <a:schemeClr val="accent5"/>
                </a:solidFill>
              </a:rPr>
              <a:t> Vehicle.java</a:t>
            </a:r>
          </a:p>
          <a:p>
            <a:r>
              <a:rPr lang="en-US" dirty="0" smtClean="0"/>
              <a:t>This generates three .class files for each of the classes in the source:</a:t>
            </a:r>
          </a:p>
          <a:p>
            <a:pPr lvl="1"/>
            <a:r>
              <a:rPr lang="en-US" dirty="0" err="1" smtClean="0">
                <a:solidFill>
                  <a:schemeClr val="accent5"/>
                </a:solidFill>
              </a:rPr>
              <a:t>Engine.class</a:t>
            </a:r>
            <a:r>
              <a:rPr lang="en-US" dirty="0" smtClean="0">
                <a:solidFill>
                  <a:schemeClr val="accent5"/>
                </a:solidFill>
              </a:rPr>
              <a:t>, </a:t>
            </a:r>
            <a:r>
              <a:rPr lang="en-US" dirty="0" err="1" smtClean="0">
                <a:solidFill>
                  <a:schemeClr val="accent5"/>
                </a:solidFill>
              </a:rPr>
              <a:t>Trunk.class</a:t>
            </a:r>
            <a:r>
              <a:rPr lang="en-US" dirty="0" smtClean="0">
                <a:solidFill>
                  <a:schemeClr val="accent5"/>
                </a:solidFill>
              </a:rPr>
              <a:t>, and </a:t>
            </a:r>
            <a:r>
              <a:rPr lang="en-US" dirty="0" err="1" smtClean="0">
                <a:solidFill>
                  <a:schemeClr val="accent5"/>
                </a:solidFill>
              </a:rPr>
              <a:t>Vehicle.class</a:t>
            </a:r>
            <a:endParaRPr lang="en-US" dirty="0" smtClean="0">
              <a:solidFill>
                <a:schemeClr val="accent5"/>
              </a:solidFill>
            </a:endParaRPr>
          </a:p>
          <a:p>
            <a:r>
              <a:rPr lang="en-US" dirty="0" smtClean="0"/>
              <a:t>Note that there’s even a main method in the Vehicle class. How can we execute it?</a:t>
            </a:r>
          </a:p>
          <a:p>
            <a:pPr marL="0" lvl="1" indent="0">
              <a:spcBef>
                <a:spcPts val="1000"/>
              </a:spcBef>
              <a:buNone/>
            </a:pPr>
            <a:r>
              <a:rPr lang="en-US" dirty="0" smtClean="0">
                <a:solidFill>
                  <a:schemeClr val="accent5"/>
                </a:solidFill>
              </a:rPr>
              <a:t>	java </a:t>
            </a:r>
            <a:r>
              <a:rPr lang="en-US" dirty="0">
                <a:solidFill>
                  <a:schemeClr val="accent5"/>
                </a:solidFill>
              </a:rPr>
              <a:t>edu.utsa.ee5453.Vehicle</a:t>
            </a:r>
          </a:p>
          <a:p>
            <a:r>
              <a:rPr lang="en-US" dirty="0" smtClean="0"/>
              <a:t>Now you can move the source file Vehicle.java to some other place</a:t>
            </a:r>
          </a:p>
          <a:p>
            <a:pPr lvl="1"/>
            <a:r>
              <a:rPr lang="en-US" dirty="0" smtClean="0"/>
              <a:t>But keep the three .class files in ee5453 directory</a:t>
            </a:r>
          </a:p>
        </p:txBody>
      </p:sp>
      <p:sp>
        <p:nvSpPr>
          <p:cNvPr id="4" name="Slide Number Placeholder 3"/>
          <p:cNvSpPr>
            <a:spLocks noGrp="1"/>
          </p:cNvSpPr>
          <p:nvPr>
            <p:ph type="sldNum" sz="quarter" idx="12"/>
          </p:nvPr>
        </p:nvSpPr>
        <p:spPr/>
        <p:txBody>
          <a:bodyPr/>
          <a:lstStyle/>
          <a:p>
            <a:fld id="{965D6772-41C1-4987-827C-16EA866C2326}" type="slidenum">
              <a:rPr lang="en-US" smtClean="0"/>
              <a:t>56</a:t>
            </a:fld>
            <a:endParaRPr lang="en-US"/>
          </a:p>
        </p:txBody>
      </p:sp>
    </p:spTree>
    <p:extLst>
      <p:ext uri="{BB962C8B-B14F-4D97-AF65-F5344CB8AC3E}">
        <p14:creationId xmlns:p14="http://schemas.microsoft.com/office/powerpoint/2010/main" val="511086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Case Study (Cont.)</a:t>
            </a:r>
          </a:p>
        </p:txBody>
      </p:sp>
      <p:sp>
        <p:nvSpPr>
          <p:cNvPr id="3" name="Content Placeholder 2"/>
          <p:cNvSpPr>
            <a:spLocks noGrp="1"/>
          </p:cNvSpPr>
          <p:nvPr>
            <p:ph idx="1"/>
          </p:nvPr>
        </p:nvSpPr>
        <p:spPr>
          <a:xfrm>
            <a:off x="838200" y="1825625"/>
            <a:ext cx="10515600" cy="4658302"/>
          </a:xfrm>
        </p:spPr>
        <p:txBody>
          <a:bodyPr>
            <a:normAutofit lnSpcReduction="10000"/>
          </a:bodyPr>
          <a:lstStyle/>
          <a:p>
            <a:r>
              <a:rPr lang="en-US" dirty="0" smtClean="0"/>
              <a:t>Cd out of the packages directory, and cd into your normal working directory (which is also in $CLASSPATH since “.” is included)</a:t>
            </a:r>
          </a:p>
          <a:p>
            <a:r>
              <a:rPr lang="en-US" dirty="0" smtClean="0"/>
              <a:t>Create a source file VehicleDemo.java:</a:t>
            </a:r>
          </a:p>
          <a:p>
            <a:pPr marL="0" indent="0">
              <a:buNone/>
            </a:pPr>
            <a:endParaRPr lang="en-US" sz="2000" dirty="0" smtClean="0"/>
          </a:p>
          <a:p>
            <a:pPr marL="0" indent="0">
              <a:buNone/>
            </a:pPr>
            <a:r>
              <a:rPr lang="en-US" sz="2000" dirty="0" smtClean="0">
                <a:solidFill>
                  <a:schemeClr val="accent5"/>
                </a:solidFill>
              </a:rPr>
              <a:t>import </a:t>
            </a:r>
            <a:r>
              <a:rPr lang="en-US" sz="2000" dirty="0">
                <a:solidFill>
                  <a:schemeClr val="accent5"/>
                </a:solidFill>
              </a:rPr>
              <a:t>edu.utsa.ee5453.*;</a:t>
            </a:r>
          </a:p>
          <a:p>
            <a:pPr marL="0" indent="0">
              <a:buNone/>
            </a:pPr>
            <a:endParaRPr lang="en-US" sz="2000" dirty="0">
              <a:solidFill>
                <a:schemeClr val="accent5"/>
              </a:solidFill>
            </a:endParaRPr>
          </a:p>
          <a:p>
            <a:pPr marL="0" indent="0">
              <a:buNone/>
            </a:pPr>
            <a:r>
              <a:rPr lang="en-US" sz="2000" dirty="0">
                <a:solidFill>
                  <a:schemeClr val="accent5"/>
                </a:solidFill>
              </a:rPr>
              <a:t>public class </a:t>
            </a:r>
            <a:r>
              <a:rPr lang="en-US" sz="2000" dirty="0" err="1">
                <a:solidFill>
                  <a:schemeClr val="accent5"/>
                </a:solidFill>
              </a:rPr>
              <a:t>VehicleDemo</a:t>
            </a:r>
            <a:r>
              <a:rPr lang="en-US" sz="2000" dirty="0">
                <a:solidFill>
                  <a:schemeClr val="accent5"/>
                </a:solidFill>
              </a:rPr>
              <a:t> {</a:t>
            </a:r>
          </a:p>
          <a:p>
            <a:pPr marL="0" indent="0">
              <a:buNone/>
            </a:pPr>
            <a:r>
              <a:rPr lang="en-US" sz="2000" dirty="0">
                <a:solidFill>
                  <a:schemeClr val="accent5"/>
                </a:solidFill>
              </a:rPr>
              <a:t>  public static void main(String[] </a:t>
            </a:r>
            <a:r>
              <a:rPr lang="en-US" sz="2000" dirty="0" err="1">
                <a:solidFill>
                  <a:schemeClr val="accent5"/>
                </a:solidFill>
              </a:rPr>
              <a:t>args</a:t>
            </a:r>
            <a:r>
              <a:rPr lang="en-US" sz="2000" dirty="0">
                <a:solidFill>
                  <a:schemeClr val="accent5"/>
                </a:solidFill>
              </a:rPr>
              <a:t>) {</a:t>
            </a:r>
          </a:p>
          <a:p>
            <a:pPr marL="0" indent="0">
              <a:buNone/>
            </a:pPr>
            <a:r>
              <a:rPr lang="en-US" sz="2000" dirty="0">
                <a:solidFill>
                  <a:schemeClr val="accent5"/>
                </a:solidFill>
              </a:rPr>
              <a:t>    Vehicle v = new Vehicle();</a:t>
            </a:r>
          </a:p>
          <a:p>
            <a:pPr marL="0" indent="0">
              <a:buNone/>
            </a:pPr>
            <a:r>
              <a:rPr lang="en-US" sz="2000" dirty="0">
                <a:solidFill>
                  <a:schemeClr val="accent5"/>
                </a:solidFill>
              </a:rPr>
              <a:t>    </a:t>
            </a:r>
            <a:r>
              <a:rPr lang="en-US" sz="2000" dirty="0" err="1">
                <a:solidFill>
                  <a:schemeClr val="accent5"/>
                </a:solidFill>
              </a:rPr>
              <a:t>System.out.println</a:t>
            </a:r>
            <a:r>
              <a:rPr lang="en-US" sz="2000" dirty="0">
                <a:solidFill>
                  <a:schemeClr val="accent5"/>
                </a:solidFill>
              </a:rPr>
              <a:t>("</a:t>
            </a:r>
            <a:r>
              <a:rPr lang="en-US" sz="2000" dirty="0" err="1">
                <a:solidFill>
                  <a:schemeClr val="accent5"/>
                </a:solidFill>
              </a:rPr>
              <a:t>VehicleDemo</a:t>
            </a:r>
            <a:r>
              <a:rPr lang="en-US" sz="2000" dirty="0">
                <a:solidFill>
                  <a:schemeClr val="accent5"/>
                </a:solidFill>
              </a:rPr>
              <a:t> done!");</a:t>
            </a:r>
          </a:p>
          <a:p>
            <a:pPr marL="0" indent="0">
              <a:buNone/>
            </a:pPr>
            <a:r>
              <a:rPr lang="en-US" sz="2000" dirty="0">
                <a:solidFill>
                  <a:schemeClr val="accent5"/>
                </a:solidFill>
              </a:rPr>
              <a:t>  }</a:t>
            </a:r>
          </a:p>
          <a:p>
            <a:pPr marL="0" indent="0">
              <a:buNone/>
            </a:pPr>
            <a:r>
              <a:rPr lang="en-US" sz="2000" dirty="0">
                <a:solidFill>
                  <a:schemeClr val="accent5"/>
                </a:solidFill>
              </a:rPr>
              <a:t>}</a:t>
            </a:r>
          </a:p>
        </p:txBody>
      </p:sp>
      <p:sp>
        <p:nvSpPr>
          <p:cNvPr id="4" name="Slide Number Placeholder 3"/>
          <p:cNvSpPr>
            <a:spLocks noGrp="1"/>
          </p:cNvSpPr>
          <p:nvPr>
            <p:ph type="sldNum" sz="quarter" idx="12"/>
          </p:nvPr>
        </p:nvSpPr>
        <p:spPr/>
        <p:txBody>
          <a:bodyPr/>
          <a:lstStyle/>
          <a:p>
            <a:fld id="{965D6772-41C1-4987-827C-16EA866C2326}" type="slidenum">
              <a:rPr lang="en-US" smtClean="0"/>
              <a:t>57</a:t>
            </a:fld>
            <a:endParaRPr lang="en-US"/>
          </a:p>
        </p:txBody>
      </p:sp>
    </p:spTree>
    <p:extLst>
      <p:ext uri="{BB962C8B-B14F-4D97-AF65-F5344CB8AC3E}">
        <p14:creationId xmlns:p14="http://schemas.microsoft.com/office/powerpoint/2010/main" val="19671746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Case Study (Cont.)</a:t>
            </a:r>
          </a:p>
        </p:txBody>
      </p:sp>
      <p:sp>
        <p:nvSpPr>
          <p:cNvPr id="3" name="Content Placeholder 2"/>
          <p:cNvSpPr>
            <a:spLocks noGrp="1"/>
          </p:cNvSpPr>
          <p:nvPr>
            <p:ph idx="1"/>
          </p:nvPr>
        </p:nvSpPr>
        <p:spPr/>
        <p:txBody>
          <a:bodyPr/>
          <a:lstStyle/>
          <a:p>
            <a:r>
              <a:rPr lang="en-US" dirty="0" smtClean="0"/>
              <a:t>Compile VehicleDemo.java:</a:t>
            </a:r>
          </a:p>
          <a:p>
            <a:pPr marL="0" indent="0">
              <a:buNone/>
            </a:pPr>
            <a:r>
              <a:rPr lang="en-US" sz="2400" dirty="0" smtClean="0">
                <a:solidFill>
                  <a:schemeClr val="accent5"/>
                </a:solidFill>
              </a:rPr>
              <a:t>	</a:t>
            </a:r>
            <a:r>
              <a:rPr lang="en-US" sz="2400" dirty="0" err="1" smtClean="0">
                <a:solidFill>
                  <a:schemeClr val="accent5"/>
                </a:solidFill>
              </a:rPr>
              <a:t>javac</a:t>
            </a:r>
            <a:r>
              <a:rPr lang="en-US" sz="2400" dirty="0" smtClean="0">
                <a:solidFill>
                  <a:schemeClr val="accent5"/>
                </a:solidFill>
              </a:rPr>
              <a:t> VehicleDemo.java</a:t>
            </a:r>
          </a:p>
          <a:p>
            <a:r>
              <a:rPr lang="en-US" dirty="0" smtClean="0"/>
              <a:t>Execute </a:t>
            </a:r>
            <a:r>
              <a:rPr lang="en-US" dirty="0" err="1" smtClean="0"/>
              <a:t>VehicleDemo</a:t>
            </a:r>
            <a:r>
              <a:rPr lang="en-US" dirty="0" smtClean="0"/>
              <a:t>:</a:t>
            </a:r>
          </a:p>
          <a:p>
            <a:pPr marL="0" indent="0">
              <a:buNone/>
            </a:pPr>
            <a:r>
              <a:rPr lang="en-US" sz="2400" dirty="0">
                <a:solidFill>
                  <a:schemeClr val="accent5"/>
                </a:solidFill>
              </a:rPr>
              <a:t>	</a:t>
            </a:r>
            <a:r>
              <a:rPr lang="en-US" sz="2400" dirty="0" smtClean="0">
                <a:solidFill>
                  <a:schemeClr val="accent5"/>
                </a:solidFill>
              </a:rPr>
              <a:t>java </a:t>
            </a:r>
            <a:r>
              <a:rPr lang="en-US" sz="2400" dirty="0" err="1" smtClean="0">
                <a:solidFill>
                  <a:schemeClr val="accent5"/>
                </a:solidFill>
              </a:rPr>
              <a:t>VehicleDemo</a:t>
            </a:r>
            <a:endParaRPr lang="en-US" sz="2400" dirty="0" smtClean="0">
              <a:solidFill>
                <a:schemeClr val="accent5"/>
              </a:solidFill>
            </a:endParaRPr>
          </a:p>
          <a:p>
            <a:endParaRPr lang="en-US" dirty="0" smtClean="0"/>
          </a:p>
          <a:p>
            <a:r>
              <a:rPr lang="en-US" dirty="0" smtClean="0"/>
              <a:t>Execute Vehicle itself again:</a:t>
            </a:r>
          </a:p>
          <a:p>
            <a:pPr marL="0" indent="0">
              <a:buNone/>
            </a:pPr>
            <a:r>
              <a:rPr lang="en-US" sz="2400" dirty="0">
                <a:solidFill>
                  <a:schemeClr val="accent5"/>
                </a:solidFill>
              </a:rPr>
              <a:t>	</a:t>
            </a:r>
            <a:r>
              <a:rPr lang="en-US" sz="2400" dirty="0" smtClean="0">
                <a:solidFill>
                  <a:schemeClr val="accent5"/>
                </a:solidFill>
              </a:rPr>
              <a:t>java edu.utsa.ee5453.Vehicle</a:t>
            </a:r>
            <a:endParaRPr lang="en-US" sz="2400" dirty="0">
              <a:solidFill>
                <a:schemeClr val="accent5"/>
              </a:solidFill>
            </a:endParaRPr>
          </a:p>
        </p:txBody>
      </p:sp>
      <p:sp>
        <p:nvSpPr>
          <p:cNvPr id="4" name="TextBox 3"/>
          <p:cNvSpPr txBox="1"/>
          <p:nvPr/>
        </p:nvSpPr>
        <p:spPr>
          <a:xfrm>
            <a:off x="6983203" y="2246968"/>
            <a:ext cx="4277079" cy="1754326"/>
          </a:xfrm>
          <a:prstGeom prst="rect">
            <a:avLst/>
          </a:prstGeom>
          <a:noFill/>
        </p:spPr>
        <p:txBody>
          <a:bodyPr wrap="square" rtlCol="0">
            <a:spAutoFit/>
          </a:bodyPr>
          <a:lstStyle/>
          <a:p>
            <a:r>
              <a:rPr lang="en-US" dirty="0" smtClean="0">
                <a:solidFill>
                  <a:schemeClr val="accent5"/>
                </a:solidFill>
              </a:rPr>
              <a:t>/* </a:t>
            </a:r>
            <a:r>
              <a:rPr lang="en-US" dirty="0" err="1" smtClean="0">
                <a:solidFill>
                  <a:schemeClr val="accent5"/>
                </a:solidFill>
              </a:rPr>
              <a:t>VehicleDemo</a:t>
            </a:r>
            <a:r>
              <a:rPr lang="en-US" dirty="0" smtClean="0">
                <a:solidFill>
                  <a:schemeClr val="accent5"/>
                </a:solidFill>
              </a:rPr>
              <a:t> output:</a:t>
            </a:r>
          </a:p>
          <a:p>
            <a:r>
              <a:rPr lang="en-US" dirty="0" smtClean="0">
                <a:solidFill>
                  <a:schemeClr val="accent5"/>
                </a:solidFill>
              </a:rPr>
              <a:t>Engine added!</a:t>
            </a:r>
          </a:p>
          <a:p>
            <a:r>
              <a:rPr lang="en-US" dirty="0" smtClean="0">
                <a:solidFill>
                  <a:schemeClr val="accent5"/>
                </a:solidFill>
              </a:rPr>
              <a:t>Trunk added!</a:t>
            </a:r>
          </a:p>
          <a:p>
            <a:r>
              <a:rPr lang="en-US" dirty="0" smtClean="0">
                <a:solidFill>
                  <a:schemeClr val="accent5"/>
                </a:solidFill>
              </a:rPr>
              <a:t>Vehicle added!</a:t>
            </a:r>
          </a:p>
          <a:p>
            <a:r>
              <a:rPr lang="en-US" dirty="0" err="1" smtClean="0">
                <a:solidFill>
                  <a:schemeClr val="accent5"/>
                </a:solidFill>
              </a:rPr>
              <a:t>VehicleDemo</a:t>
            </a:r>
            <a:r>
              <a:rPr lang="en-US" dirty="0" smtClean="0">
                <a:solidFill>
                  <a:schemeClr val="accent5"/>
                </a:solidFill>
              </a:rPr>
              <a:t> done!</a:t>
            </a:r>
          </a:p>
          <a:p>
            <a:r>
              <a:rPr lang="en-US" dirty="0" smtClean="0">
                <a:solidFill>
                  <a:schemeClr val="accent5"/>
                </a:solidFill>
              </a:rPr>
              <a:t>*/</a:t>
            </a:r>
            <a:endParaRPr lang="en-US" dirty="0">
              <a:solidFill>
                <a:schemeClr val="accent5"/>
              </a:solidFill>
            </a:endParaRPr>
          </a:p>
        </p:txBody>
      </p:sp>
      <p:sp>
        <p:nvSpPr>
          <p:cNvPr id="5" name="TextBox 4"/>
          <p:cNvSpPr txBox="1"/>
          <p:nvPr/>
        </p:nvSpPr>
        <p:spPr>
          <a:xfrm>
            <a:off x="6983202" y="4633308"/>
            <a:ext cx="4277079" cy="1754326"/>
          </a:xfrm>
          <a:prstGeom prst="rect">
            <a:avLst/>
          </a:prstGeom>
          <a:noFill/>
        </p:spPr>
        <p:txBody>
          <a:bodyPr wrap="square" rtlCol="0">
            <a:spAutoFit/>
          </a:bodyPr>
          <a:lstStyle/>
          <a:p>
            <a:r>
              <a:rPr lang="en-US" dirty="0" smtClean="0">
                <a:solidFill>
                  <a:schemeClr val="accent5"/>
                </a:solidFill>
              </a:rPr>
              <a:t>/* edu.utsa.ee5453.Vehicle output:</a:t>
            </a:r>
          </a:p>
          <a:p>
            <a:r>
              <a:rPr lang="en-US" dirty="0" smtClean="0">
                <a:solidFill>
                  <a:schemeClr val="accent5"/>
                </a:solidFill>
              </a:rPr>
              <a:t>Engine added!</a:t>
            </a:r>
          </a:p>
          <a:p>
            <a:r>
              <a:rPr lang="en-US" dirty="0" smtClean="0">
                <a:solidFill>
                  <a:schemeClr val="accent5"/>
                </a:solidFill>
              </a:rPr>
              <a:t>Trunk added!</a:t>
            </a:r>
          </a:p>
          <a:p>
            <a:r>
              <a:rPr lang="en-US" dirty="0" smtClean="0">
                <a:solidFill>
                  <a:schemeClr val="accent5"/>
                </a:solidFill>
              </a:rPr>
              <a:t>Vehicle added!</a:t>
            </a:r>
          </a:p>
          <a:p>
            <a:r>
              <a:rPr lang="en-US" dirty="0" smtClean="0">
                <a:solidFill>
                  <a:schemeClr val="accent5"/>
                </a:solidFill>
              </a:rPr>
              <a:t>Vehicle demo in itself!</a:t>
            </a:r>
          </a:p>
          <a:p>
            <a:r>
              <a:rPr lang="en-US" dirty="0" smtClean="0">
                <a:solidFill>
                  <a:schemeClr val="accent5"/>
                </a:solidFill>
              </a:rPr>
              <a:t>*/</a:t>
            </a:r>
            <a:endParaRPr lang="en-US" dirty="0">
              <a:solidFill>
                <a:schemeClr val="accent5"/>
              </a:solidFill>
            </a:endParaRPr>
          </a:p>
        </p:txBody>
      </p:sp>
      <p:sp>
        <p:nvSpPr>
          <p:cNvPr id="6" name="Slide Number Placeholder 5"/>
          <p:cNvSpPr>
            <a:spLocks noGrp="1"/>
          </p:cNvSpPr>
          <p:nvPr>
            <p:ph type="sldNum" sz="quarter" idx="12"/>
          </p:nvPr>
        </p:nvSpPr>
        <p:spPr/>
        <p:txBody>
          <a:bodyPr/>
          <a:lstStyle/>
          <a:p>
            <a:fld id="{965D6772-41C1-4987-827C-16EA866C2326}" type="slidenum">
              <a:rPr lang="en-US" smtClean="0"/>
              <a:t>58</a:t>
            </a:fld>
            <a:endParaRPr lang="en-US"/>
          </a:p>
        </p:txBody>
      </p:sp>
    </p:spTree>
    <p:extLst>
      <p:ext uri="{BB962C8B-B14F-4D97-AF65-F5344CB8AC3E}">
        <p14:creationId xmlns:p14="http://schemas.microsoft.com/office/powerpoint/2010/main" val="18692713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Name Ambiguities</a:t>
            </a:r>
            <a:endParaRPr lang="en-US" dirty="0"/>
          </a:p>
        </p:txBody>
      </p:sp>
      <p:sp>
        <p:nvSpPr>
          <p:cNvPr id="3" name="Content Placeholder 2"/>
          <p:cNvSpPr>
            <a:spLocks noGrp="1"/>
          </p:cNvSpPr>
          <p:nvPr>
            <p:ph idx="1"/>
          </p:nvPr>
        </p:nvSpPr>
        <p:spPr/>
        <p:txBody>
          <a:bodyPr/>
          <a:lstStyle/>
          <a:p>
            <a:r>
              <a:rPr lang="en-US" dirty="0" smtClean="0"/>
              <a:t>If two imported packages have members with the same name, must refer to each member by its fully qualified name:</a:t>
            </a:r>
          </a:p>
          <a:p>
            <a:pPr lvl="1"/>
            <a:r>
              <a:rPr lang="en-US" dirty="0" smtClean="0"/>
              <a:t>E.g. suppose there’s a Vector class in our ee5453 package, need to use </a:t>
            </a:r>
            <a:r>
              <a:rPr lang="en-US" dirty="0" smtClean="0">
                <a:solidFill>
                  <a:schemeClr val="accent5"/>
                </a:solidFill>
              </a:rPr>
              <a:t>edu.utsa.ee5453.Vector</a:t>
            </a:r>
            <a:r>
              <a:rPr lang="en-US" dirty="0" smtClean="0"/>
              <a:t> if in the mean time </a:t>
            </a:r>
            <a:r>
              <a:rPr lang="en-US" dirty="0" err="1" smtClean="0">
                <a:solidFill>
                  <a:schemeClr val="accent5"/>
                </a:solidFill>
              </a:rPr>
              <a:t>java.util.Vector</a:t>
            </a:r>
            <a:r>
              <a:rPr lang="en-US" dirty="0" smtClean="0">
                <a:solidFill>
                  <a:schemeClr val="accent5"/>
                </a:solidFill>
              </a:rPr>
              <a:t> </a:t>
            </a:r>
            <a:r>
              <a:rPr lang="en-US" dirty="0" smtClean="0"/>
              <a:t>is imported.</a:t>
            </a:r>
          </a:p>
          <a:p>
            <a:r>
              <a:rPr lang="en-US" dirty="0" smtClean="0"/>
              <a:t>If an imported package and the current package have members with the same name, use the simple name to refer to the local member and the fully qualified name to refer to the imported one.</a:t>
            </a:r>
          </a:p>
          <a:p>
            <a:r>
              <a:rPr lang="en-US" dirty="0" smtClean="0"/>
              <a:t>The bottom line is there shouldn’t be any ambiguities; otherwise the compiler will complain.</a:t>
            </a:r>
            <a:endParaRPr lang="en-US" dirty="0"/>
          </a:p>
        </p:txBody>
      </p:sp>
      <p:sp>
        <p:nvSpPr>
          <p:cNvPr id="4" name="Slide Number Placeholder 3"/>
          <p:cNvSpPr>
            <a:spLocks noGrp="1"/>
          </p:cNvSpPr>
          <p:nvPr>
            <p:ph type="sldNum" sz="quarter" idx="12"/>
          </p:nvPr>
        </p:nvSpPr>
        <p:spPr/>
        <p:txBody>
          <a:bodyPr/>
          <a:lstStyle/>
          <a:p>
            <a:fld id="{965D6772-41C1-4987-827C-16EA866C2326}" type="slidenum">
              <a:rPr lang="en-US" smtClean="0"/>
              <a:t>59</a:t>
            </a:fld>
            <a:endParaRPr lang="en-US"/>
          </a:p>
        </p:txBody>
      </p:sp>
    </p:spTree>
    <p:extLst>
      <p:ext uri="{BB962C8B-B14F-4D97-AF65-F5344CB8AC3E}">
        <p14:creationId xmlns:p14="http://schemas.microsoft.com/office/powerpoint/2010/main" val="21045183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Package Hierarchies</a:t>
            </a:r>
            <a:endParaRPr lang="en-US" dirty="0"/>
          </a:p>
        </p:txBody>
      </p:sp>
      <p:sp>
        <p:nvSpPr>
          <p:cNvPr id="3" name="Content Placeholder 2"/>
          <p:cNvSpPr>
            <a:spLocks noGrp="1"/>
          </p:cNvSpPr>
          <p:nvPr>
            <p:ph idx="1"/>
          </p:nvPr>
        </p:nvSpPr>
        <p:spPr/>
        <p:txBody>
          <a:bodyPr/>
          <a:lstStyle/>
          <a:p>
            <a:r>
              <a:rPr lang="en-US" dirty="0" smtClean="0"/>
              <a:t>Packages appear to be hierarchical, but </a:t>
            </a:r>
            <a:r>
              <a:rPr lang="en-US" dirty="0" smtClean="0">
                <a:solidFill>
                  <a:srgbClr val="FF0000"/>
                </a:solidFill>
              </a:rPr>
              <a:t>they are not</a:t>
            </a:r>
            <a:r>
              <a:rPr lang="en-US" dirty="0" smtClean="0"/>
              <a:t>!</a:t>
            </a:r>
          </a:p>
          <a:p>
            <a:r>
              <a:rPr lang="en-US" dirty="0" smtClean="0"/>
              <a:t>A subdirectory is a completely different package</a:t>
            </a:r>
          </a:p>
          <a:p>
            <a:pPr lvl="1"/>
            <a:r>
              <a:rPr lang="en-US" dirty="0" smtClean="0"/>
              <a:t>E.g. </a:t>
            </a:r>
            <a:r>
              <a:rPr lang="en-US" dirty="0" err="1" smtClean="0">
                <a:solidFill>
                  <a:schemeClr val="accent5"/>
                </a:solidFill>
              </a:rPr>
              <a:t>java.lang</a:t>
            </a:r>
            <a:r>
              <a:rPr lang="en-US" dirty="0" smtClean="0">
                <a:solidFill>
                  <a:schemeClr val="accent5"/>
                </a:solidFill>
              </a:rPr>
              <a:t> </a:t>
            </a:r>
            <a:r>
              <a:rPr lang="en-US" dirty="0" smtClean="0"/>
              <a:t>is a package, </a:t>
            </a:r>
            <a:r>
              <a:rPr lang="en-US" dirty="0" err="1" smtClean="0">
                <a:solidFill>
                  <a:schemeClr val="accent5"/>
                </a:solidFill>
              </a:rPr>
              <a:t>java.lang.annotations</a:t>
            </a:r>
            <a:r>
              <a:rPr lang="en-US" dirty="0" smtClean="0">
                <a:solidFill>
                  <a:schemeClr val="accent5"/>
                </a:solidFill>
              </a:rPr>
              <a:t> </a:t>
            </a:r>
            <a:r>
              <a:rPr lang="en-US" dirty="0" smtClean="0"/>
              <a:t>is a different package</a:t>
            </a:r>
          </a:p>
          <a:p>
            <a:pPr lvl="1"/>
            <a:r>
              <a:rPr lang="en-US" dirty="0" smtClean="0"/>
              <a:t>If you import </a:t>
            </a:r>
            <a:r>
              <a:rPr lang="en-US" dirty="0" err="1" smtClean="0">
                <a:solidFill>
                  <a:schemeClr val="accent5"/>
                </a:solidFill>
              </a:rPr>
              <a:t>java.lang</a:t>
            </a:r>
            <a:r>
              <a:rPr lang="en-US" dirty="0" smtClean="0">
                <a:solidFill>
                  <a:schemeClr val="accent5"/>
                </a:solidFill>
              </a:rPr>
              <a:t>.*</a:t>
            </a:r>
            <a:r>
              <a:rPr lang="en-US" dirty="0" smtClean="0"/>
              <a:t>, only types in </a:t>
            </a:r>
            <a:r>
              <a:rPr lang="en-US" dirty="0" err="1" smtClean="0">
                <a:solidFill>
                  <a:schemeClr val="accent5"/>
                </a:solidFill>
              </a:rPr>
              <a:t>java.lang</a:t>
            </a:r>
            <a:r>
              <a:rPr lang="en-US" dirty="0" smtClean="0">
                <a:solidFill>
                  <a:schemeClr val="accent5"/>
                </a:solidFill>
              </a:rPr>
              <a:t> </a:t>
            </a:r>
            <a:r>
              <a:rPr lang="en-US" dirty="0" smtClean="0"/>
              <a:t>are imported while subdirectories like </a:t>
            </a:r>
            <a:r>
              <a:rPr lang="en-US" dirty="0" err="1" smtClean="0">
                <a:solidFill>
                  <a:schemeClr val="accent5"/>
                </a:solidFill>
              </a:rPr>
              <a:t>java.lang.annotations</a:t>
            </a:r>
            <a:r>
              <a:rPr lang="en-US" dirty="0" smtClean="0">
                <a:solidFill>
                  <a:schemeClr val="accent5"/>
                </a:solidFill>
              </a:rPr>
              <a:t> </a:t>
            </a:r>
            <a:r>
              <a:rPr lang="en-US" dirty="0" smtClean="0"/>
              <a:t>are not imported!</a:t>
            </a:r>
            <a:endParaRPr lang="en-US" dirty="0"/>
          </a:p>
        </p:txBody>
      </p:sp>
      <p:sp>
        <p:nvSpPr>
          <p:cNvPr id="4" name="Slide Number Placeholder 3"/>
          <p:cNvSpPr>
            <a:spLocks noGrp="1"/>
          </p:cNvSpPr>
          <p:nvPr>
            <p:ph type="sldNum" sz="quarter" idx="12"/>
          </p:nvPr>
        </p:nvSpPr>
        <p:spPr/>
        <p:txBody>
          <a:bodyPr/>
          <a:lstStyle/>
          <a:p>
            <a:fld id="{965D6772-41C1-4987-827C-16EA866C2326}" type="slidenum">
              <a:rPr lang="en-US" smtClean="0"/>
              <a:t>60</a:t>
            </a:fld>
            <a:endParaRPr lang="en-US"/>
          </a:p>
        </p:txBody>
      </p:sp>
    </p:spTree>
    <p:extLst>
      <p:ext uri="{BB962C8B-B14F-4D97-AF65-F5344CB8AC3E}">
        <p14:creationId xmlns:p14="http://schemas.microsoft.com/office/powerpoint/2010/main" val="31498336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Static Import Statements</a:t>
            </a:r>
            <a:endParaRPr lang="en-US" dirty="0"/>
          </a:p>
        </p:txBody>
      </p:sp>
      <p:sp>
        <p:nvSpPr>
          <p:cNvPr id="3" name="Content Placeholder 2"/>
          <p:cNvSpPr>
            <a:spLocks noGrp="1"/>
          </p:cNvSpPr>
          <p:nvPr>
            <p:ph idx="1"/>
          </p:nvPr>
        </p:nvSpPr>
        <p:spPr/>
        <p:txBody>
          <a:bodyPr/>
          <a:lstStyle/>
          <a:p>
            <a:r>
              <a:rPr lang="en-US" dirty="0" smtClean="0"/>
              <a:t>Use the static import statements to import the constants and static members of a class:</a:t>
            </a:r>
          </a:p>
          <a:p>
            <a:pPr lvl="1"/>
            <a:r>
              <a:rPr lang="en-US" dirty="0" smtClean="0"/>
              <a:t>E.g. </a:t>
            </a:r>
            <a:r>
              <a:rPr lang="en-US" dirty="0" smtClean="0">
                <a:solidFill>
                  <a:schemeClr val="accent5"/>
                </a:solidFill>
              </a:rPr>
              <a:t>import static </a:t>
            </a:r>
            <a:r>
              <a:rPr lang="en-US" dirty="0" err="1" smtClean="0">
                <a:solidFill>
                  <a:schemeClr val="accent5"/>
                </a:solidFill>
              </a:rPr>
              <a:t>java.lang.Math</a:t>
            </a:r>
            <a:r>
              <a:rPr lang="en-US" dirty="0" smtClean="0">
                <a:solidFill>
                  <a:schemeClr val="accent5"/>
                </a:solidFill>
              </a:rPr>
              <a:t>.*;</a:t>
            </a:r>
          </a:p>
          <a:p>
            <a:pPr lvl="1"/>
            <a:r>
              <a:rPr lang="en-US" dirty="0" smtClean="0"/>
              <a:t>The static members in the Math class are imported, e.g. </a:t>
            </a:r>
            <a:r>
              <a:rPr lang="en-US" dirty="0" smtClean="0">
                <a:solidFill>
                  <a:schemeClr val="accent5"/>
                </a:solidFill>
              </a:rPr>
              <a:t>PI, sin(), cos()</a:t>
            </a:r>
            <a:r>
              <a:rPr lang="en-US" dirty="0" smtClean="0"/>
              <a:t>, etc.</a:t>
            </a:r>
          </a:p>
          <a:p>
            <a:pPr lvl="1"/>
            <a:r>
              <a:rPr lang="en-US" dirty="0" smtClean="0"/>
              <a:t>After the static import, you can directly use the simple names of the static members.</a:t>
            </a:r>
          </a:p>
          <a:p>
            <a:pPr lvl="1"/>
            <a:r>
              <a:rPr lang="en-US" dirty="0" smtClean="0"/>
              <a:t>Obviously, you can write your own classes that contain constants and static methods that you use frequently, and then use the static import statement.</a:t>
            </a:r>
          </a:p>
        </p:txBody>
      </p:sp>
      <p:sp>
        <p:nvSpPr>
          <p:cNvPr id="4" name="Slide Number Placeholder 3"/>
          <p:cNvSpPr>
            <a:spLocks noGrp="1"/>
          </p:cNvSpPr>
          <p:nvPr>
            <p:ph type="sldNum" sz="quarter" idx="12"/>
          </p:nvPr>
        </p:nvSpPr>
        <p:spPr/>
        <p:txBody>
          <a:bodyPr/>
          <a:lstStyle/>
          <a:p>
            <a:fld id="{965D6772-41C1-4987-827C-16EA866C2326}" type="slidenum">
              <a:rPr lang="en-US" smtClean="0"/>
              <a:t>61</a:t>
            </a:fld>
            <a:endParaRPr lang="en-US"/>
          </a:p>
        </p:txBody>
      </p:sp>
    </p:spTree>
    <p:extLst>
      <p:ext uri="{BB962C8B-B14F-4D97-AF65-F5344CB8AC3E}">
        <p14:creationId xmlns:p14="http://schemas.microsoft.com/office/powerpoint/2010/main" val="10153278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idx="1"/>
          </p:nvPr>
        </p:nvSpPr>
        <p:spPr/>
        <p:txBody>
          <a:bodyPr/>
          <a:lstStyle/>
          <a:p>
            <a:r>
              <a:rPr lang="en-US" dirty="0" smtClean="0"/>
              <a:t>Follow the previous slides to finish the case study about creating packages</a:t>
            </a:r>
            <a:endParaRPr lang="en-US" dirty="0"/>
          </a:p>
        </p:txBody>
      </p:sp>
      <p:sp>
        <p:nvSpPr>
          <p:cNvPr id="4" name="Slide Number Placeholder 3"/>
          <p:cNvSpPr>
            <a:spLocks noGrp="1"/>
          </p:cNvSpPr>
          <p:nvPr>
            <p:ph type="sldNum" sz="quarter" idx="12"/>
          </p:nvPr>
        </p:nvSpPr>
        <p:spPr/>
        <p:txBody>
          <a:bodyPr/>
          <a:lstStyle/>
          <a:p>
            <a:fld id="{965D6772-41C1-4987-827C-16EA866C2326}" type="slidenum">
              <a:rPr lang="en-US" smtClean="0"/>
              <a:t>62</a:t>
            </a:fld>
            <a:endParaRPr lang="en-US"/>
          </a:p>
        </p:txBody>
      </p:sp>
    </p:spTree>
    <p:extLst>
      <p:ext uri="{BB962C8B-B14F-4D97-AF65-F5344CB8AC3E}">
        <p14:creationId xmlns:p14="http://schemas.microsoft.com/office/powerpoint/2010/main" val="39448095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3139</TotalTime>
  <Words>6912</Words>
  <Application>Microsoft Macintosh PowerPoint</Application>
  <PresentationFormat>Custom</PresentationFormat>
  <Paragraphs>1087</Paragraphs>
  <Slides>62</Slides>
  <Notes>11</Notes>
  <HiddenSlides>1</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EE 5453 – 002  Engineering Programming II Java Classes, Objects, Packages</vt:lpstr>
      <vt:lpstr>Contents Overview</vt:lpstr>
      <vt:lpstr>Classes and Objects</vt:lpstr>
      <vt:lpstr>Declaring A Class</vt:lpstr>
      <vt:lpstr>A Class Example</vt:lpstr>
      <vt:lpstr>Using Classes</vt:lpstr>
      <vt:lpstr>Access Levels</vt:lpstr>
      <vt:lpstr>The Default: Package-Private</vt:lpstr>
      <vt:lpstr>The public Modifier</vt:lpstr>
      <vt:lpstr>The private Modifier</vt:lpstr>
      <vt:lpstr>The protected Modifier</vt:lpstr>
      <vt:lpstr>Class Access</vt:lpstr>
      <vt:lpstr>Fields and Methods</vt:lpstr>
      <vt:lpstr>Constructors</vt:lpstr>
      <vt:lpstr>Default Constructor</vt:lpstr>
      <vt:lpstr>Default Constructor (Cont.)</vt:lpstr>
      <vt:lpstr>The this Keyword</vt:lpstr>
      <vt:lpstr>The this Keyword (Cont.)</vt:lpstr>
      <vt:lpstr>this Used For Constructors</vt:lpstr>
      <vt:lpstr>An Example</vt:lpstr>
      <vt:lpstr>Method Overloading</vt:lpstr>
      <vt:lpstr>Method Overloading Example</vt:lpstr>
      <vt:lpstr>Overloading With Primitives</vt:lpstr>
      <vt:lpstr>Auto Promotion Of Primitives</vt:lpstr>
      <vt:lpstr>Passing Information to A Method</vt:lpstr>
      <vt:lpstr>Passing References</vt:lpstr>
      <vt:lpstr>Class Variables</vt:lpstr>
      <vt:lpstr>Class Methods</vt:lpstr>
      <vt:lpstr>The final Keyword</vt:lpstr>
      <vt:lpstr>Returning From A Method</vt:lpstr>
      <vt:lpstr>Member Initialization</vt:lpstr>
      <vt:lpstr>Member Initialization (Cont.)</vt:lpstr>
      <vt:lpstr>Order Of Initialization</vt:lpstr>
      <vt:lpstr>Order Of Initialization (Cont.)</vt:lpstr>
      <vt:lpstr>An Example</vt:lpstr>
      <vt:lpstr>Static Block</vt:lpstr>
      <vt:lpstr>Instance Initialization Block</vt:lpstr>
      <vt:lpstr>Array Initialization</vt:lpstr>
      <vt:lpstr>Variable Argument Lists</vt:lpstr>
      <vt:lpstr>Garbage Collection</vt:lpstr>
      <vt:lpstr>Garbage Collection (Cont.)</vt:lpstr>
      <vt:lpstr>Termination Condition</vt:lpstr>
      <vt:lpstr>Enumerated Types</vt:lpstr>
      <vt:lpstr>Powerful Java Enum</vt:lpstr>
      <vt:lpstr>Revised WeekDay Example</vt:lpstr>
      <vt:lpstr>Quiz</vt:lpstr>
      <vt:lpstr>Packages</vt:lpstr>
      <vt:lpstr>What’s A Package?</vt:lpstr>
      <vt:lpstr>Creating A Package</vt:lpstr>
      <vt:lpstr>Naming A Package</vt:lpstr>
      <vt:lpstr>Locating A Package</vt:lpstr>
      <vt:lpstr>Importing A Package</vt:lpstr>
      <vt:lpstr>Managing Source</vt:lpstr>
      <vt:lpstr>A Case Study</vt:lpstr>
      <vt:lpstr>A Case Study (Cont.)</vt:lpstr>
      <vt:lpstr>A Case Study (Cont.)</vt:lpstr>
      <vt:lpstr>A Case Study (Cont.)</vt:lpstr>
      <vt:lpstr>A Case Study (Cont.)</vt:lpstr>
      <vt:lpstr>Name Ambiguities</vt:lpstr>
      <vt:lpstr>Package Hierarchies</vt:lpstr>
      <vt:lpstr>Static Import Statements</vt:lpstr>
      <vt:lpstr>Exercise</vt:lpstr>
    </vt:vector>
  </TitlesOfParts>
  <Company>University of Texas at San Antonio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 5453 – 002  Engineering Programming II Java Classes, Objects, Packages</dc:title>
  <dc:creator>Lide Duan</dc:creator>
  <cp:lastModifiedBy>SSU</cp:lastModifiedBy>
  <cp:revision>139</cp:revision>
  <dcterms:created xsi:type="dcterms:W3CDTF">2014-09-10T14:07:54Z</dcterms:created>
  <dcterms:modified xsi:type="dcterms:W3CDTF">2017-09-22T00:26:07Z</dcterms:modified>
</cp:coreProperties>
</file>